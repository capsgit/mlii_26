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268" r:id="rId5"/>
    <p:sldId id="278" r:id="rId6"/>
    <p:sldId id="279" r:id="rId7"/>
    <p:sldId id="300" r:id="rId8"/>
    <p:sldId id="301" r:id="rId9"/>
    <p:sldId id="302" r:id="rId10"/>
    <p:sldId id="303" r:id="rId11"/>
    <p:sldId id="306" r:id="rId12"/>
    <p:sldId id="307" r:id="rId13"/>
    <p:sldId id="308" r:id="rId14"/>
    <p:sldId id="309" r:id="rId15"/>
    <p:sldId id="310" r:id="rId16"/>
    <p:sldId id="311" r:id="rId17"/>
    <p:sldId id="312" r:id="rId18"/>
    <p:sldId id="313" r:id="rId19"/>
    <p:sldId id="314" r:id="rId20"/>
    <p:sldId id="315" r:id="rId21"/>
    <p:sldId id="316" r:id="rId22"/>
    <p:sldId id="317" r:id="rId23"/>
    <p:sldId id="318" r:id="rId24"/>
    <p:sldId id="319" r:id="rId25"/>
    <p:sldId id="320" r:id="rId26"/>
    <p:sldId id="321" r:id="rId27"/>
    <p:sldId id="322" r:id="rId28"/>
    <p:sldId id="323" r:id="rId29"/>
    <p:sldId id="324" r:id="rId30"/>
    <p:sldId id="325" r:id="rId31"/>
    <p:sldId id="326" r:id="rId32"/>
    <p:sldId id="328" r:id="rId33"/>
    <p:sldId id="327" r:id="rId34"/>
    <p:sldId id="330" r:id="rId35"/>
    <p:sldId id="331" r:id="rId36"/>
    <p:sldId id="332" r:id="rId37"/>
    <p:sldId id="259" r:id="rId3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32" autoAdjust="0"/>
    <p:restoredTop sz="94660"/>
  </p:normalViewPr>
  <p:slideViewPr>
    <p:cSldViewPr snapToGrid="0">
      <p:cViewPr varScale="1">
        <p:scale>
          <a:sx n="115" d="100"/>
          <a:sy n="115" d="100"/>
        </p:scale>
        <p:origin x="7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24.01.2024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24.01.2024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24.01.2024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24.01.2024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24.01.2024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24.01.2024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24.01.2024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24.01.2024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24.01.2024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24.01.2024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24.01.2024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24.01.2024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24.01.2024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24.01.2024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24.01.2024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24.01.2024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24.01.2024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24.01.2024</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(Tag 1 - Modellierung)</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dirty="0"/>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221456"/>
            <a:ext cx="10713719" cy="4308872"/>
          </a:xfrm>
          <a:prstGeom prst="rect">
            <a:avLst/>
          </a:prstGeom>
          <a:noFill/>
        </p:spPr>
        <p:txBody>
          <a:bodyPr wrap="square" rtlCol="0">
            <a:spAutoFit/>
          </a:bodyPr>
          <a:lstStyle/>
          <a:p>
            <a:endParaRPr lang="de-DE" sz="800" b="1" dirty="0">
              <a:latin typeface="Source Sans Pro" panose="020B0503030403020204" pitchFamily="34" charset="0"/>
            </a:endParaRPr>
          </a:p>
          <a:p>
            <a:pPr marL="742950" lvl="1" indent="-285750">
              <a:buFont typeface="Arial" panose="020B0604020202020204" pitchFamily="34" charset="0"/>
              <a:buChar char="•"/>
            </a:pPr>
            <a:r>
              <a:rPr lang="de-DE" b="1" dirty="0">
                <a:latin typeface="Source Sans Pro" panose="020B0503030403020204" pitchFamily="34" charset="0"/>
              </a:rPr>
              <a:t>Vorbemerkungen</a:t>
            </a:r>
            <a:endParaRPr lang="de-DE" sz="1200" b="1" dirty="0">
              <a:latin typeface="Source Sans Pro" panose="020B0503030403020204" pitchFamily="34" charset="0"/>
            </a:endParaRPr>
          </a:p>
          <a:p>
            <a:pPr marL="1085850" lvl="2" indent="-171450">
              <a:buFont typeface="Courier New" panose="02070309020205020404" pitchFamily="49" charset="0"/>
              <a:buChar char="o"/>
            </a:pPr>
            <a:r>
              <a:rPr lang="de-DE" sz="1200" dirty="0">
                <a:latin typeface="Source Sans Pro" panose="020B0503030403020204" pitchFamily="34" charset="0"/>
              </a:rPr>
              <a:t>Modell</a:t>
            </a:r>
          </a:p>
          <a:p>
            <a:pPr marL="1085850" lvl="2" indent="-171450">
              <a:buFont typeface="Courier New" panose="02070309020205020404" pitchFamily="49" charset="0"/>
              <a:buChar char="o"/>
            </a:pPr>
            <a:r>
              <a:rPr lang="de-DE" sz="1200" dirty="0">
                <a:latin typeface="Source Sans Pro" panose="020B0503030403020204" pitchFamily="34" charset="0"/>
              </a:rPr>
              <a:t>Diagramm</a:t>
            </a:r>
          </a:p>
          <a:p>
            <a:pPr lvl="2"/>
            <a:endParaRPr lang="de-DE" sz="800" dirty="0">
              <a:latin typeface="Source Sans Pro" panose="020B0503030403020204" pitchFamily="34" charset="0"/>
            </a:endParaRPr>
          </a:p>
          <a:p>
            <a:pPr marL="742950" lvl="1" indent="-285750">
              <a:buFont typeface="Arial" panose="020B0604020202020204" pitchFamily="34" charset="0"/>
              <a:buChar char="•"/>
            </a:pPr>
            <a:r>
              <a:rPr lang="de-DE" b="1" dirty="0">
                <a:latin typeface="Source Sans Pro" panose="020B0503030403020204" pitchFamily="34" charset="0"/>
              </a:rPr>
              <a:t>Grundbegriffe</a:t>
            </a:r>
          </a:p>
          <a:p>
            <a:pPr marL="1085850" lvl="2" indent="-171450">
              <a:buFont typeface="Courier New" panose="02070309020205020404" pitchFamily="49" charset="0"/>
              <a:buChar char="o"/>
            </a:pPr>
            <a:r>
              <a:rPr lang="de-DE" sz="1200" dirty="0">
                <a:latin typeface="Source Sans Pro" panose="020B0503030403020204" pitchFamily="34" charset="0"/>
              </a:rPr>
              <a:t>Datum</a:t>
            </a:r>
          </a:p>
          <a:p>
            <a:pPr marL="1085850" lvl="2" indent="-171450">
              <a:buFont typeface="Courier New" panose="02070309020205020404" pitchFamily="49" charset="0"/>
              <a:buChar char="o"/>
            </a:pPr>
            <a:r>
              <a:rPr lang="de-DE" sz="1200" dirty="0">
                <a:latin typeface="Source Sans Pro" panose="020B0503030403020204" pitchFamily="34" charset="0"/>
              </a:rPr>
              <a:t>Entität</a:t>
            </a:r>
          </a:p>
          <a:p>
            <a:pPr marL="1085850" lvl="2" indent="-171450">
              <a:buFont typeface="Courier New" panose="02070309020205020404" pitchFamily="49" charset="0"/>
              <a:buChar char="o"/>
            </a:pPr>
            <a:r>
              <a:rPr lang="de-DE" sz="1200" dirty="0">
                <a:latin typeface="Source Sans Pro" panose="020B0503030403020204" pitchFamily="34" charset="0"/>
              </a:rPr>
              <a:t>Datensatz</a:t>
            </a:r>
          </a:p>
          <a:p>
            <a:pPr marL="1085850" lvl="2" indent="-171450">
              <a:buFont typeface="Courier New" panose="02070309020205020404" pitchFamily="49" charset="0"/>
              <a:buChar char="o"/>
            </a:pPr>
            <a:r>
              <a:rPr lang="de-DE" sz="1200" dirty="0">
                <a:latin typeface="Source Sans Pro" panose="020B0503030403020204" pitchFamily="34" charset="0"/>
              </a:rPr>
              <a:t>ID (Primärschlüssel)</a:t>
            </a:r>
          </a:p>
          <a:p>
            <a:pPr marL="1085850" lvl="2" indent="-171450">
              <a:buFont typeface="Courier New" panose="02070309020205020404" pitchFamily="49" charset="0"/>
              <a:buChar char="o"/>
            </a:pPr>
            <a:r>
              <a:rPr lang="de-DE" sz="1200" dirty="0">
                <a:latin typeface="Source Sans Pro" panose="020B0503030403020204" pitchFamily="34" charset="0"/>
              </a:rPr>
              <a:t>Tabelle</a:t>
            </a:r>
          </a:p>
          <a:p>
            <a:pPr marL="1085850" lvl="2" indent="-171450">
              <a:buFont typeface="Courier New" panose="02070309020205020404" pitchFamily="49" charset="0"/>
              <a:buChar char="o"/>
            </a:pPr>
            <a:r>
              <a:rPr lang="de-DE" sz="1200" dirty="0">
                <a:latin typeface="Source Sans Pro" panose="020B0503030403020204" pitchFamily="34" charset="0"/>
              </a:rPr>
              <a:t>Beziehung</a:t>
            </a:r>
          </a:p>
          <a:p>
            <a:pPr marL="1085850" lvl="2" indent="-171450">
              <a:buFont typeface="Courier New" panose="02070309020205020404" pitchFamily="49" charset="0"/>
              <a:buChar char="o"/>
            </a:pPr>
            <a:r>
              <a:rPr lang="de-DE" sz="1200" dirty="0">
                <a:latin typeface="Source Sans Pro" panose="020B0503030403020204" pitchFamily="34" charset="0"/>
              </a:rPr>
              <a:t>Fremdschlüssel</a:t>
            </a:r>
          </a:p>
          <a:p>
            <a:pPr marL="1085850" lvl="2" indent="-171450">
              <a:buFont typeface="Courier New" panose="02070309020205020404" pitchFamily="49" charset="0"/>
              <a:buChar char="o"/>
            </a:pPr>
            <a:r>
              <a:rPr lang="de-DE" sz="1200" dirty="0">
                <a:latin typeface="Source Sans Pro" panose="020B0503030403020204" pitchFamily="34" charset="0"/>
              </a:rPr>
              <a:t>Normalisierung</a:t>
            </a:r>
          </a:p>
          <a:p>
            <a:pPr lvl="2"/>
            <a:endParaRPr lang="de-DE" sz="800" dirty="0">
              <a:latin typeface="Source Sans Pro" panose="020B0503030403020204" pitchFamily="34" charset="0"/>
            </a:endParaRPr>
          </a:p>
          <a:p>
            <a:pPr lvl="2"/>
            <a:endParaRPr lang="de-DE" sz="800" dirty="0">
              <a:latin typeface="Source Sans Pro" panose="020B0503030403020204" pitchFamily="34" charset="0"/>
            </a:endParaRPr>
          </a:p>
          <a:p>
            <a:pPr marL="742950" lvl="1" indent="-285750">
              <a:buFont typeface="Arial" panose="020B0604020202020204" pitchFamily="34" charset="0"/>
              <a:buChar char="•"/>
            </a:pPr>
            <a:r>
              <a:rPr lang="de-DE" b="1" dirty="0">
                <a:latin typeface="Source Sans Pro" panose="020B0503030403020204" pitchFamily="34" charset="0"/>
              </a:rPr>
              <a:t>Beispiel</a:t>
            </a:r>
            <a:r>
              <a:rPr lang="de-DE" dirty="0">
                <a:latin typeface="Source Sans Pro" panose="020B0503030403020204" pitchFamily="34" charset="0"/>
              </a:rPr>
              <a:t> </a:t>
            </a:r>
            <a:r>
              <a:rPr lang="de-DE" sz="1200" dirty="0">
                <a:latin typeface="Source Sans Pro" panose="020B0503030403020204" pitchFamily="34" charset="0"/>
              </a:rPr>
              <a:t>(Aufgabenstellung -&gt; Diagramm)</a:t>
            </a:r>
          </a:p>
          <a:p>
            <a:pPr lvl="2"/>
            <a:endParaRPr lang="de-DE" sz="800" dirty="0">
              <a:latin typeface="Source Sans Pro" panose="020B0503030403020204" pitchFamily="34" charset="0"/>
            </a:endParaRPr>
          </a:p>
          <a:p>
            <a:pPr lvl="2"/>
            <a:endParaRPr lang="de-DE" sz="800" dirty="0">
              <a:latin typeface="Source Sans Pro" panose="020B0503030403020204" pitchFamily="34" charset="0"/>
            </a:endParaRPr>
          </a:p>
          <a:p>
            <a:pPr marL="742950" lvl="1" indent="-285750">
              <a:buFont typeface="Arial" panose="020B0604020202020204" pitchFamily="34" charset="0"/>
              <a:buChar char="•"/>
            </a:pPr>
            <a:r>
              <a:rPr lang="de-DE" b="1" dirty="0">
                <a:latin typeface="Source Sans Pro" panose="020B0503030403020204" pitchFamily="34" charset="0"/>
              </a:rPr>
              <a:t>Übungen mit Besprechungen </a:t>
            </a:r>
            <a:r>
              <a:rPr lang="de-DE" sz="1200" dirty="0">
                <a:latin typeface="Source Sans Pro" panose="020B0503030403020204" pitchFamily="34" charset="0"/>
              </a:rPr>
              <a:t>(Vormittag)</a:t>
            </a:r>
          </a:p>
          <a:p>
            <a:pPr lvl="1"/>
            <a:endParaRPr lang="de-DE" sz="800" dirty="0">
              <a:latin typeface="Source Sans Pro" panose="020B0503030403020204" pitchFamily="34" charset="0"/>
            </a:endParaRPr>
          </a:p>
          <a:p>
            <a:pPr lvl="1"/>
            <a:endParaRPr lang="de-DE" sz="800" dirty="0">
              <a:latin typeface="Source Sans Pro" panose="020B0503030403020204" pitchFamily="34" charset="0"/>
            </a:endParaRPr>
          </a:p>
          <a:p>
            <a:pPr marL="742950" lvl="1" indent="-285750">
              <a:buFont typeface="Arial" panose="020B0604020202020204" pitchFamily="34" charset="0"/>
              <a:buChar char="•"/>
            </a:pPr>
            <a:r>
              <a:rPr lang="de-DE" b="1" dirty="0">
                <a:latin typeface="Source Sans Pro" panose="020B0503030403020204" pitchFamily="34" charset="0"/>
              </a:rPr>
              <a:t>FPA</a:t>
            </a:r>
            <a:r>
              <a:rPr lang="de-DE" dirty="0">
                <a:latin typeface="Source Sans Pro" panose="020B0503030403020204" pitchFamily="34" charset="0"/>
              </a:rPr>
              <a:t> </a:t>
            </a:r>
            <a:r>
              <a:rPr lang="de-DE" sz="1200" dirty="0">
                <a:latin typeface="Source Sans Pro" panose="020B0503030403020204" pitchFamily="34" charset="0"/>
              </a:rPr>
              <a:t>(Nachmittag)</a:t>
            </a:r>
            <a:endParaRPr lang="de-DE" sz="1200" dirty="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9" end="1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
                                            <p:txEl>
                                              <p:pRg st="22" end="2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4563687" y="2101561"/>
            <a:ext cx="7398328" cy="707704"/>
          </a:xfrm>
        </p:spPr>
        <p:txBody>
          <a:bodyPr>
            <a:noAutofit/>
          </a:bodyPr>
          <a:lstStyle/>
          <a:p>
            <a:r>
              <a:rPr lang="de-DE" sz="6600" dirty="0">
                <a:latin typeface="Source Sans Pro" panose="020B0503030403020204" pitchFamily="34" charset="0"/>
              </a:rPr>
              <a:t>Vorbemerkungen</a:t>
            </a: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normAutofit/>
          </a:bodyPr>
          <a:lstStyle/>
          <a:p>
            <a:r>
              <a:rPr lang="de-DE" dirty="0">
                <a:latin typeface="Source Sans Pro" panose="020B0503030403020204" pitchFamily="34" charset="0"/>
              </a:rPr>
              <a:t>Vorbemerkungen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28259" y="2332095"/>
            <a:ext cx="10914992" cy="2185214"/>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Datenbanken sind ein zentraler Bestandteil der Informatik. Nicht umsonst sprechen wir von der „E</a:t>
            </a:r>
            <a:r>
              <a:rPr lang="de-DE" sz="2400" b="1" dirty="0">
                <a:latin typeface="Source Sans Pro" panose="020B0503030403020204" pitchFamily="34" charset="0"/>
              </a:rPr>
              <a:t>D</a:t>
            </a:r>
            <a:r>
              <a:rPr lang="de-DE" sz="2400" dirty="0">
                <a:latin typeface="Source Sans Pro" panose="020B0503030403020204" pitchFamily="34" charset="0"/>
              </a:rPr>
              <a:t>V“, also der „Elektronischen </a:t>
            </a:r>
            <a:r>
              <a:rPr lang="de-DE" sz="2400" b="1" dirty="0">
                <a:latin typeface="Source Sans Pro" panose="020B0503030403020204" pitchFamily="34" charset="0"/>
              </a:rPr>
              <a:t>Daten</a:t>
            </a:r>
            <a:r>
              <a:rPr lang="de-DE" sz="2400" dirty="0">
                <a:latin typeface="Source Sans Pro" panose="020B0503030403020204" pitchFamily="34" charset="0"/>
              </a:rPr>
              <a:t>verarbeitung“.</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Wir wollen heute lernen, wie wir ein Datenbank</a:t>
            </a:r>
            <a:r>
              <a:rPr lang="de-DE" sz="2400" b="1" dirty="0">
                <a:latin typeface="Source Sans Pro" panose="020B0503030403020204" pitchFamily="34" charset="0"/>
              </a:rPr>
              <a:t>-Modell </a:t>
            </a:r>
            <a:r>
              <a:rPr lang="de-DE" sz="2400" dirty="0">
                <a:latin typeface="Source Sans Pro" panose="020B0503030403020204" pitchFamily="34" charset="0"/>
              </a:rPr>
              <a:t>entwickeln, das den Anforderungen eines Auftraggebers </a:t>
            </a:r>
            <a:r>
              <a:rPr lang="de-DE" sz="1600" i="1" dirty="0">
                <a:latin typeface="Source Sans Pro" panose="020B0503030403020204" pitchFamily="34" charset="0"/>
              </a:rPr>
              <a:t>(bzw. einer entsprechenden Aufgabenstellung) </a:t>
            </a:r>
            <a:r>
              <a:rPr lang="de-DE" sz="2400" dirty="0">
                <a:latin typeface="Source Sans Pro" panose="020B0503030403020204" pitchFamily="34" charset="0"/>
              </a:rPr>
              <a:t>genügt.</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Ferner werden wir lernen, solche Modelle in Form von </a:t>
            </a:r>
            <a:r>
              <a:rPr lang="de-DE" sz="2400" b="1" dirty="0">
                <a:latin typeface="Source Sans Pro" panose="020B0503030403020204" pitchFamily="34" charset="0"/>
              </a:rPr>
              <a:t>Diagrammen</a:t>
            </a:r>
            <a:r>
              <a:rPr lang="de-DE" sz="2400" dirty="0">
                <a:latin typeface="Source Sans Pro" panose="020B0503030403020204" pitchFamily="34" charset="0"/>
              </a:rPr>
              <a:t> darzustellen.</a:t>
            </a:r>
          </a:p>
        </p:txBody>
      </p:sp>
    </p:spTree>
    <p:extLst>
      <p:ext uri="{BB962C8B-B14F-4D97-AF65-F5344CB8AC3E}">
        <p14:creationId xmlns:p14="http://schemas.microsoft.com/office/powerpoint/2010/main" val="335707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6" y="2101561"/>
            <a:ext cx="6318809" cy="707704"/>
          </a:xfrm>
        </p:spPr>
        <p:txBody>
          <a:bodyPr>
            <a:noAutofit/>
          </a:bodyPr>
          <a:lstStyle/>
          <a:p>
            <a:r>
              <a:rPr lang="de-DE" dirty="0">
                <a:latin typeface="Source Sans Pro" panose="020B0503030403020204" pitchFamily="34" charset="0"/>
              </a:rPr>
              <a:t>Grundbegriffe</a:t>
            </a:r>
          </a:p>
        </p:txBody>
      </p:sp>
    </p:spTree>
    <p:extLst>
      <p:ext uri="{BB962C8B-B14F-4D97-AF65-F5344CB8AC3E}">
        <p14:creationId xmlns:p14="http://schemas.microsoft.com/office/powerpoint/2010/main" val="396599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Datum </a:t>
            </a:r>
            <a:r>
              <a:rPr lang="de-DE" sz="2400" b="0" dirty="0">
                <a:latin typeface="Source Sans Pro" panose="020B0503030403020204" pitchFamily="34" charset="0"/>
              </a:rPr>
              <a:t>(Mehrzahl: „Daten“)</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0072" y="2235982"/>
            <a:ext cx="10602234" cy="2185214"/>
          </a:xfrm>
          <a:prstGeom prst="rect">
            <a:avLst/>
          </a:prstGeom>
          <a:noFill/>
        </p:spPr>
        <p:txBody>
          <a:bodyPr wrap="square" rtlCol="0">
            <a:spAutoFit/>
          </a:bodyPr>
          <a:lstStyle/>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Unter einem </a:t>
            </a:r>
            <a:r>
              <a:rPr lang="de-DE" sz="2400" b="1" noProof="0" dirty="0">
                <a:solidFill>
                  <a:srgbClr val="0071B2"/>
                </a:solidFill>
                <a:latin typeface="Source Sans Pro" panose="020B0503030403020204" pitchFamily="34" charset="0"/>
              </a:rPr>
              <a:t>Datum</a:t>
            </a:r>
            <a:r>
              <a:rPr lang="de-DE" sz="2400" noProof="0" dirty="0">
                <a:solidFill>
                  <a:srgbClr val="0071B2"/>
                </a:solidFill>
                <a:latin typeface="Source Sans Pro" panose="020B0503030403020204" pitchFamily="34" charset="0"/>
              </a:rPr>
              <a:t> verstehen wir umgangssprachlich eine „Termin-Angabe“.</a:t>
            </a:r>
          </a:p>
          <a:p>
            <a:pPr lvl="0"/>
            <a:endParaRPr lang="de-DE" sz="800" noProof="0" dirty="0">
              <a:solidFill>
                <a:srgbClr val="0071B2"/>
              </a:solidFill>
              <a:latin typeface="Source Sans Pro" panose="020B0503030403020204" pitchFamily="34" charset="0"/>
            </a:endParaRPr>
          </a:p>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In einer Datenbank ist aber </a:t>
            </a:r>
            <a:r>
              <a:rPr lang="de-DE" sz="2400" b="1" noProof="0" dirty="0">
                <a:solidFill>
                  <a:srgbClr val="0071B2"/>
                </a:solidFill>
                <a:latin typeface="Source Sans Pro" panose="020B0503030403020204" pitchFamily="34" charset="0"/>
              </a:rPr>
              <a:t>jede beliebige einzelne Information </a:t>
            </a:r>
            <a:r>
              <a:rPr lang="de-DE" sz="2400" noProof="0" dirty="0">
                <a:solidFill>
                  <a:srgbClr val="0071B2"/>
                </a:solidFill>
                <a:latin typeface="Source Sans Pro" panose="020B0503030403020204" pitchFamily="34" charset="0"/>
              </a:rPr>
              <a:t>ein Datum.</a:t>
            </a:r>
            <a:endParaRPr lang="de-DE" sz="1400" noProof="0" dirty="0">
              <a:solidFill>
                <a:srgbClr val="0071B2"/>
              </a:solidFill>
              <a:latin typeface="Source Sans Pro" panose="020B0503030403020204" pitchFamily="34" charset="0"/>
            </a:endParaRPr>
          </a:p>
          <a:p>
            <a:pPr lvl="0"/>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Ein Datum</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kann also ein </a:t>
            </a:r>
            <a:r>
              <a:rPr kumimoji="0" lang="de-DE" sz="2400" b="0" i="1" u="none" strike="noStrike" kern="1200" cap="none" spc="0" normalizeH="0" baseline="0" noProof="0" dirty="0">
                <a:ln>
                  <a:noFill/>
                </a:ln>
                <a:solidFill>
                  <a:srgbClr val="0071B2"/>
                </a:solidFill>
                <a:effectLst/>
                <a:uLnTx/>
                <a:uFillTx/>
                <a:latin typeface="Source Sans Pro" panose="020B0503030403020204" pitchFamily="34" charset="0"/>
              </a:rPr>
              <a:t>Vorname</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 eine </a:t>
            </a:r>
            <a:r>
              <a:rPr kumimoji="0" lang="de-DE" sz="2400" i="1" u="none" strike="noStrike" kern="1200" cap="none" spc="0" normalizeH="0" baseline="0" noProof="0" dirty="0">
                <a:ln>
                  <a:noFill/>
                </a:ln>
                <a:solidFill>
                  <a:srgbClr val="0071B2"/>
                </a:solidFill>
                <a:effectLst/>
                <a:uLnTx/>
                <a:uFillTx/>
                <a:latin typeface="Source Sans Pro" panose="020B0503030403020204" pitchFamily="34" charset="0"/>
              </a:rPr>
              <a:t>Körpergröße</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 eine </a:t>
            </a:r>
            <a:r>
              <a:rPr kumimoji="0" lang="de-DE" sz="2400" b="0" i="1" u="none" strike="noStrike" kern="1200" cap="none" spc="0" normalizeH="0" baseline="0" noProof="0" dirty="0">
                <a:ln>
                  <a:noFill/>
                </a:ln>
                <a:solidFill>
                  <a:srgbClr val="0071B2"/>
                </a:solidFill>
                <a:effectLst/>
                <a:uLnTx/>
                <a:uFillTx/>
                <a:latin typeface="Source Sans Pro" panose="020B0503030403020204" pitchFamily="34" charset="0"/>
              </a:rPr>
              <a:t>Schulnote</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 … aber natürlich auch ein </a:t>
            </a:r>
            <a:r>
              <a:rPr kumimoji="0" lang="de-DE" sz="2400" b="0" i="1" u="none" strike="noStrike" kern="1200" cap="none" spc="0" normalizeH="0" baseline="0" noProof="0" dirty="0">
                <a:ln>
                  <a:noFill/>
                </a:ln>
                <a:solidFill>
                  <a:srgbClr val="0071B2"/>
                </a:solidFill>
                <a:effectLst/>
                <a:uLnTx/>
                <a:uFillTx/>
                <a:latin typeface="Source Sans Pro" panose="020B0503030403020204" pitchFamily="34" charset="0"/>
              </a:rPr>
              <a:t>Kalenderdatum</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 sein.</a:t>
            </a:r>
            <a:endParaRPr kumimoji="0" lang="de-DE" sz="2400" b="0" i="0" u="none" strike="noStrike" kern="1200" cap="none" spc="0" normalizeH="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Tree>
    <p:extLst>
      <p:ext uri="{BB962C8B-B14F-4D97-AF65-F5344CB8AC3E}">
        <p14:creationId xmlns:p14="http://schemas.microsoft.com/office/powerpoint/2010/main" val="137418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Entität</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276837" y="2235982"/>
            <a:ext cx="11915163" cy="2523768"/>
          </a:xfrm>
          <a:prstGeom prst="rect">
            <a:avLst/>
          </a:prstGeom>
          <a:noFill/>
        </p:spPr>
        <p:txBody>
          <a:bodyPr wrap="square" rtlCol="0">
            <a:spAutoFit/>
          </a:bodyPr>
          <a:lstStyle/>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In einer Datenbank werden also Daten abgespeichert. </a:t>
            </a:r>
            <a:r>
              <a:rPr lang="de-DE" sz="1400" noProof="0" dirty="0">
                <a:solidFill>
                  <a:srgbClr val="0071B2"/>
                </a:solidFill>
                <a:latin typeface="Source Sans Pro" panose="020B0503030403020204" pitchFamily="34" charset="0"/>
              </a:rPr>
              <a:t>(Z.B. Name, Adresse, Körpergröße …)</a:t>
            </a:r>
          </a:p>
          <a:p>
            <a:pPr lvl="0"/>
            <a:endParaRPr lang="de-DE" sz="800" noProof="0" dirty="0">
              <a:solidFill>
                <a:srgbClr val="0071B2"/>
              </a:solidFill>
              <a:latin typeface="Source Sans Pro" panose="020B0503030403020204" pitchFamily="34" charset="0"/>
            </a:endParaRPr>
          </a:p>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Mit diesen Daten können wir „Irgendetwas“ beschreiben. </a:t>
            </a:r>
            <a:r>
              <a:rPr lang="de-DE" sz="1400" noProof="0" dirty="0">
                <a:solidFill>
                  <a:srgbClr val="0071B2"/>
                </a:solidFill>
                <a:latin typeface="Source Sans Pro" panose="020B0503030403020204" pitchFamily="34" charset="0"/>
              </a:rPr>
              <a:t>(Z.B. eine Person)</a:t>
            </a:r>
          </a:p>
          <a:p>
            <a:pPr lvl="0"/>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Ein solches „Etwas“ wird vornehm</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als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Entität</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bezeichnet. </a:t>
            </a:r>
            <a:r>
              <a:rPr lang="de-DE" sz="1400" dirty="0">
                <a:solidFill>
                  <a:srgbClr val="0071B2"/>
                </a:solidFill>
                <a:latin typeface="Source Sans Pro" panose="020B0503030403020204" pitchFamily="34" charset="0"/>
              </a:rPr>
              <a:t>(Eine Person wäre also eine Entität)</a:t>
            </a:r>
          </a:p>
          <a:p>
            <a:pPr lvl="0"/>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ndParaRPr>
          </a:p>
          <a:p>
            <a:pPr marL="342900" indent="-342900">
              <a:buFont typeface="Arial" panose="020B0604020202020204" pitchFamily="34" charset="0"/>
              <a:buChar char="•"/>
            </a:pPr>
            <a:r>
              <a:rPr lang="de-DE" sz="2400" dirty="0">
                <a:solidFill>
                  <a:srgbClr val="0071B2"/>
                </a:solidFill>
                <a:latin typeface="Source Sans Pro" panose="020B0503030403020204" pitchFamily="34" charset="0"/>
              </a:rPr>
              <a:t>Entitäten können aber auch </a:t>
            </a:r>
            <a:r>
              <a:rPr lang="de-DE" sz="2400" b="1" dirty="0">
                <a:solidFill>
                  <a:srgbClr val="0071B2"/>
                </a:solidFill>
                <a:latin typeface="Source Sans Pro" panose="020B0503030403020204" pitchFamily="34" charset="0"/>
              </a:rPr>
              <a:t>abstrakte Sachverhalte </a:t>
            </a:r>
            <a:r>
              <a:rPr lang="de-DE" sz="2400" dirty="0">
                <a:solidFill>
                  <a:srgbClr val="0071B2"/>
                </a:solidFill>
                <a:latin typeface="Source Sans Pro" panose="020B0503030403020204" pitchFamily="34" charset="0"/>
              </a:rPr>
              <a:t>beschreiben.</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a:t>
            </a:r>
            <a:r>
              <a:rPr lang="de-DE" sz="1400" dirty="0">
                <a:solidFill>
                  <a:srgbClr val="0071B2"/>
                </a:solidFill>
                <a:latin typeface="Source Sans Pro" panose="020B0503030403020204" pitchFamily="34" charset="0"/>
              </a:rPr>
              <a:t>(Z.B. Ereignis, Regelung, Fehlzeit …)</a:t>
            </a:r>
          </a:p>
          <a:p>
            <a:pPr marL="342900" lvl="0" indent="-342900">
              <a:buFont typeface="Arial" panose="020B0604020202020204" pitchFamily="34" charset="0"/>
              <a:buChar char="•"/>
            </a:pPr>
            <a:endParaRPr kumimoji="0" lang="de-DE" sz="1400" b="0" i="0" u="none" strike="noStrike" kern="1200" cap="none" spc="0" normalizeH="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Tree>
    <p:extLst>
      <p:ext uri="{BB962C8B-B14F-4D97-AF65-F5344CB8AC3E}">
        <p14:creationId xmlns:p14="http://schemas.microsoft.com/office/powerpoint/2010/main" val="66561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Datensatz</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0072" y="2235982"/>
            <a:ext cx="10602234" cy="2769989"/>
          </a:xfrm>
          <a:prstGeom prst="rect">
            <a:avLst/>
          </a:prstGeom>
          <a:noFill/>
        </p:spPr>
        <p:txBody>
          <a:bodyPr wrap="square" rtlCol="0">
            <a:spAutoFit/>
          </a:bodyPr>
          <a:lstStyle/>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Eine Entität </a:t>
            </a:r>
            <a:r>
              <a:rPr lang="de-DE" sz="1400" noProof="0" dirty="0">
                <a:solidFill>
                  <a:srgbClr val="0071B2"/>
                </a:solidFill>
                <a:latin typeface="Source Sans Pro" panose="020B0503030403020204" pitchFamily="34" charset="0"/>
              </a:rPr>
              <a:t>(z.B. eine Person) </a:t>
            </a:r>
            <a:r>
              <a:rPr lang="de-DE" sz="2400" noProof="0" dirty="0">
                <a:solidFill>
                  <a:srgbClr val="0071B2"/>
                </a:solidFill>
                <a:latin typeface="Source Sans Pro" panose="020B0503030403020204" pitchFamily="34" charset="0"/>
              </a:rPr>
              <a:t>wird üblicherweise mit </a:t>
            </a:r>
            <a:r>
              <a:rPr lang="de-DE" sz="2400" b="1" noProof="0" dirty="0">
                <a:solidFill>
                  <a:srgbClr val="0071B2"/>
                </a:solidFill>
                <a:latin typeface="Source Sans Pro" panose="020B0503030403020204" pitchFamily="34" charset="0"/>
              </a:rPr>
              <a:t>mehreren Daten </a:t>
            </a:r>
            <a:r>
              <a:rPr lang="de-DE" sz="2400" noProof="0" dirty="0">
                <a:solidFill>
                  <a:srgbClr val="0071B2"/>
                </a:solidFill>
                <a:latin typeface="Source Sans Pro" panose="020B0503030403020204" pitchFamily="34" charset="0"/>
              </a:rPr>
              <a:t>beschrieben. </a:t>
            </a:r>
            <a:endParaRPr lang="de-DE" sz="1400" dirty="0">
              <a:solidFill>
                <a:srgbClr val="0071B2"/>
              </a:solidFill>
              <a:latin typeface="Source Sans Pro" panose="020B0503030403020204" pitchFamily="34" charset="0"/>
            </a:endParaRPr>
          </a:p>
          <a:p>
            <a:pPr lvl="0"/>
            <a:r>
              <a:rPr lang="de-DE" sz="1400" noProof="0" dirty="0">
                <a:solidFill>
                  <a:srgbClr val="0071B2"/>
                </a:solidFill>
                <a:latin typeface="Source Sans Pro" panose="020B0503030403020204" pitchFamily="34" charset="0"/>
              </a:rPr>
              <a:t>          Z.B. (</a:t>
            </a:r>
            <a:r>
              <a:rPr lang="de-DE" sz="1400" b="1" noProof="0" dirty="0">
                <a:solidFill>
                  <a:srgbClr val="00B050"/>
                </a:solidFill>
                <a:latin typeface="Source Sans Pro" panose="020B0503030403020204" pitchFamily="34" charset="0"/>
              </a:rPr>
              <a:t>Vorname</a:t>
            </a:r>
            <a:r>
              <a:rPr lang="de-DE" sz="1400" noProof="0" dirty="0">
                <a:solidFill>
                  <a:srgbClr val="0071B2"/>
                </a:solidFill>
                <a:latin typeface="Source Sans Pro" panose="020B0503030403020204" pitchFamily="34" charset="0"/>
              </a:rPr>
              <a:t>, </a:t>
            </a:r>
            <a:r>
              <a:rPr lang="de-DE" sz="1400" b="1" noProof="0" dirty="0">
                <a:solidFill>
                  <a:srgbClr val="FF0000"/>
                </a:solidFill>
                <a:latin typeface="Source Sans Pro" panose="020B0503030403020204" pitchFamily="34" charset="0"/>
              </a:rPr>
              <a:t>Nachname</a:t>
            </a:r>
            <a:r>
              <a:rPr lang="de-DE" sz="1400" noProof="0" dirty="0">
                <a:solidFill>
                  <a:srgbClr val="0071B2"/>
                </a:solidFill>
                <a:latin typeface="Source Sans Pro" panose="020B0503030403020204" pitchFamily="34" charset="0"/>
              </a:rPr>
              <a:t>, </a:t>
            </a:r>
            <a:r>
              <a:rPr lang="de-DE" sz="1400" b="1" noProof="0" dirty="0">
                <a:solidFill>
                  <a:srgbClr val="FFC000"/>
                </a:solidFill>
                <a:latin typeface="Source Sans Pro" panose="020B0503030403020204" pitchFamily="34" charset="0"/>
              </a:rPr>
              <a:t>Körpergröße</a:t>
            </a:r>
            <a:r>
              <a:rPr lang="de-DE" sz="1400" noProof="0" dirty="0">
                <a:solidFill>
                  <a:srgbClr val="0071B2"/>
                </a:solidFill>
                <a:latin typeface="Source Sans Pro" panose="020B0503030403020204" pitchFamily="34" charset="0"/>
              </a:rPr>
              <a:t>)</a:t>
            </a:r>
          </a:p>
          <a:p>
            <a:pPr lvl="0"/>
            <a:endParaRPr lang="de-DE" sz="800" noProof="0" dirty="0">
              <a:solidFill>
                <a:srgbClr val="0071B2"/>
              </a:solidFill>
              <a:latin typeface="Source Sans Pro" panose="020B0503030403020204" pitchFamily="34" charset="0"/>
            </a:endParaRPr>
          </a:p>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Um deutlich werden zu lassen, dass sich mehrere Daten auf dieselbe Entität beziehen, werden diese zusammengefasst und als </a:t>
            </a:r>
            <a:r>
              <a:rPr lang="de-DE" sz="2400" b="1" noProof="0" dirty="0">
                <a:solidFill>
                  <a:srgbClr val="0071B2"/>
                </a:solidFill>
                <a:latin typeface="Source Sans Pro" panose="020B0503030403020204" pitchFamily="34" charset="0"/>
              </a:rPr>
              <a:t>Datensatz</a:t>
            </a:r>
            <a:r>
              <a:rPr lang="de-DE" sz="2400" noProof="0" dirty="0">
                <a:solidFill>
                  <a:srgbClr val="0071B2"/>
                </a:solidFill>
                <a:latin typeface="Source Sans Pro" panose="020B0503030403020204" pitchFamily="34" charset="0"/>
              </a:rPr>
              <a:t> bezeichnet.</a:t>
            </a:r>
            <a:endParaRPr lang="de-DE" sz="1400" noProof="0" dirty="0">
              <a:solidFill>
                <a:srgbClr val="0071B2"/>
              </a:solidFill>
              <a:latin typeface="Source Sans Pro" panose="020B0503030403020204" pitchFamily="34" charset="0"/>
            </a:endParaRPr>
          </a:p>
          <a:p>
            <a:pPr lvl="0"/>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Im obigen Beispiel wäre also der Datensatz einer Person namens „Petra Müller“, mit</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einer Körpergröße von</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 1,75:</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a:t>
            </a:r>
            <a:r>
              <a:rPr kumimoji="0" lang="de-DE" sz="1400" b="0" i="0" u="none" strike="noStrike" kern="1200" cap="none" spc="0" normalizeH="0" noProof="0" dirty="0">
                <a:ln>
                  <a:noFill/>
                </a:ln>
                <a:solidFill>
                  <a:srgbClr val="0071B2"/>
                </a:solidFill>
                <a:effectLst/>
                <a:uLnTx/>
                <a:uFillTx/>
                <a:latin typeface="Source Sans Pro" panose="020B0503030403020204" pitchFamily="34" charset="0"/>
              </a:rPr>
              <a:t>( </a:t>
            </a:r>
            <a:r>
              <a:rPr kumimoji="0" lang="de-DE" sz="1400" b="1" i="0" u="none" strike="noStrike" kern="1200" cap="none" spc="0" normalizeH="0" noProof="0" dirty="0">
                <a:ln>
                  <a:noFill/>
                </a:ln>
                <a:solidFill>
                  <a:srgbClr val="00B050"/>
                </a:solidFill>
                <a:effectLst/>
                <a:uLnTx/>
                <a:uFillTx/>
                <a:latin typeface="Source Sans Pro" panose="020B0503030403020204" pitchFamily="34" charset="0"/>
              </a:rPr>
              <a:t>„Petra“ </a:t>
            </a:r>
            <a:r>
              <a:rPr kumimoji="0" lang="de-DE" sz="1400" b="0" i="0" u="none" strike="noStrike" kern="1200" cap="none" spc="0" normalizeH="0" noProof="0" dirty="0">
                <a:ln>
                  <a:noFill/>
                </a:ln>
                <a:solidFill>
                  <a:srgbClr val="0071B2"/>
                </a:solidFill>
                <a:effectLst/>
                <a:uLnTx/>
                <a:uFillTx/>
                <a:latin typeface="Source Sans Pro" panose="020B0503030403020204" pitchFamily="34" charset="0"/>
              </a:rPr>
              <a:t>, </a:t>
            </a:r>
            <a:r>
              <a:rPr kumimoji="0" lang="de-DE" sz="1400" b="1" i="0" u="none" strike="noStrike" kern="1200" cap="none" spc="0" normalizeH="0" noProof="0" dirty="0">
                <a:ln>
                  <a:noFill/>
                </a:ln>
                <a:solidFill>
                  <a:srgbClr val="FF0000"/>
                </a:solidFill>
                <a:effectLst/>
                <a:uLnTx/>
                <a:uFillTx/>
                <a:latin typeface="Source Sans Pro" panose="020B0503030403020204" pitchFamily="34" charset="0"/>
              </a:rPr>
              <a:t>„Müller“ </a:t>
            </a:r>
            <a:r>
              <a:rPr kumimoji="0" lang="de-DE" sz="1400" b="0" i="0" u="none" strike="noStrike" kern="1200" cap="none" spc="0" normalizeH="0" noProof="0" dirty="0">
                <a:ln>
                  <a:noFill/>
                </a:ln>
                <a:solidFill>
                  <a:srgbClr val="0071B2"/>
                </a:solidFill>
                <a:effectLst/>
                <a:uLnTx/>
                <a:uFillTx/>
                <a:latin typeface="Source Sans Pro" panose="020B0503030403020204" pitchFamily="34" charset="0"/>
              </a:rPr>
              <a:t>, </a:t>
            </a:r>
            <a:r>
              <a:rPr kumimoji="0" lang="de-DE" sz="1400" b="1" i="0" u="none" strike="noStrike" kern="1200" cap="none" spc="0" normalizeH="0" noProof="0" dirty="0">
                <a:ln>
                  <a:noFill/>
                </a:ln>
                <a:solidFill>
                  <a:srgbClr val="FFC000"/>
                </a:solidFill>
                <a:effectLst/>
                <a:uLnTx/>
                <a:uFillTx/>
                <a:latin typeface="Source Sans Pro" panose="020B0503030403020204" pitchFamily="34" charset="0"/>
              </a:rPr>
              <a:t>1.75</a:t>
            </a:r>
            <a:r>
              <a:rPr kumimoji="0" lang="de-DE" sz="1400" b="0" i="0" u="none" strike="noStrike" kern="1200" cap="none" spc="0" normalizeH="0" noProof="0" dirty="0">
                <a:ln>
                  <a:noFill/>
                </a:ln>
                <a:solidFill>
                  <a:srgbClr val="0071B2"/>
                </a:solidFill>
                <a:effectLst/>
                <a:uLnTx/>
                <a:uFillTx/>
                <a:latin typeface="Source Sans Pro" panose="020B0503030403020204" pitchFamily="34" charset="0"/>
              </a:rPr>
              <a:t>)</a:t>
            </a:r>
            <a:r>
              <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rPr>
              <a:t> </a:t>
            </a:r>
            <a:endParaRPr kumimoji="0" lang="de-DE" sz="1400" b="0" i="0" u="none" strike="noStrike" kern="1200" cap="none" spc="0" normalizeH="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Tree>
    <p:extLst>
      <p:ext uri="{BB962C8B-B14F-4D97-AF65-F5344CB8AC3E}">
        <p14:creationId xmlns:p14="http://schemas.microsoft.com/office/powerpoint/2010/main" val="1068036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ID </a:t>
            </a:r>
            <a:r>
              <a:rPr lang="de-DE" sz="2400" b="0" dirty="0">
                <a:latin typeface="Source Sans Pro" panose="020B0503030403020204" pitchFamily="34" charset="0"/>
              </a:rPr>
              <a:t>(Primärschlüssel)</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86850" y="1858477"/>
            <a:ext cx="10602234" cy="3847207"/>
          </a:xfrm>
          <a:prstGeom prst="rect">
            <a:avLst/>
          </a:prstGeom>
          <a:noFill/>
        </p:spPr>
        <p:txBody>
          <a:bodyPr wrap="square" rtlCol="0">
            <a:spAutoFit/>
          </a:bodyPr>
          <a:lstStyle/>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In einer Datenbank kann es </a:t>
            </a:r>
            <a:r>
              <a:rPr lang="de-DE" sz="2400" b="1" noProof="0" dirty="0">
                <a:solidFill>
                  <a:srgbClr val="0071B2"/>
                </a:solidFill>
                <a:latin typeface="Source Sans Pro" panose="020B0503030403020204" pitchFamily="34" charset="0"/>
              </a:rPr>
              <a:t>mehrere Entitäten </a:t>
            </a:r>
            <a:r>
              <a:rPr lang="de-DE" sz="2400" noProof="0" dirty="0">
                <a:solidFill>
                  <a:srgbClr val="0071B2"/>
                </a:solidFill>
                <a:latin typeface="Source Sans Pro" panose="020B0503030403020204" pitchFamily="34" charset="0"/>
              </a:rPr>
              <a:t>(vom Typ „Person“) geben, die „Petra Müller“ heißen und 1,75 m groß sind.</a:t>
            </a:r>
            <a:endParaRPr lang="de-DE" sz="1400" noProof="0" dirty="0">
              <a:solidFill>
                <a:srgbClr val="0071B2"/>
              </a:solidFill>
              <a:latin typeface="Source Sans Pro" panose="020B0503030403020204" pitchFamily="34" charset="0"/>
            </a:endParaRPr>
          </a:p>
          <a:p>
            <a:pPr lvl="0"/>
            <a:endParaRPr lang="de-DE" sz="800" noProof="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400" noProof="0" dirty="0">
                <a:solidFill>
                  <a:srgbClr val="0071B2"/>
                </a:solidFill>
                <a:latin typeface="Source Sans Pro" panose="020B0503030403020204" pitchFamily="34" charset="0"/>
              </a:rPr>
              <a:t>Um diese beiden Entitäten unterscheiden zu können, wird eine </a:t>
            </a:r>
            <a:r>
              <a:rPr lang="de-DE" sz="2400" b="1" noProof="0" dirty="0">
                <a:solidFill>
                  <a:srgbClr val="0071B2"/>
                </a:solidFill>
                <a:latin typeface="Source Sans Pro" panose="020B0503030403020204" pitchFamily="34" charset="0"/>
              </a:rPr>
              <a:t>ID</a:t>
            </a:r>
            <a:r>
              <a:rPr lang="de-DE" sz="2400" noProof="0" dirty="0">
                <a:solidFill>
                  <a:srgbClr val="0071B2"/>
                </a:solidFill>
                <a:latin typeface="Source Sans Pro" panose="020B0503030403020204" pitchFamily="34" charset="0"/>
              </a:rPr>
              <a:t> eingeführt, die auch als </a:t>
            </a:r>
            <a:r>
              <a:rPr lang="de-DE" sz="2400" b="1" noProof="0" dirty="0">
                <a:solidFill>
                  <a:srgbClr val="0071B2"/>
                </a:solidFill>
                <a:latin typeface="Source Sans Pro" panose="020B0503030403020204" pitchFamily="34" charset="0"/>
              </a:rPr>
              <a:t>Primärschlüssel</a:t>
            </a:r>
            <a:r>
              <a:rPr lang="de-DE" sz="2400" noProof="0" dirty="0">
                <a:solidFill>
                  <a:srgbClr val="0071B2"/>
                </a:solidFill>
                <a:latin typeface="Source Sans Pro" panose="020B0503030403020204" pitchFamily="34" charset="0"/>
              </a:rPr>
              <a:t> bezeichnet wird. </a:t>
            </a:r>
            <a:r>
              <a:rPr lang="de-DE" sz="1400" b="1" dirty="0">
                <a:solidFill>
                  <a:srgbClr val="00B050"/>
                </a:solidFill>
                <a:latin typeface="Source Sans Pro" panose="020B0503030403020204" pitchFamily="34" charset="0"/>
              </a:rPr>
              <a:t>(</a:t>
            </a:r>
            <a:r>
              <a:rPr lang="de-DE" sz="1400" b="1" dirty="0" err="1">
                <a:solidFill>
                  <a:schemeClr val="accent2"/>
                </a:solidFill>
                <a:latin typeface="Source Sans Pro" panose="020B0503030403020204" pitchFamily="34" charset="0"/>
              </a:rPr>
              <a:t>Person_ID</a:t>
            </a:r>
            <a:r>
              <a:rPr lang="de-DE" sz="1400" dirty="0">
                <a:solidFill>
                  <a:srgbClr val="0071B2"/>
                </a:solidFill>
                <a:latin typeface="Source Sans Pro" panose="020B0503030403020204" pitchFamily="34" charset="0"/>
              </a:rPr>
              <a:t>,</a:t>
            </a:r>
            <a:r>
              <a:rPr lang="de-DE" sz="1400" b="1" dirty="0">
                <a:solidFill>
                  <a:srgbClr val="00B050"/>
                </a:solidFill>
                <a:latin typeface="Source Sans Pro" panose="020B0503030403020204" pitchFamily="34" charset="0"/>
              </a:rPr>
              <a:t> </a:t>
            </a:r>
            <a:r>
              <a:rPr lang="de-DE" sz="1400" b="1" dirty="0">
                <a:solidFill>
                  <a:srgbClr val="0070C0"/>
                </a:solidFill>
                <a:latin typeface="Source Sans Pro" panose="020B0503030403020204" pitchFamily="34" charset="0"/>
              </a:rPr>
              <a:t>Vorname</a:t>
            </a:r>
            <a:r>
              <a:rPr lang="de-DE" sz="1400" dirty="0">
                <a:solidFill>
                  <a:srgbClr val="0070C0"/>
                </a:solidFill>
                <a:latin typeface="Source Sans Pro" panose="020B0503030403020204" pitchFamily="34" charset="0"/>
              </a:rPr>
              <a:t>, </a:t>
            </a:r>
            <a:r>
              <a:rPr lang="de-DE" sz="1400" b="1" dirty="0">
                <a:solidFill>
                  <a:srgbClr val="0070C0"/>
                </a:solidFill>
                <a:latin typeface="Source Sans Pro" panose="020B0503030403020204" pitchFamily="34" charset="0"/>
              </a:rPr>
              <a:t>Nachname</a:t>
            </a:r>
            <a:r>
              <a:rPr lang="de-DE" sz="1400" dirty="0">
                <a:solidFill>
                  <a:srgbClr val="0070C0"/>
                </a:solidFill>
                <a:latin typeface="Source Sans Pro" panose="020B0503030403020204" pitchFamily="34" charset="0"/>
              </a:rPr>
              <a:t>, </a:t>
            </a:r>
            <a:r>
              <a:rPr lang="de-DE" sz="1400" b="1" dirty="0">
                <a:solidFill>
                  <a:srgbClr val="0070C0"/>
                </a:solidFill>
                <a:latin typeface="Source Sans Pro" panose="020B0503030403020204" pitchFamily="34" charset="0"/>
              </a:rPr>
              <a:t>Körpergröße</a:t>
            </a:r>
            <a:r>
              <a:rPr lang="de-DE" sz="1400" dirty="0">
                <a:solidFill>
                  <a:srgbClr val="0070C0"/>
                </a:solidFill>
                <a:latin typeface="Source Sans Pro" panose="020B0503030403020204" pitchFamily="34" charset="0"/>
              </a:rPr>
              <a:t>)</a:t>
            </a:r>
          </a:p>
          <a:p>
            <a:pPr lvl="0"/>
            <a:endParaRPr lang="de-DE" sz="800" noProof="0" dirty="0">
              <a:solidFill>
                <a:srgbClr val="0071B2"/>
              </a:solidFill>
              <a:latin typeface="Source Sans Pro" panose="020B0503030403020204" pitchFamily="34" charset="0"/>
            </a:endParaRPr>
          </a:p>
          <a:p>
            <a:pPr lvl="0"/>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Wir können dann </a:t>
            </a:r>
            <a:r>
              <a:rPr kumimoji="0" lang="de-DE" sz="1400" b="0" i="0" u="none" strike="noStrike" kern="1200" cap="none" spc="0" normalizeH="0" noProof="0" dirty="0">
                <a:ln>
                  <a:noFill/>
                </a:ln>
                <a:solidFill>
                  <a:srgbClr val="0071B2"/>
                </a:solidFill>
                <a:effectLst/>
                <a:uLnTx/>
                <a:uFillTx/>
                <a:latin typeface="Source Sans Pro" panose="020B0503030403020204" pitchFamily="34" charset="0"/>
              </a:rPr>
              <a:t>(</a:t>
            </a:r>
            <a:r>
              <a:rPr kumimoji="0" lang="de-DE" sz="1400" b="1" i="0" u="none" strike="noStrike" kern="1200" cap="none" spc="0" normalizeH="0" noProof="0" dirty="0">
                <a:ln>
                  <a:noFill/>
                </a:ln>
                <a:solidFill>
                  <a:schemeClr val="accent2"/>
                </a:solidFill>
                <a:effectLst/>
                <a:uLnTx/>
                <a:uFillTx/>
                <a:latin typeface="Source Sans Pro" panose="020B0503030403020204" pitchFamily="34" charset="0"/>
              </a:rPr>
              <a:t>17 </a:t>
            </a:r>
            <a:r>
              <a:rPr kumimoji="0" lang="de-DE" sz="1400" b="0" i="0" u="none" strike="noStrike" kern="1200" cap="none" spc="0" normalizeH="0" noProof="0" dirty="0">
                <a:ln>
                  <a:noFill/>
                </a:ln>
                <a:solidFill>
                  <a:srgbClr val="0071B2"/>
                </a:solidFill>
                <a:effectLst/>
                <a:uLnTx/>
                <a:uFillTx/>
                <a:latin typeface="Source Sans Pro" panose="020B0503030403020204" pitchFamily="34" charset="0"/>
              </a:rPr>
              <a:t>, </a:t>
            </a:r>
            <a:r>
              <a:rPr kumimoji="0" lang="de-DE" sz="1400" b="1" i="0" u="none" strike="noStrike" kern="1200" cap="none" spc="0" normalizeH="0" noProof="0" dirty="0">
                <a:ln>
                  <a:noFill/>
                </a:ln>
                <a:solidFill>
                  <a:srgbClr val="0070C0"/>
                </a:solidFill>
                <a:effectLst/>
                <a:uLnTx/>
                <a:uFillTx/>
                <a:latin typeface="Source Sans Pro" panose="020B0503030403020204" pitchFamily="34" charset="0"/>
              </a:rPr>
              <a:t>„Petra“ </a:t>
            </a:r>
            <a:r>
              <a:rPr kumimoji="0" lang="de-DE" sz="1400" b="0" i="0" u="none" strike="noStrike" kern="1200" cap="none" spc="0" normalizeH="0" noProof="0" dirty="0">
                <a:ln>
                  <a:noFill/>
                </a:ln>
                <a:solidFill>
                  <a:srgbClr val="0070C0"/>
                </a:solidFill>
                <a:effectLst/>
                <a:uLnTx/>
                <a:uFillTx/>
                <a:latin typeface="Source Sans Pro" panose="020B0503030403020204" pitchFamily="34" charset="0"/>
              </a:rPr>
              <a:t>, </a:t>
            </a:r>
            <a:r>
              <a:rPr kumimoji="0" lang="de-DE" sz="1400" b="1" i="0" u="none" strike="noStrike" kern="1200" cap="none" spc="0" normalizeH="0" noProof="0" dirty="0">
                <a:ln>
                  <a:noFill/>
                </a:ln>
                <a:solidFill>
                  <a:srgbClr val="0070C0"/>
                </a:solidFill>
                <a:effectLst/>
                <a:uLnTx/>
                <a:uFillTx/>
                <a:latin typeface="Source Sans Pro" panose="020B0503030403020204" pitchFamily="34" charset="0"/>
              </a:rPr>
              <a:t>„Müller“ </a:t>
            </a:r>
            <a:r>
              <a:rPr kumimoji="0" lang="de-DE" sz="1400" b="0" i="0" u="none" strike="noStrike" kern="1200" cap="none" spc="0" normalizeH="0" noProof="0" dirty="0">
                <a:ln>
                  <a:noFill/>
                </a:ln>
                <a:solidFill>
                  <a:srgbClr val="0070C0"/>
                </a:solidFill>
                <a:effectLst/>
                <a:uLnTx/>
                <a:uFillTx/>
                <a:latin typeface="Source Sans Pro" panose="020B0503030403020204" pitchFamily="34" charset="0"/>
              </a:rPr>
              <a:t>, </a:t>
            </a:r>
            <a:r>
              <a:rPr kumimoji="0" lang="de-DE" sz="1400" b="1" i="0" u="none" strike="noStrike" kern="1200" cap="none" spc="0" normalizeH="0" noProof="0" dirty="0">
                <a:ln>
                  <a:noFill/>
                </a:ln>
                <a:solidFill>
                  <a:srgbClr val="0070C0"/>
                </a:solidFill>
                <a:effectLst/>
                <a:uLnTx/>
                <a:uFillTx/>
                <a:latin typeface="Source Sans Pro" panose="020B0503030403020204" pitchFamily="34" charset="0"/>
              </a:rPr>
              <a:t>1.75</a:t>
            </a:r>
            <a:r>
              <a:rPr kumimoji="0" lang="de-DE" sz="1400" b="0" i="0" u="none" strike="noStrike" kern="1200" cap="none" spc="0" normalizeH="0" noProof="0" dirty="0">
                <a:ln>
                  <a:noFill/>
                </a:ln>
                <a:solidFill>
                  <a:srgbClr val="0070C0"/>
                </a:solidFill>
                <a:effectLst/>
                <a:uLnTx/>
                <a:uFillTx/>
                <a:latin typeface="Source Sans Pro" panose="020B0503030403020204" pitchFamily="34" charset="0"/>
              </a:rPr>
              <a:t>)</a:t>
            </a:r>
            <a:r>
              <a:rPr kumimoji="0" lang="de-DE" sz="1400" b="0" i="0" u="none" strike="noStrike" kern="1200" cap="none" spc="0" normalizeH="0" baseline="0" noProof="0" dirty="0">
                <a:ln>
                  <a:noFill/>
                </a:ln>
                <a:solidFill>
                  <a:srgbClr val="0070C0"/>
                </a:solidFill>
                <a:effectLst/>
                <a:uLnTx/>
                <a:uFillTx/>
                <a:latin typeface="Source Sans Pro" panose="020B0503030403020204" pitchFamily="34" charset="0"/>
              </a:rPr>
              <a:t> </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von </a:t>
            </a:r>
            <a:r>
              <a:rPr lang="de-DE" sz="1400" dirty="0">
                <a:solidFill>
                  <a:srgbClr val="0071B2"/>
                </a:solidFill>
                <a:latin typeface="Source Sans Pro" panose="020B0503030403020204" pitchFamily="34" charset="0"/>
              </a:rPr>
              <a:t>(</a:t>
            </a:r>
            <a:r>
              <a:rPr lang="de-DE" sz="1400" b="1" dirty="0">
                <a:solidFill>
                  <a:srgbClr val="FE5000"/>
                </a:solidFill>
                <a:latin typeface="Source Sans Pro" panose="020B0503030403020204" pitchFamily="34" charset="0"/>
              </a:rPr>
              <a:t>103 </a:t>
            </a:r>
            <a:r>
              <a:rPr lang="de-DE" sz="1400" dirty="0">
                <a:solidFill>
                  <a:srgbClr val="0071B2"/>
                </a:solidFill>
                <a:latin typeface="Source Sans Pro" panose="020B0503030403020204" pitchFamily="34" charset="0"/>
              </a:rPr>
              <a:t>, </a:t>
            </a:r>
            <a:r>
              <a:rPr lang="de-DE" sz="1400" b="1" dirty="0">
                <a:solidFill>
                  <a:srgbClr val="0070C0"/>
                </a:solidFill>
                <a:latin typeface="Source Sans Pro" panose="020B0503030403020204" pitchFamily="34" charset="0"/>
              </a:rPr>
              <a:t>„Petra“ </a:t>
            </a:r>
            <a:r>
              <a:rPr lang="de-DE" sz="1400" dirty="0">
                <a:solidFill>
                  <a:srgbClr val="0070C0"/>
                </a:solidFill>
                <a:latin typeface="Source Sans Pro" panose="020B0503030403020204" pitchFamily="34" charset="0"/>
              </a:rPr>
              <a:t>, </a:t>
            </a:r>
            <a:r>
              <a:rPr lang="de-DE" sz="1400" b="1" dirty="0">
                <a:solidFill>
                  <a:srgbClr val="0070C0"/>
                </a:solidFill>
                <a:latin typeface="Source Sans Pro" panose="020B0503030403020204" pitchFamily="34" charset="0"/>
              </a:rPr>
              <a:t>„Müller“ </a:t>
            </a:r>
            <a:r>
              <a:rPr lang="de-DE" sz="1400" dirty="0">
                <a:solidFill>
                  <a:srgbClr val="0070C0"/>
                </a:solidFill>
                <a:latin typeface="Source Sans Pro" panose="020B0503030403020204" pitchFamily="34" charset="0"/>
              </a:rPr>
              <a:t>, </a:t>
            </a:r>
            <a:r>
              <a:rPr lang="de-DE" sz="1400" b="1" dirty="0">
                <a:solidFill>
                  <a:srgbClr val="0070C0"/>
                </a:solidFill>
                <a:latin typeface="Source Sans Pro" panose="020B0503030403020204" pitchFamily="34" charset="0"/>
              </a:rPr>
              <a:t>1.75</a:t>
            </a:r>
            <a:r>
              <a:rPr lang="de-DE" sz="1400" dirty="0">
                <a:solidFill>
                  <a:srgbClr val="0070C0"/>
                </a:solidFill>
                <a:latin typeface="Source Sans Pro" panose="020B0503030403020204" pitchFamily="34" charset="0"/>
              </a:rPr>
              <a:t>) </a:t>
            </a:r>
            <a:r>
              <a:rPr lang="de-DE" sz="2400" dirty="0">
                <a:solidFill>
                  <a:srgbClr val="0071B2"/>
                </a:solidFill>
                <a:latin typeface="Source Sans Pro" panose="020B0503030403020204" pitchFamily="34" charset="0"/>
              </a:rPr>
              <a:t>unterscheiden.</a:t>
            </a:r>
          </a:p>
          <a:p>
            <a:pPr lvl="0"/>
            <a:r>
              <a:rPr lang="de-DE" sz="1400" dirty="0">
                <a:solidFill>
                  <a:srgbClr val="0071B2"/>
                </a:solidFill>
                <a:latin typeface="Source Sans Pro" panose="020B0503030403020204" pitchFamily="34" charset="0"/>
              </a:rPr>
              <a:t>          (</a:t>
            </a:r>
            <a:r>
              <a:rPr lang="de-DE" sz="1400" b="1" dirty="0">
                <a:solidFill>
                  <a:srgbClr val="0071B2"/>
                </a:solidFill>
                <a:latin typeface="Source Sans Pro" panose="020B0503030403020204" pitchFamily="34" charset="0"/>
              </a:rPr>
              <a:t>Bemerkung: </a:t>
            </a:r>
            <a:r>
              <a:rPr lang="de-DE" sz="1400" dirty="0">
                <a:solidFill>
                  <a:srgbClr val="0071B2"/>
                </a:solidFill>
                <a:latin typeface="Source Sans Pro" panose="020B0503030403020204" pitchFamily="34" charset="0"/>
              </a:rPr>
              <a:t>Die Werte 17 und 103 sind natürlich nur willkürliche Beispiele)</a:t>
            </a:r>
          </a:p>
          <a:p>
            <a:pPr lvl="0"/>
            <a:endParaRPr lang="de-DE" sz="800" dirty="0">
              <a:solidFill>
                <a:srgbClr val="0071B2"/>
              </a:solidFill>
              <a:latin typeface="Source Sans Pro" panose="020B0503030403020204" pitchFamily="34" charset="0"/>
            </a:endParaRPr>
          </a:p>
          <a:p>
            <a:pPr marL="342900" lvl="0" indent="-342900">
              <a:buFont typeface="Arial" panose="020B0604020202020204" pitchFamily="34" charset="0"/>
              <a:buChar char="•"/>
            </a:pP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Solche Primärschlüssel müssen dann aber natürlich </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eindeutig</a:t>
            </a:r>
            <a:r>
              <a:rPr kumimoji="0" lang="de-DE" sz="2400" b="0" i="0" u="none" strike="noStrike" kern="1200" cap="none" spc="0" normalizeH="0" noProof="0" dirty="0">
                <a:ln>
                  <a:noFill/>
                </a:ln>
                <a:solidFill>
                  <a:srgbClr val="0071B2"/>
                </a:solidFill>
                <a:effectLst/>
                <a:uLnTx/>
                <a:uFillTx/>
                <a:latin typeface="Source Sans Pro" panose="020B0503030403020204" pitchFamily="34" charset="0"/>
              </a:rPr>
              <a:t> sein. Es darf also nicht zwei unterschiedliche Personen geben, die dieselbe ID besitzen!</a:t>
            </a: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Tree>
    <p:extLst>
      <p:ext uri="{BB962C8B-B14F-4D97-AF65-F5344CB8AC3E}">
        <p14:creationId xmlns:p14="http://schemas.microsoft.com/office/powerpoint/2010/main" val="1361659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Tabelle</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0072" y="1564862"/>
            <a:ext cx="10602234" cy="2308324"/>
          </a:xfrm>
          <a:prstGeom prst="rect">
            <a:avLst/>
          </a:prstGeom>
          <a:noFill/>
        </p:spPr>
        <p:txBody>
          <a:bodyPr wrap="square" rtlCol="0">
            <a:spAutoFit/>
          </a:bodyPr>
          <a:lstStyle/>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In einer Datenbank in der (z.B.) die Datensätze von Personen</a:t>
            </a:r>
            <a:r>
              <a:rPr lang="de-DE" sz="1400" noProof="0" dirty="0">
                <a:solidFill>
                  <a:srgbClr val="0071B2"/>
                </a:solidFill>
                <a:latin typeface="Source Sans Pro" panose="020B0503030403020204" pitchFamily="34" charset="0"/>
              </a:rPr>
              <a:t> </a:t>
            </a:r>
            <a:r>
              <a:rPr lang="de-DE" sz="2400" noProof="0" dirty="0">
                <a:solidFill>
                  <a:srgbClr val="0071B2"/>
                </a:solidFill>
                <a:latin typeface="Source Sans Pro" panose="020B0503030403020204" pitchFamily="34" charset="0"/>
              </a:rPr>
              <a:t>abgespeichert werden, wird es üblicherweise mehrere Personen geben.</a:t>
            </a:r>
            <a:endParaRPr lang="de-DE" sz="1400" noProof="0" dirty="0">
              <a:solidFill>
                <a:srgbClr val="0071B2"/>
              </a:solidFill>
              <a:latin typeface="Source Sans Pro" panose="020B0503030403020204" pitchFamily="34" charset="0"/>
            </a:endParaRPr>
          </a:p>
          <a:p>
            <a:pPr lvl="0"/>
            <a:endParaRPr lang="de-DE" sz="800" noProof="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400" noProof="0" dirty="0">
                <a:solidFill>
                  <a:srgbClr val="0071B2"/>
                </a:solidFill>
                <a:latin typeface="Source Sans Pro" panose="020B0503030403020204" pitchFamily="34" charset="0"/>
              </a:rPr>
              <a:t>Alle Datensätze, die zum selben Entitäts-Typ </a:t>
            </a:r>
            <a:r>
              <a:rPr lang="de-DE" sz="1400" noProof="0" dirty="0">
                <a:solidFill>
                  <a:srgbClr val="0071B2"/>
                </a:solidFill>
                <a:latin typeface="Source Sans Pro" panose="020B0503030403020204" pitchFamily="34" charset="0"/>
              </a:rPr>
              <a:t>(hier: „Person“) </a:t>
            </a:r>
            <a:r>
              <a:rPr lang="de-DE" sz="2400" noProof="0" dirty="0">
                <a:solidFill>
                  <a:srgbClr val="0071B2"/>
                </a:solidFill>
                <a:latin typeface="Source Sans Pro" panose="020B0503030403020204" pitchFamily="34" charset="0"/>
              </a:rPr>
              <a:t>zählen, werden in einer sogenannten Tabelle zusammengefasst:</a:t>
            </a:r>
            <a:endParaRPr lang="de-DE" sz="1400" dirty="0">
              <a:solidFill>
                <a:srgbClr val="0070C0"/>
              </a:solidFill>
              <a:latin typeface="Source Sans Pro" panose="020B0503030403020204" pitchFamily="34" charset="0"/>
            </a:endParaRPr>
          </a:p>
          <a:p>
            <a:pPr lvl="0"/>
            <a:endParaRPr lang="de-DE" sz="800" noProof="0" dirty="0">
              <a:solidFill>
                <a:srgbClr val="0071B2"/>
              </a:solidFill>
              <a:latin typeface="Source Sans Pro" panose="020B0503030403020204" pitchFamily="34" charset="0"/>
            </a:endParaRPr>
          </a:p>
          <a:p>
            <a:pPr lvl="0"/>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graphicFrame>
        <p:nvGraphicFramePr>
          <p:cNvPr id="3" name="Tabelle 2">
            <a:extLst>
              <a:ext uri="{FF2B5EF4-FFF2-40B4-BE49-F238E27FC236}">
                <a16:creationId xmlns:a16="http://schemas.microsoft.com/office/drawing/2014/main" id="{04C62FBE-09CB-4969-07E6-B21512829EBE}"/>
              </a:ext>
            </a:extLst>
          </p:cNvPr>
          <p:cNvGraphicFramePr>
            <a:graphicFrameLocks noGrp="1"/>
          </p:cNvGraphicFramePr>
          <p:nvPr>
            <p:extLst>
              <p:ext uri="{D42A27DB-BD31-4B8C-83A1-F6EECF244321}">
                <p14:modId xmlns:p14="http://schemas.microsoft.com/office/powerpoint/2010/main" val="3749396511"/>
              </p:ext>
            </p:extLst>
          </p:nvPr>
        </p:nvGraphicFramePr>
        <p:xfrm>
          <a:off x="2929622" y="3899568"/>
          <a:ext cx="5581397" cy="1849120"/>
        </p:xfrm>
        <a:graphic>
          <a:graphicData uri="http://schemas.openxmlformats.org/drawingml/2006/table">
            <a:tbl>
              <a:tblPr firstRow="1" bandRow="1">
                <a:tableStyleId>{5C22544A-7EE6-4342-B048-85BDC9FD1C3A}</a:tableStyleId>
              </a:tblPr>
              <a:tblGrid>
                <a:gridCol w="1200341">
                  <a:extLst>
                    <a:ext uri="{9D8B030D-6E8A-4147-A177-3AD203B41FA5}">
                      <a16:colId xmlns:a16="http://schemas.microsoft.com/office/drawing/2014/main" val="1656277607"/>
                    </a:ext>
                  </a:extLst>
                </a:gridCol>
                <a:gridCol w="1097788">
                  <a:extLst>
                    <a:ext uri="{9D8B030D-6E8A-4147-A177-3AD203B41FA5}">
                      <a16:colId xmlns:a16="http://schemas.microsoft.com/office/drawing/2014/main" val="1314574840"/>
                    </a:ext>
                  </a:extLst>
                </a:gridCol>
                <a:gridCol w="1251268">
                  <a:extLst>
                    <a:ext uri="{9D8B030D-6E8A-4147-A177-3AD203B41FA5}">
                      <a16:colId xmlns:a16="http://schemas.microsoft.com/office/drawing/2014/main" val="219898022"/>
                    </a:ext>
                  </a:extLst>
                </a:gridCol>
                <a:gridCol w="2032000">
                  <a:extLst>
                    <a:ext uri="{9D8B030D-6E8A-4147-A177-3AD203B41FA5}">
                      <a16:colId xmlns:a16="http://schemas.microsoft.com/office/drawing/2014/main" val="2842040068"/>
                    </a:ext>
                  </a:extLst>
                </a:gridCol>
              </a:tblGrid>
              <a:tr h="0">
                <a:tc>
                  <a:txBody>
                    <a:bodyPr/>
                    <a:lstStyle/>
                    <a:p>
                      <a:r>
                        <a:rPr lang="de-DE" dirty="0" err="1"/>
                        <a:t>Person_ID</a:t>
                      </a:r>
                      <a:endParaRPr lang="de-DE" dirty="0"/>
                    </a:p>
                  </a:txBody>
                  <a:tcPr/>
                </a:tc>
                <a:tc>
                  <a:txBody>
                    <a:bodyPr/>
                    <a:lstStyle/>
                    <a:p>
                      <a:r>
                        <a:rPr lang="de-DE" dirty="0"/>
                        <a:t>Vorname</a:t>
                      </a:r>
                    </a:p>
                  </a:txBody>
                  <a:tcPr/>
                </a:tc>
                <a:tc>
                  <a:txBody>
                    <a:bodyPr/>
                    <a:lstStyle/>
                    <a:p>
                      <a:r>
                        <a:rPr lang="de-DE" dirty="0"/>
                        <a:t>Nachname</a:t>
                      </a:r>
                    </a:p>
                  </a:txBody>
                  <a:tcPr/>
                </a:tc>
                <a:tc>
                  <a:txBody>
                    <a:bodyPr/>
                    <a:lstStyle/>
                    <a:p>
                      <a:r>
                        <a:rPr lang="de-DE" dirty="0"/>
                        <a:t>Körpergröße in cm</a:t>
                      </a:r>
                    </a:p>
                  </a:txBody>
                  <a:tcPr/>
                </a:tc>
                <a:extLst>
                  <a:ext uri="{0D108BD9-81ED-4DB2-BD59-A6C34878D82A}">
                    <a16:rowId xmlns:a16="http://schemas.microsoft.com/office/drawing/2014/main" val="917080720"/>
                  </a:ext>
                </a:extLst>
              </a:tr>
              <a:tr h="370840">
                <a:tc>
                  <a:txBody>
                    <a:bodyPr/>
                    <a:lstStyle/>
                    <a:p>
                      <a:r>
                        <a:rPr lang="de-DE" dirty="0"/>
                        <a:t>1</a:t>
                      </a:r>
                    </a:p>
                  </a:txBody>
                  <a:tcPr/>
                </a:tc>
                <a:tc>
                  <a:txBody>
                    <a:bodyPr/>
                    <a:lstStyle/>
                    <a:p>
                      <a:r>
                        <a:rPr lang="de-DE" dirty="0"/>
                        <a:t>Petra</a:t>
                      </a:r>
                    </a:p>
                  </a:txBody>
                  <a:tcPr/>
                </a:tc>
                <a:tc>
                  <a:txBody>
                    <a:bodyPr/>
                    <a:lstStyle/>
                    <a:p>
                      <a:r>
                        <a:rPr lang="de-DE" dirty="0"/>
                        <a:t>Müller</a:t>
                      </a:r>
                    </a:p>
                  </a:txBody>
                  <a:tcPr/>
                </a:tc>
                <a:tc>
                  <a:txBody>
                    <a:bodyPr/>
                    <a:lstStyle/>
                    <a:p>
                      <a:r>
                        <a:rPr lang="de-DE" dirty="0"/>
                        <a:t>175</a:t>
                      </a:r>
                    </a:p>
                  </a:txBody>
                  <a:tcPr/>
                </a:tc>
                <a:extLst>
                  <a:ext uri="{0D108BD9-81ED-4DB2-BD59-A6C34878D82A}">
                    <a16:rowId xmlns:a16="http://schemas.microsoft.com/office/drawing/2014/main" val="4115284513"/>
                  </a:ext>
                </a:extLst>
              </a:tr>
              <a:tr h="370840">
                <a:tc>
                  <a:txBody>
                    <a:bodyPr/>
                    <a:lstStyle/>
                    <a:p>
                      <a:r>
                        <a:rPr lang="de-DE" dirty="0"/>
                        <a:t>2</a:t>
                      </a:r>
                    </a:p>
                  </a:txBody>
                  <a:tcPr/>
                </a:tc>
                <a:tc>
                  <a:txBody>
                    <a:bodyPr/>
                    <a:lstStyle/>
                    <a:p>
                      <a:r>
                        <a:rPr lang="de-DE" dirty="0"/>
                        <a:t>Klaus</a:t>
                      </a:r>
                    </a:p>
                  </a:txBody>
                  <a:tcPr/>
                </a:tc>
                <a:tc>
                  <a:txBody>
                    <a:bodyPr/>
                    <a:lstStyle/>
                    <a:p>
                      <a:r>
                        <a:rPr lang="de-DE" dirty="0"/>
                        <a:t>Schulze</a:t>
                      </a:r>
                    </a:p>
                  </a:txBody>
                  <a:tcPr/>
                </a:tc>
                <a:tc>
                  <a:txBody>
                    <a:bodyPr/>
                    <a:lstStyle/>
                    <a:p>
                      <a:r>
                        <a:rPr lang="de-DE" dirty="0"/>
                        <a:t>177</a:t>
                      </a:r>
                    </a:p>
                  </a:txBody>
                  <a:tcPr/>
                </a:tc>
                <a:extLst>
                  <a:ext uri="{0D108BD9-81ED-4DB2-BD59-A6C34878D82A}">
                    <a16:rowId xmlns:a16="http://schemas.microsoft.com/office/drawing/2014/main" val="2458271538"/>
                  </a:ext>
                </a:extLst>
              </a:tr>
              <a:tr h="370840">
                <a:tc>
                  <a:txBody>
                    <a:bodyPr/>
                    <a:lstStyle/>
                    <a:p>
                      <a:r>
                        <a:rPr lang="de-DE" dirty="0"/>
                        <a:t>3</a:t>
                      </a:r>
                    </a:p>
                  </a:txBody>
                  <a:tcPr/>
                </a:tc>
                <a:tc>
                  <a:txBody>
                    <a:bodyPr/>
                    <a:lstStyle/>
                    <a:p>
                      <a:r>
                        <a:rPr lang="de-DE" dirty="0"/>
                        <a:t>Franco</a:t>
                      </a:r>
                    </a:p>
                  </a:txBody>
                  <a:tcPr/>
                </a:tc>
                <a:tc>
                  <a:txBody>
                    <a:bodyPr/>
                    <a:lstStyle/>
                    <a:p>
                      <a:r>
                        <a:rPr lang="de-DE" dirty="0" err="1"/>
                        <a:t>Borso</a:t>
                      </a:r>
                      <a:endParaRPr lang="de-DE" dirty="0"/>
                    </a:p>
                  </a:txBody>
                  <a:tcPr/>
                </a:tc>
                <a:tc>
                  <a:txBody>
                    <a:bodyPr/>
                    <a:lstStyle/>
                    <a:p>
                      <a:r>
                        <a:rPr lang="de-DE" dirty="0"/>
                        <a:t>186</a:t>
                      </a:r>
                    </a:p>
                  </a:txBody>
                  <a:tcPr/>
                </a:tc>
                <a:extLst>
                  <a:ext uri="{0D108BD9-81ED-4DB2-BD59-A6C34878D82A}">
                    <a16:rowId xmlns:a16="http://schemas.microsoft.com/office/drawing/2014/main" val="686004568"/>
                  </a:ext>
                </a:extLst>
              </a:tr>
              <a:tr h="370840">
                <a:tc>
                  <a:txBody>
                    <a:bodyPr/>
                    <a:lstStyle/>
                    <a:p>
                      <a:r>
                        <a:rPr lang="de-DE" dirty="0"/>
                        <a:t>…</a:t>
                      </a:r>
                    </a:p>
                  </a:txBody>
                  <a:tcPr/>
                </a:tc>
                <a:tc>
                  <a:txBody>
                    <a:bodyPr/>
                    <a:lstStyle/>
                    <a:p>
                      <a:r>
                        <a:rPr lang="de-DE" dirty="0"/>
                        <a:t>…</a:t>
                      </a:r>
                    </a:p>
                  </a:txBody>
                  <a:tcPr/>
                </a:tc>
                <a:tc>
                  <a:txBody>
                    <a:bodyPr/>
                    <a:lstStyle/>
                    <a:p>
                      <a:r>
                        <a:rPr lang="de-DE" dirty="0"/>
                        <a:t>…</a:t>
                      </a:r>
                    </a:p>
                  </a:txBody>
                  <a:tcPr/>
                </a:tc>
                <a:tc>
                  <a:txBody>
                    <a:bodyPr/>
                    <a:lstStyle/>
                    <a:p>
                      <a:r>
                        <a:rPr lang="de-DE" dirty="0"/>
                        <a:t>…</a:t>
                      </a:r>
                    </a:p>
                  </a:txBody>
                  <a:tcPr/>
                </a:tc>
                <a:extLst>
                  <a:ext uri="{0D108BD9-81ED-4DB2-BD59-A6C34878D82A}">
                    <a16:rowId xmlns:a16="http://schemas.microsoft.com/office/drawing/2014/main" val="317432200"/>
                  </a:ext>
                </a:extLst>
              </a:tr>
            </a:tbl>
          </a:graphicData>
        </a:graphic>
      </p:graphicFrame>
      <p:sp>
        <p:nvSpPr>
          <p:cNvPr id="7" name="Textfeld 6">
            <a:extLst>
              <a:ext uri="{FF2B5EF4-FFF2-40B4-BE49-F238E27FC236}">
                <a16:creationId xmlns:a16="http://schemas.microsoft.com/office/drawing/2014/main" id="{705DD96F-981B-F19B-1BFE-45F98DF0B2B8}"/>
              </a:ext>
            </a:extLst>
          </p:cNvPr>
          <p:cNvSpPr txBox="1"/>
          <p:nvPr/>
        </p:nvSpPr>
        <p:spPr>
          <a:xfrm>
            <a:off x="2852257" y="3542779"/>
            <a:ext cx="823687" cy="369332"/>
          </a:xfrm>
          <a:prstGeom prst="rect">
            <a:avLst/>
          </a:prstGeom>
          <a:noFill/>
        </p:spPr>
        <p:txBody>
          <a:bodyPr wrap="none" rtlCol="0">
            <a:spAutoFit/>
          </a:bodyPr>
          <a:lstStyle/>
          <a:p>
            <a:r>
              <a:rPr lang="de-DE" dirty="0"/>
              <a:t>Person</a:t>
            </a:r>
          </a:p>
        </p:txBody>
      </p:sp>
    </p:spTree>
    <p:extLst>
      <p:ext uri="{BB962C8B-B14F-4D97-AF65-F5344CB8AC3E}">
        <p14:creationId xmlns:p14="http://schemas.microsoft.com/office/powerpoint/2010/main" val="145225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Tabelle</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0072" y="1564862"/>
            <a:ext cx="10602234" cy="2308324"/>
          </a:xfrm>
          <a:prstGeom prst="rect">
            <a:avLst/>
          </a:prstGeom>
          <a:noFill/>
        </p:spPr>
        <p:txBody>
          <a:bodyPr wrap="square" rtlCol="0">
            <a:spAutoFit/>
          </a:bodyPr>
          <a:lstStyle/>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In einer Datenbank in der (z.B.) die Datensätze von Personen</a:t>
            </a:r>
            <a:r>
              <a:rPr lang="de-DE" sz="1400" noProof="0" dirty="0">
                <a:solidFill>
                  <a:srgbClr val="0071B2"/>
                </a:solidFill>
                <a:latin typeface="Source Sans Pro" panose="020B0503030403020204" pitchFamily="34" charset="0"/>
              </a:rPr>
              <a:t> </a:t>
            </a:r>
            <a:r>
              <a:rPr lang="de-DE" sz="2400" noProof="0" dirty="0">
                <a:solidFill>
                  <a:srgbClr val="0071B2"/>
                </a:solidFill>
                <a:latin typeface="Source Sans Pro" panose="020B0503030403020204" pitchFamily="34" charset="0"/>
              </a:rPr>
              <a:t>abgespeichert werden, wird es üblicherweise mehrere Personen geben.</a:t>
            </a:r>
            <a:endParaRPr lang="de-DE" sz="1400" noProof="0" dirty="0">
              <a:solidFill>
                <a:srgbClr val="0071B2"/>
              </a:solidFill>
              <a:latin typeface="Source Sans Pro" panose="020B0503030403020204" pitchFamily="34" charset="0"/>
            </a:endParaRPr>
          </a:p>
          <a:p>
            <a:pPr lvl="0"/>
            <a:endParaRPr lang="de-DE" sz="800" noProof="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400" noProof="0" dirty="0">
                <a:solidFill>
                  <a:srgbClr val="0071B2"/>
                </a:solidFill>
                <a:latin typeface="Source Sans Pro" panose="020B0503030403020204" pitchFamily="34" charset="0"/>
              </a:rPr>
              <a:t>Alle Datensätze, die zum selben Entitäts-Typ </a:t>
            </a:r>
            <a:r>
              <a:rPr lang="de-DE" sz="1400" noProof="0" dirty="0">
                <a:solidFill>
                  <a:srgbClr val="0071B2"/>
                </a:solidFill>
                <a:latin typeface="Source Sans Pro" panose="020B0503030403020204" pitchFamily="34" charset="0"/>
              </a:rPr>
              <a:t>(hier: „Person“) </a:t>
            </a:r>
            <a:r>
              <a:rPr lang="de-DE" sz="2400" noProof="0" dirty="0">
                <a:solidFill>
                  <a:srgbClr val="0071B2"/>
                </a:solidFill>
                <a:latin typeface="Source Sans Pro" panose="020B0503030403020204" pitchFamily="34" charset="0"/>
              </a:rPr>
              <a:t>zählen, werden in einer sogenannten Tabelle zusammengefasst:</a:t>
            </a:r>
            <a:endParaRPr lang="de-DE" sz="1400" dirty="0">
              <a:solidFill>
                <a:srgbClr val="0070C0"/>
              </a:solidFill>
              <a:latin typeface="Source Sans Pro" panose="020B0503030403020204" pitchFamily="34" charset="0"/>
            </a:endParaRPr>
          </a:p>
          <a:p>
            <a:pPr lvl="0"/>
            <a:endParaRPr lang="de-DE" sz="800" noProof="0" dirty="0">
              <a:solidFill>
                <a:srgbClr val="0071B2"/>
              </a:solidFill>
              <a:latin typeface="Source Sans Pro" panose="020B0503030403020204" pitchFamily="34" charset="0"/>
            </a:endParaRPr>
          </a:p>
          <a:p>
            <a:pPr lvl="0"/>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graphicFrame>
        <p:nvGraphicFramePr>
          <p:cNvPr id="3" name="Tabelle 2">
            <a:extLst>
              <a:ext uri="{FF2B5EF4-FFF2-40B4-BE49-F238E27FC236}">
                <a16:creationId xmlns:a16="http://schemas.microsoft.com/office/drawing/2014/main" id="{04C62FBE-09CB-4969-07E6-B21512829EBE}"/>
              </a:ext>
            </a:extLst>
          </p:cNvPr>
          <p:cNvGraphicFramePr>
            <a:graphicFrameLocks noGrp="1"/>
          </p:cNvGraphicFramePr>
          <p:nvPr>
            <p:extLst>
              <p:ext uri="{D42A27DB-BD31-4B8C-83A1-F6EECF244321}">
                <p14:modId xmlns:p14="http://schemas.microsoft.com/office/powerpoint/2010/main" val="1717182264"/>
              </p:ext>
            </p:extLst>
          </p:nvPr>
        </p:nvGraphicFramePr>
        <p:xfrm>
          <a:off x="2929622" y="3899568"/>
          <a:ext cx="5581397" cy="1849120"/>
        </p:xfrm>
        <a:graphic>
          <a:graphicData uri="http://schemas.openxmlformats.org/drawingml/2006/table">
            <a:tbl>
              <a:tblPr firstRow="1" bandRow="1">
                <a:tableStyleId>{5C22544A-7EE6-4342-B048-85BDC9FD1C3A}</a:tableStyleId>
              </a:tblPr>
              <a:tblGrid>
                <a:gridCol w="1200341">
                  <a:extLst>
                    <a:ext uri="{9D8B030D-6E8A-4147-A177-3AD203B41FA5}">
                      <a16:colId xmlns:a16="http://schemas.microsoft.com/office/drawing/2014/main" val="1656277607"/>
                    </a:ext>
                  </a:extLst>
                </a:gridCol>
                <a:gridCol w="1097788">
                  <a:extLst>
                    <a:ext uri="{9D8B030D-6E8A-4147-A177-3AD203B41FA5}">
                      <a16:colId xmlns:a16="http://schemas.microsoft.com/office/drawing/2014/main" val="1314574840"/>
                    </a:ext>
                  </a:extLst>
                </a:gridCol>
                <a:gridCol w="1251268">
                  <a:extLst>
                    <a:ext uri="{9D8B030D-6E8A-4147-A177-3AD203B41FA5}">
                      <a16:colId xmlns:a16="http://schemas.microsoft.com/office/drawing/2014/main" val="219898022"/>
                    </a:ext>
                  </a:extLst>
                </a:gridCol>
                <a:gridCol w="2032000">
                  <a:extLst>
                    <a:ext uri="{9D8B030D-6E8A-4147-A177-3AD203B41FA5}">
                      <a16:colId xmlns:a16="http://schemas.microsoft.com/office/drawing/2014/main" val="2842040068"/>
                    </a:ext>
                  </a:extLst>
                </a:gridCol>
              </a:tblGrid>
              <a:tr h="0">
                <a:tc>
                  <a:txBody>
                    <a:bodyPr/>
                    <a:lstStyle/>
                    <a:p>
                      <a:r>
                        <a:rPr lang="de-DE" dirty="0" err="1"/>
                        <a:t>Person_ID</a:t>
                      </a:r>
                      <a:endParaRPr lang="de-DE" dirty="0"/>
                    </a:p>
                  </a:txBody>
                  <a:tcPr/>
                </a:tc>
                <a:tc>
                  <a:txBody>
                    <a:bodyPr/>
                    <a:lstStyle/>
                    <a:p>
                      <a:r>
                        <a:rPr lang="de-DE" dirty="0"/>
                        <a:t>Vorname</a:t>
                      </a:r>
                    </a:p>
                  </a:txBody>
                  <a:tcPr/>
                </a:tc>
                <a:tc>
                  <a:txBody>
                    <a:bodyPr/>
                    <a:lstStyle/>
                    <a:p>
                      <a:r>
                        <a:rPr lang="de-DE" dirty="0"/>
                        <a:t>Nachname</a:t>
                      </a:r>
                    </a:p>
                  </a:txBody>
                  <a:tcPr/>
                </a:tc>
                <a:tc>
                  <a:txBody>
                    <a:bodyPr/>
                    <a:lstStyle/>
                    <a:p>
                      <a:r>
                        <a:rPr lang="de-DE" dirty="0"/>
                        <a:t>Körpergröße in cm</a:t>
                      </a:r>
                    </a:p>
                  </a:txBody>
                  <a:tcPr/>
                </a:tc>
                <a:extLst>
                  <a:ext uri="{0D108BD9-81ED-4DB2-BD59-A6C34878D82A}">
                    <a16:rowId xmlns:a16="http://schemas.microsoft.com/office/drawing/2014/main" val="917080720"/>
                  </a:ext>
                </a:extLst>
              </a:tr>
              <a:tr h="370840">
                <a:tc>
                  <a:txBody>
                    <a:bodyPr/>
                    <a:lstStyle/>
                    <a:p>
                      <a:r>
                        <a:rPr lang="de-DE" dirty="0"/>
                        <a:t>1</a:t>
                      </a:r>
                    </a:p>
                  </a:txBody>
                  <a:tcPr/>
                </a:tc>
                <a:tc>
                  <a:txBody>
                    <a:bodyPr/>
                    <a:lstStyle/>
                    <a:p>
                      <a:r>
                        <a:rPr lang="de-DE" dirty="0"/>
                        <a:t>Petra</a:t>
                      </a:r>
                    </a:p>
                  </a:txBody>
                  <a:tcPr/>
                </a:tc>
                <a:tc>
                  <a:txBody>
                    <a:bodyPr/>
                    <a:lstStyle/>
                    <a:p>
                      <a:r>
                        <a:rPr lang="de-DE" dirty="0"/>
                        <a:t>Müller</a:t>
                      </a:r>
                    </a:p>
                  </a:txBody>
                  <a:tcPr/>
                </a:tc>
                <a:tc>
                  <a:txBody>
                    <a:bodyPr/>
                    <a:lstStyle/>
                    <a:p>
                      <a:r>
                        <a:rPr lang="de-DE" dirty="0"/>
                        <a:t>175</a:t>
                      </a:r>
                    </a:p>
                  </a:txBody>
                  <a:tcPr/>
                </a:tc>
                <a:extLst>
                  <a:ext uri="{0D108BD9-81ED-4DB2-BD59-A6C34878D82A}">
                    <a16:rowId xmlns:a16="http://schemas.microsoft.com/office/drawing/2014/main" val="4115284513"/>
                  </a:ext>
                </a:extLst>
              </a:tr>
              <a:tr h="370840">
                <a:tc>
                  <a:txBody>
                    <a:bodyPr/>
                    <a:lstStyle/>
                    <a:p>
                      <a:r>
                        <a:rPr lang="de-DE" dirty="0"/>
                        <a:t>2</a:t>
                      </a:r>
                    </a:p>
                  </a:txBody>
                  <a:tcPr/>
                </a:tc>
                <a:tc>
                  <a:txBody>
                    <a:bodyPr/>
                    <a:lstStyle/>
                    <a:p>
                      <a:r>
                        <a:rPr lang="de-DE" dirty="0"/>
                        <a:t>Klaus</a:t>
                      </a:r>
                    </a:p>
                  </a:txBody>
                  <a:tcPr/>
                </a:tc>
                <a:tc>
                  <a:txBody>
                    <a:bodyPr/>
                    <a:lstStyle/>
                    <a:p>
                      <a:r>
                        <a:rPr lang="de-DE" dirty="0"/>
                        <a:t>Schulze</a:t>
                      </a:r>
                    </a:p>
                  </a:txBody>
                  <a:tcPr/>
                </a:tc>
                <a:tc>
                  <a:txBody>
                    <a:bodyPr/>
                    <a:lstStyle/>
                    <a:p>
                      <a:r>
                        <a:rPr lang="de-DE" dirty="0"/>
                        <a:t>177</a:t>
                      </a:r>
                    </a:p>
                  </a:txBody>
                  <a:tcPr/>
                </a:tc>
                <a:extLst>
                  <a:ext uri="{0D108BD9-81ED-4DB2-BD59-A6C34878D82A}">
                    <a16:rowId xmlns:a16="http://schemas.microsoft.com/office/drawing/2014/main" val="2458271538"/>
                  </a:ext>
                </a:extLst>
              </a:tr>
              <a:tr h="370840">
                <a:tc>
                  <a:txBody>
                    <a:bodyPr/>
                    <a:lstStyle/>
                    <a:p>
                      <a:r>
                        <a:rPr lang="de-DE" dirty="0"/>
                        <a:t>3</a:t>
                      </a:r>
                    </a:p>
                  </a:txBody>
                  <a:tcPr/>
                </a:tc>
                <a:tc>
                  <a:txBody>
                    <a:bodyPr/>
                    <a:lstStyle/>
                    <a:p>
                      <a:r>
                        <a:rPr lang="de-DE" dirty="0"/>
                        <a:t>Franco</a:t>
                      </a:r>
                    </a:p>
                  </a:txBody>
                  <a:tcPr/>
                </a:tc>
                <a:tc>
                  <a:txBody>
                    <a:bodyPr/>
                    <a:lstStyle/>
                    <a:p>
                      <a:r>
                        <a:rPr lang="de-DE" dirty="0" err="1"/>
                        <a:t>Borso</a:t>
                      </a:r>
                      <a:endParaRPr lang="de-DE" dirty="0"/>
                    </a:p>
                  </a:txBody>
                  <a:tcPr/>
                </a:tc>
                <a:tc>
                  <a:txBody>
                    <a:bodyPr/>
                    <a:lstStyle/>
                    <a:p>
                      <a:r>
                        <a:rPr lang="de-DE" dirty="0"/>
                        <a:t>186</a:t>
                      </a:r>
                    </a:p>
                  </a:txBody>
                  <a:tcPr/>
                </a:tc>
                <a:extLst>
                  <a:ext uri="{0D108BD9-81ED-4DB2-BD59-A6C34878D82A}">
                    <a16:rowId xmlns:a16="http://schemas.microsoft.com/office/drawing/2014/main" val="686004568"/>
                  </a:ext>
                </a:extLst>
              </a:tr>
              <a:tr h="370840">
                <a:tc>
                  <a:txBody>
                    <a:bodyPr/>
                    <a:lstStyle/>
                    <a:p>
                      <a:r>
                        <a:rPr lang="de-DE" dirty="0"/>
                        <a:t>…</a:t>
                      </a:r>
                    </a:p>
                  </a:txBody>
                  <a:tcPr/>
                </a:tc>
                <a:tc>
                  <a:txBody>
                    <a:bodyPr/>
                    <a:lstStyle/>
                    <a:p>
                      <a:r>
                        <a:rPr lang="de-DE" dirty="0"/>
                        <a:t>…</a:t>
                      </a:r>
                    </a:p>
                  </a:txBody>
                  <a:tcPr/>
                </a:tc>
                <a:tc>
                  <a:txBody>
                    <a:bodyPr/>
                    <a:lstStyle/>
                    <a:p>
                      <a:r>
                        <a:rPr lang="de-DE" dirty="0"/>
                        <a:t>…</a:t>
                      </a:r>
                    </a:p>
                  </a:txBody>
                  <a:tcPr/>
                </a:tc>
                <a:tc>
                  <a:txBody>
                    <a:bodyPr/>
                    <a:lstStyle/>
                    <a:p>
                      <a:r>
                        <a:rPr lang="de-DE" dirty="0"/>
                        <a:t>…</a:t>
                      </a:r>
                    </a:p>
                  </a:txBody>
                  <a:tcPr/>
                </a:tc>
                <a:extLst>
                  <a:ext uri="{0D108BD9-81ED-4DB2-BD59-A6C34878D82A}">
                    <a16:rowId xmlns:a16="http://schemas.microsoft.com/office/drawing/2014/main" val="1350741838"/>
                  </a:ext>
                </a:extLst>
              </a:tr>
            </a:tbl>
          </a:graphicData>
        </a:graphic>
      </p:graphicFrame>
      <p:sp>
        <p:nvSpPr>
          <p:cNvPr id="7" name="Textfeld 6">
            <a:extLst>
              <a:ext uri="{FF2B5EF4-FFF2-40B4-BE49-F238E27FC236}">
                <a16:creationId xmlns:a16="http://schemas.microsoft.com/office/drawing/2014/main" id="{705DD96F-981B-F19B-1BFE-45F98DF0B2B8}"/>
              </a:ext>
            </a:extLst>
          </p:cNvPr>
          <p:cNvSpPr txBox="1"/>
          <p:nvPr/>
        </p:nvSpPr>
        <p:spPr>
          <a:xfrm>
            <a:off x="2852257" y="3542779"/>
            <a:ext cx="823687" cy="369332"/>
          </a:xfrm>
          <a:prstGeom prst="rect">
            <a:avLst/>
          </a:prstGeom>
          <a:noFill/>
        </p:spPr>
        <p:txBody>
          <a:bodyPr wrap="none" rtlCol="0">
            <a:spAutoFit/>
          </a:bodyPr>
          <a:lstStyle/>
          <a:p>
            <a:r>
              <a:rPr lang="de-DE" dirty="0"/>
              <a:t>Person</a:t>
            </a:r>
          </a:p>
        </p:txBody>
      </p:sp>
      <p:sp>
        <p:nvSpPr>
          <p:cNvPr id="8" name="Textfeld 7">
            <a:extLst>
              <a:ext uri="{FF2B5EF4-FFF2-40B4-BE49-F238E27FC236}">
                <a16:creationId xmlns:a16="http://schemas.microsoft.com/office/drawing/2014/main" id="{AADC4784-9D50-6C73-A015-322C9BD8FB91}"/>
              </a:ext>
            </a:extLst>
          </p:cNvPr>
          <p:cNvSpPr txBox="1"/>
          <p:nvPr/>
        </p:nvSpPr>
        <p:spPr>
          <a:xfrm>
            <a:off x="8511019" y="3173447"/>
            <a:ext cx="2575064" cy="369332"/>
          </a:xfrm>
          <a:prstGeom prst="rect">
            <a:avLst/>
          </a:prstGeom>
          <a:noFill/>
        </p:spPr>
        <p:txBody>
          <a:bodyPr wrap="none" rtlCol="0">
            <a:spAutoFit/>
          </a:bodyPr>
          <a:lstStyle/>
          <a:p>
            <a:r>
              <a:rPr lang="de-DE" dirty="0">
                <a:solidFill>
                  <a:srgbClr val="0070C0"/>
                </a:solidFill>
              </a:rPr>
              <a:t>Die</a:t>
            </a:r>
            <a:r>
              <a:rPr lang="de-DE" dirty="0">
                <a:solidFill>
                  <a:srgbClr val="FF0000"/>
                </a:solidFill>
              </a:rPr>
              <a:t> </a:t>
            </a:r>
            <a:r>
              <a:rPr lang="de-DE" b="1" dirty="0">
                <a:solidFill>
                  <a:srgbClr val="FF0000"/>
                </a:solidFill>
              </a:rPr>
              <a:t>Attribute</a:t>
            </a:r>
            <a:r>
              <a:rPr lang="de-DE" dirty="0">
                <a:solidFill>
                  <a:srgbClr val="FF0000"/>
                </a:solidFill>
              </a:rPr>
              <a:t> </a:t>
            </a:r>
            <a:r>
              <a:rPr lang="de-DE" dirty="0">
                <a:solidFill>
                  <a:srgbClr val="0070C0"/>
                </a:solidFill>
              </a:rPr>
              <a:t>der Tabelle</a:t>
            </a:r>
          </a:p>
        </p:txBody>
      </p:sp>
      <p:cxnSp>
        <p:nvCxnSpPr>
          <p:cNvPr id="10" name="Gerade Verbindung mit Pfeil 9">
            <a:extLst>
              <a:ext uri="{FF2B5EF4-FFF2-40B4-BE49-F238E27FC236}">
                <a16:creationId xmlns:a16="http://schemas.microsoft.com/office/drawing/2014/main" id="{11BB15BE-1BD0-D42C-F30C-22CF012666B7}"/>
              </a:ext>
            </a:extLst>
          </p:cNvPr>
          <p:cNvCxnSpPr>
            <a:cxnSpLocks/>
          </p:cNvCxnSpPr>
          <p:nvPr/>
        </p:nvCxnSpPr>
        <p:spPr>
          <a:xfrm flipH="1">
            <a:off x="3765176" y="3542779"/>
            <a:ext cx="5187631" cy="39571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Gerade Verbindung mit Pfeil 12">
            <a:extLst>
              <a:ext uri="{FF2B5EF4-FFF2-40B4-BE49-F238E27FC236}">
                <a16:creationId xmlns:a16="http://schemas.microsoft.com/office/drawing/2014/main" id="{ED5B27D9-19AD-253B-BEEA-82F10E237AF3}"/>
              </a:ext>
            </a:extLst>
          </p:cNvPr>
          <p:cNvCxnSpPr>
            <a:cxnSpLocks/>
          </p:cNvCxnSpPr>
          <p:nvPr/>
        </p:nvCxnSpPr>
        <p:spPr>
          <a:xfrm flipH="1">
            <a:off x="4796118" y="3536508"/>
            <a:ext cx="4192307" cy="40198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4586FD62-B7A0-CDAE-3E49-7BBAFCC97DB6}"/>
              </a:ext>
            </a:extLst>
          </p:cNvPr>
          <p:cNvCxnSpPr>
            <a:cxnSpLocks/>
          </p:cNvCxnSpPr>
          <p:nvPr/>
        </p:nvCxnSpPr>
        <p:spPr>
          <a:xfrm flipH="1">
            <a:off x="5952565" y="3549050"/>
            <a:ext cx="3035860" cy="38944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664E6B74-3465-5654-1795-FD0E6440CF25}"/>
              </a:ext>
            </a:extLst>
          </p:cNvPr>
          <p:cNvCxnSpPr>
            <a:cxnSpLocks/>
          </p:cNvCxnSpPr>
          <p:nvPr/>
        </p:nvCxnSpPr>
        <p:spPr>
          <a:xfrm flipH="1">
            <a:off x="7450814" y="3549050"/>
            <a:ext cx="1537611" cy="3929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3737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Tabelle</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0072" y="1564862"/>
            <a:ext cx="10602234" cy="2308324"/>
          </a:xfrm>
          <a:prstGeom prst="rect">
            <a:avLst/>
          </a:prstGeom>
          <a:noFill/>
        </p:spPr>
        <p:txBody>
          <a:bodyPr wrap="square" rtlCol="0">
            <a:spAutoFit/>
          </a:bodyPr>
          <a:lstStyle/>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In einer Datenbank in der (z.B.) die Datensätze von Personen</a:t>
            </a:r>
            <a:r>
              <a:rPr lang="de-DE" sz="1400" noProof="0" dirty="0">
                <a:solidFill>
                  <a:srgbClr val="0071B2"/>
                </a:solidFill>
                <a:latin typeface="Source Sans Pro" panose="020B0503030403020204" pitchFamily="34" charset="0"/>
              </a:rPr>
              <a:t> </a:t>
            </a:r>
            <a:r>
              <a:rPr lang="de-DE" sz="2400" noProof="0" dirty="0">
                <a:solidFill>
                  <a:srgbClr val="0071B2"/>
                </a:solidFill>
                <a:latin typeface="Source Sans Pro" panose="020B0503030403020204" pitchFamily="34" charset="0"/>
              </a:rPr>
              <a:t>abgespeichert werden, wird es üblicherweise mehrere Personen geben.</a:t>
            </a:r>
            <a:endParaRPr lang="de-DE" sz="1400" noProof="0" dirty="0">
              <a:solidFill>
                <a:srgbClr val="0071B2"/>
              </a:solidFill>
              <a:latin typeface="Source Sans Pro" panose="020B0503030403020204" pitchFamily="34" charset="0"/>
            </a:endParaRPr>
          </a:p>
          <a:p>
            <a:pPr lvl="0"/>
            <a:endParaRPr lang="de-DE" sz="800" noProof="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400" noProof="0" dirty="0">
                <a:solidFill>
                  <a:srgbClr val="0071B2"/>
                </a:solidFill>
                <a:latin typeface="Source Sans Pro" panose="020B0503030403020204" pitchFamily="34" charset="0"/>
              </a:rPr>
              <a:t>Alle Datensätze, die zum selben Entitäts-Typ </a:t>
            </a:r>
            <a:r>
              <a:rPr lang="de-DE" sz="1400" noProof="0" dirty="0">
                <a:solidFill>
                  <a:srgbClr val="0071B2"/>
                </a:solidFill>
                <a:latin typeface="Source Sans Pro" panose="020B0503030403020204" pitchFamily="34" charset="0"/>
              </a:rPr>
              <a:t>(hier: „Person“) </a:t>
            </a:r>
            <a:r>
              <a:rPr lang="de-DE" sz="2400" noProof="0" dirty="0">
                <a:solidFill>
                  <a:srgbClr val="0071B2"/>
                </a:solidFill>
                <a:latin typeface="Source Sans Pro" panose="020B0503030403020204" pitchFamily="34" charset="0"/>
              </a:rPr>
              <a:t>zählen, werden in einer sogenannten Tabelle zusammengefasst:</a:t>
            </a:r>
            <a:endParaRPr lang="de-DE" sz="1400" dirty="0">
              <a:solidFill>
                <a:srgbClr val="0070C0"/>
              </a:solidFill>
              <a:latin typeface="Source Sans Pro" panose="020B0503030403020204" pitchFamily="34" charset="0"/>
            </a:endParaRPr>
          </a:p>
          <a:p>
            <a:pPr lvl="0"/>
            <a:endParaRPr lang="de-DE" sz="800" noProof="0" dirty="0">
              <a:solidFill>
                <a:srgbClr val="0071B2"/>
              </a:solidFill>
              <a:latin typeface="Source Sans Pro" panose="020B0503030403020204" pitchFamily="34" charset="0"/>
            </a:endParaRPr>
          </a:p>
          <a:p>
            <a:pPr lvl="0"/>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graphicFrame>
        <p:nvGraphicFramePr>
          <p:cNvPr id="3" name="Tabelle 2">
            <a:extLst>
              <a:ext uri="{FF2B5EF4-FFF2-40B4-BE49-F238E27FC236}">
                <a16:creationId xmlns:a16="http://schemas.microsoft.com/office/drawing/2014/main" id="{04C62FBE-09CB-4969-07E6-B21512829EBE}"/>
              </a:ext>
            </a:extLst>
          </p:cNvPr>
          <p:cNvGraphicFramePr>
            <a:graphicFrameLocks noGrp="1"/>
          </p:cNvGraphicFramePr>
          <p:nvPr>
            <p:extLst>
              <p:ext uri="{D42A27DB-BD31-4B8C-83A1-F6EECF244321}">
                <p14:modId xmlns:p14="http://schemas.microsoft.com/office/powerpoint/2010/main" val="3046746044"/>
              </p:ext>
            </p:extLst>
          </p:nvPr>
        </p:nvGraphicFramePr>
        <p:xfrm>
          <a:off x="2929622" y="3899568"/>
          <a:ext cx="5581397" cy="1849120"/>
        </p:xfrm>
        <a:graphic>
          <a:graphicData uri="http://schemas.openxmlformats.org/drawingml/2006/table">
            <a:tbl>
              <a:tblPr firstRow="1" bandRow="1">
                <a:tableStyleId>{5C22544A-7EE6-4342-B048-85BDC9FD1C3A}</a:tableStyleId>
              </a:tblPr>
              <a:tblGrid>
                <a:gridCol w="1200341">
                  <a:extLst>
                    <a:ext uri="{9D8B030D-6E8A-4147-A177-3AD203B41FA5}">
                      <a16:colId xmlns:a16="http://schemas.microsoft.com/office/drawing/2014/main" val="1656277607"/>
                    </a:ext>
                  </a:extLst>
                </a:gridCol>
                <a:gridCol w="1097788">
                  <a:extLst>
                    <a:ext uri="{9D8B030D-6E8A-4147-A177-3AD203B41FA5}">
                      <a16:colId xmlns:a16="http://schemas.microsoft.com/office/drawing/2014/main" val="1314574840"/>
                    </a:ext>
                  </a:extLst>
                </a:gridCol>
                <a:gridCol w="1251268">
                  <a:extLst>
                    <a:ext uri="{9D8B030D-6E8A-4147-A177-3AD203B41FA5}">
                      <a16:colId xmlns:a16="http://schemas.microsoft.com/office/drawing/2014/main" val="219898022"/>
                    </a:ext>
                  </a:extLst>
                </a:gridCol>
                <a:gridCol w="2032000">
                  <a:extLst>
                    <a:ext uri="{9D8B030D-6E8A-4147-A177-3AD203B41FA5}">
                      <a16:colId xmlns:a16="http://schemas.microsoft.com/office/drawing/2014/main" val="2842040068"/>
                    </a:ext>
                  </a:extLst>
                </a:gridCol>
              </a:tblGrid>
              <a:tr h="0">
                <a:tc>
                  <a:txBody>
                    <a:bodyPr/>
                    <a:lstStyle/>
                    <a:p>
                      <a:r>
                        <a:rPr lang="de-DE" dirty="0" err="1"/>
                        <a:t>Person_ID</a:t>
                      </a:r>
                      <a:endParaRPr lang="de-DE" dirty="0"/>
                    </a:p>
                  </a:txBody>
                  <a:tcPr/>
                </a:tc>
                <a:tc>
                  <a:txBody>
                    <a:bodyPr/>
                    <a:lstStyle/>
                    <a:p>
                      <a:r>
                        <a:rPr lang="de-DE" dirty="0"/>
                        <a:t>Vorname</a:t>
                      </a:r>
                    </a:p>
                  </a:txBody>
                  <a:tcPr/>
                </a:tc>
                <a:tc>
                  <a:txBody>
                    <a:bodyPr/>
                    <a:lstStyle/>
                    <a:p>
                      <a:r>
                        <a:rPr lang="de-DE" dirty="0"/>
                        <a:t>Nachname</a:t>
                      </a:r>
                    </a:p>
                  </a:txBody>
                  <a:tcPr/>
                </a:tc>
                <a:tc>
                  <a:txBody>
                    <a:bodyPr/>
                    <a:lstStyle/>
                    <a:p>
                      <a:r>
                        <a:rPr lang="de-DE" dirty="0"/>
                        <a:t>Körpergröße in cm</a:t>
                      </a:r>
                    </a:p>
                  </a:txBody>
                  <a:tcPr/>
                </a:tc>
                <a:extLst>
                  <a:ext uri="{0D108BD9-81ED-4DB2-BD59-A6C34878D82A}">
                    <a16:rowId xmlns:a16="http://schemas.microsoft.com/office/drawing/2014/main" val="917080720"/>
                  </a:ext>
                </a:extLst>
              </a:tr>
              <a:tr h="370840">
                <a:tc>
                  <a:txBody>
                    <a:bodyPr/>
                    <a:lstStyle/>
                    <a:p>
                      <a:r>
                        <a:rPr lang="de-DE" dirty="0"/>
                        <a:t>1</a:t>
                      </a:r>
                    </a:p>
                  </a:txBody>
                  <a:tcPr/>
                </a:tc>
                <a:tc>
                  <a:txBody>
                    <a:bodyPr/>
                    <a:lstStyle/>
                    <a:p>
                      <a:r>
                        <a:rPr lang="de-DE" dirty="0"/>
                        <a:t>Petra</a:t>
                      </a:r>
                    </a:p>
                  </a:txBody>
                  <a:tcPr/>
                </a:tc>
                <a:tc>
                  <a:txBody>
                    <a:bodyPr/>
                    <a:lstStyle/>
                    <a:p>
                      <a:r>
                        <a:rPr lang="de-DE" dirty="0"/>
                        <a:t>Müller</a:t>
                      </a:r>
                    </a:p>
                  </a:txBody>
                  <a:tcPr/>
                </a:tc>
                <a:tc>
                  <a:txBody>
                    <a:bodyPr/>
                    <a:lstStyle/>
                    <a:p>
                      <a:r>
                        <a:rPr lang="de-DE" dirty="0"/>
                        <a:t>175</a:t>
                      </a:r>
                    </a:p>
                  </a:txBody>
                  <a:tcPr/>
                </a:tc>
                <a:extLst>
                  <a:ext uri="{0D108BD9-81ED-4DB2-BD59-A6C34878D82A}">
                    <a16:rowId xmlns:a16="http://schemas.microsoft.com/office/drawing/2014/main" val="4115284513"/>
                  </a:ext>
                </a:extLst>
              </a:tr>
              <a:tr h="370840">
                <a:tc>
                  <a:txBody>
                    <a:bodyPr/>
                    <a:lstStyle/>
                    <a:p>
                      <a:r>
                        <a:rPr lang="de-DE" dirty="0"/>
                        <a:t>2</a:t>
                      </a:r>
                    </a:p>
                  </a:txBody>
                  <a:tcPr/>
                </a:tc>
                <a:tc>
                  <a:txBody>
                    <a:bodyPr/>
                    <a:lstStyle/>
                    <a:p>
                      <a:r>
                        <a:rPr lang="de-DE" dirty="0"/>
                        <a:t>Klaus</a:t>
                      </a:r>
                    </a:p>
                  </a:txBody>
                  <a:tcPr/>
                </a:tc>
                <a:tc>
                  <a:txBody>
                    <a:bodyPr/>
                    <a:lstStyle/>
                    <a:p>
                      <a:r>
                        <a:rPr lang="de-DE" dirty="0"/>
                        <a:t>Schulze</a:t>
                      </a:r>
                    </a:p>
                  </a:txBody>
                  <a:tcPr/>
                </a:tc>
                <a:tc>
                  <a:txBody>
                    <a:bodyPr/>
                    <a:lstStyle/>
                    <a:p>
                      <a:r>
                        <a:rPr lang="de-DE" dirty="0"/>
                        <a:t>177</a:t>
                      </a:r>
                    </a:p>
                  </a:txBody>
                  <a:tcPr/>
                </a:tc>
                <a:extLst>
                  <a:ext uri="{0D108BD9-81ED-4DB2-BD59-A6C34878D82A}">
                    <a16:rowId xmlns:a16="http://schemas.microsoft.com/office/drawing/2014/main" val="2458271538"/>
                  </a:ext>
                </a:extLst>
              </a:tr>
              <a:tr h="370840">
                <a:tc>
                  <a:txBody>
                    <a:bodyPr/>
                    <a:lstStyle/>
                    <a:p>
                      <a:r>
                        <a:rPr lang="de-DE" dirty="0"/>
                        <a:t>3</a:t>
                      </a:r>
                    </a:p>
                  </a:txBody>
                  <a:tcPr/>
                </a:tc>
                <a:tc>
                  <a:txBody>
                    <a:bodyPr/>
                    <a:lstStyle/>
                    <a:p>
                      <a:r>
                        <a:rPr lang="de-DE" dirty="0"/>
                        <a:t>Franco</a:t>
                      </a:r>
                    </a:p>
                  </a:txBody>
                  <a:tcPr/>
                </a:tc>
                <a:tc>
                  <a:txBody>
                    <a:bodyPr/>
                    <a:lstStyle/>
                    <a:p>
                      <a:r>
                        <a:rPr lang="de-DE" dirty="0" err="1"/>
                        <a:t>Borso</a:t>
                      </a:r>
                      <a:endParaRPr lang="de-DE" dirty="0"/>
                    </a:p>
                  </a:txBody>
                  <a:tcPr/>
                </a:tc>
                <a:tc>
                  <a:txBody>
                    <a:bodyPr/>
                    <a:lstStyle/>
                    <a:p>
                      <a:r>
                        <a:rPr lang="de-DE" dirty="0"/>
                        <a:t>186</a:t>
                      </a:r>
                    </a:p>
                  </a:txBody>
                  <a:tcPr/>
                </a:tc>
                <a:extLst>
                  <a:ext uri="{0D108BD9-81ED-4DB2-BD59-A6C34878D82A}">
                    <a16:rowId xmlns:a16="http://schemas.microsoft.com/office/drawing/2014/main" val="686004568"/>
                  </a:ext>
                </a:extLst>
              </a:tr>
              <a:tr h="370840">
                <a:tc>
                  <a:txBody>
                    <a:bodyPr/>
                    <a:lstStyle/>
                    <a:p>
                      <a:r>
                        <a:rPr lang="de-DE" dirty="0"/>
                        <a:t>…</a:t>
                      </a:r>
                    </a:p>
                  </a:txBody>
                  <a:tcPr/>
                </a:tc>
                <a:tc>
                  <a:txBody>
                    <a:bodyPr/>
                    <a:lstStyle/>
                    <a:p>
                      <a:r>
                        <a:rPr lang="de-DE" dirty="0"/>
                        <a:t>…</a:t>
                      </a:r>
                    </a:p>
                  </a:txBody>
                  <a:tcPr/>
                </a:tc>
                <a:tc>
                  <a:txBody>
                    <a:bodyPr/>
                    <a:lstStyle/>
                    <a:p>
                      <a:r>
                        <a:rPr lang="de-DE" dirty="0"/>
                        <a:t>…</a:t>
                      </a:r>
                    </a:p>
                  </a:txBody>
                  <a:tcPr/>
                </a:tc>
                <a:tc>
                  <a:txBody>
                    <a:bodyPr/>
                    <a:lstStyle/>
                    <a:p>
                      <a:r>
                        <a:rPr lang="de-DE" dirty="0"/>
                        <a:t>…</a:t>
                      </a:r>
                    </a:p>
                  </a:txBody>
                  <a:tcPr/>
                </a:tc>
                <a:extLst>
                  <a:ext uri="{0D108BD9-81ED-4DB2-BD59-A6C34878D82A}">
                    <a16:rowId xmlns:a16="http://schemas.microsoft.com/office/drawing/2014/main" val="4021693445"/>
                  </a:ext>
                </a:extLst>
              </a:tr>
            </a:tbl>
          </a:graphicData>
        </a:graphic>
      </p:graphicFrame>
      <p:sp>
        <p:nvSpPr>
          <p:cNvPr id="7" name="Textfeld 6">
            <a:extLst>
              <a:ext uri="{FF2B5EF4-FFF2-40B4-BE49-F238E27FC236}">
                <a16:creationId xmlns:a16="http://schemas.microsoft.com/office/drawing/2014/main" id="{705DD96F-981B-F19B-1BFE-45F98DF0B2B8}"/>
              </a:ext>
            </a:extLst>
          </p:cNvPr>
          <p:cNvSpPr txBox="1"/>
          <p:nvPr/>
        </p:nvSpPr>
        <p:spPr>
          <a:xfrm>
            <a:off x="2852257" y="3542779"/>
            <a:ext cx="823687" cy="369332"/>
          </a:xfrm>
          <a:prstGeom prst="rect">
            <a:avLst/>
          </a:prstGeom>
          <a:noFill/>
        </p:spPr>
        <p:txBody>
          <a:bodyPr wrap="none" rtlCol="0">
            <a:spAutoFit/>
          </a:bodyPr>
          <a:lstStyle/>
          <a:p>
            <a:r>
              <a:rPr lang="de-DE" dirty="0"/>
              <a:t>Person</a:t>
            </a:r>
          </a:p>
        </p:txBody>
      </p:sp>
      <p:sp>
        <p:nvSpPr>
          <p:cNvPr id="8" name="Textfeld 7">
            <a:extLst>
              <a:ext uri="{FF2B5EF4-FFF2-40B4-BE49-F238E27FC236}">
                <a16:creationId xmlns:a16="http://schemas.microsoft.com/office/drawing/2014/main" id="{AADC4784-9D50-6C73-A015-322C9BD8FB91}"/>
              </a:ext>
            </a:extLst>
          </p:cNvPr>
          <p:cNvSpPr txBox="1"/>
          <p:nvPr/>
        </p:nvSpPr>
        <p:spPr>
          <a:xfrm>
            <a:off x="8597242" y="4285129"/>
            <a:ext cx="2994922" cy="369332"/>
          </a:xfrm>
          <a:prstGeom prst="rect">
            <a:avLst/>
          </a:prstGeom>
          <a:noFill/>
        </p:spPr>
        <p:txBody>
          <a:bodyPr wrap="none" rtlCol="0">
            <a:spAutoFit/>
          </a:bodyPr>
          <a:lstStyle/>
          <a:p>
            <a:r>
              <a:rPr lang="de-DE" b="1" dirty="0">
                <a:solidFill>
                  <a:srgbClr val="FF0000"/>
                </a:solidFill>
              </a:rPr>
              <a:t>Datensatz</a:t>
            </a:r>
            <a:r>
              <a:rPr lang="de-DE" dirty="0">
                <a:solidFill>
                  <a:srgbClr val="FF0000"/>
                </a:solidFill>
              </a:rPr>
              <a:t> </a:t>
            </a:r>
            <a:r>
              <a:rPr lang="de-DE" dirty="0">
                <a:solidFill>
                  <a:srgbClr val="0070C0"/>
                </a:solidFill>
              </a:rPr>
              <a:t>von Person mit ID </a:t>
            </a:r>
            <a:r>
              <a:rPr lang="de-DE" b="1" dirty="0">
                <a:solidFill>
                  <a:srgbClr val="0070C0"/>
                </a:solidFill>
              </a:rPr>
              <a:t>1</a:t>
            </a:r>
          </a:p>
        </p:txBody>
      </p:sp>
      <p:sp>
        <p:nvSpPr>
          <p:cNvPr id="2" name="Rechteck 1">
            <a:extLst>
              <a:ext uri="{FF2B5EF4-FFF2-40B4-BE49-F238E27FC236}">
                <a16:creationId xmlns:a16="http://schemas.microsoft.com/office/drawing/2014/main" id="{67947A5B-2C47-BC88-E7AC-4DFF82847660}"/>
              </a:ext>
            </a:extLst>
          </p:cNvPr>
          <p:cNvSpPr/>
          <p:nvPr/>
        </p:nvSpPr>
        <p:spPr>
          <a:xfrm>
            <a:off x="2929622" y="4285129"/>
            <a:ext cx="5581397" cy="369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Textfeld 8">
            <a:extLst>
              <a:ext uri="{FF2B5EF4-FFF2-40B4-BE49-F238E27FC236}">
                <a16:creationId xmlns:a16="http://schemas.microsoft.com/office/drawing/2014/main" id="{EBC350E3-261C-5FD0-7CB0-704E786F58ED}"/>
              </a:ext>
            </a:extLst>
          </p:cNvPr>
          <p:cNvSpPr txBox="1"/>
          <p:nvPr/>
        </p:nvSpPr>
        <p:spPr>
          <a:xfrm>
            <a:off x="8597242" y="4646822"/>
            <a:ext cx="2994922" cy="369332"/>
          </a:xfrm>
          <a:prstGeom prst="rect">
            <a:avLst/>
          </a:prstGeom>
          <a:noFill/>
        </p:spPr>
        <p:txBody>
          <a:bodyPr wrap="none" rtlCol="0">
            <a:spAutoFit/>
          </a:bodyPr>
          <a:lstStyle/>
          <a:p>
            <a:r>
              <a:rPr lang="de-DE" b="1" dirty="0">
                <a:solidFill>
                  <a:srgbClr val="FF0000"/>
                </a:solidFill>
              </a:rPr>
              <a:t>Datensatz</a:t>
            </a:r>
            <a:r>
              <a:rPr lang="de-DE" dirty="0">
                <a:solidFill>
                  <a:srgbClr val="FF0000"/>
                </a:solidFill>
              </a:rPr>
              <a:t> </a:t>
            </a:r>
            <a:r>
              <a:rPr lang="de-DE" dirty="0">
                <a:solidFill>
                  <a:srgbClr val="0070C0"/>
                </a:solidFill>
              </a:rPr>
              <a:t>von Person mit ID </a:t>
            </a:r>
            <a:r>
              <a:rPr lang="de-DE" b="1" dirty="0">
                <a:solidFill>
                  <a:srgbClr val="0070C0"/>
                </a:solidFill>
              </a:rPr>
              <a:t>2</a:t>
            </a:r>
          </a:p>
        </p:txBody>
      </p:sp>
      <p:sp>
        <p:nvSpPr>
          <p:cNvPr id="14" name="Rechteck 13">
            <a:extLst>
              <a:ext uri="{FF2B5EF4-FFF2-40B4-BE49-F238E27FC236}">
                <a16:creationId xmlns:a16="http://schemas.microsoft.com/office/drawing/2014/main" id="{C5DDE48E-A2A3-FFEE-0486-D514DA5FBABF}"/>
              </a:ext>
            </a:extLst>
          </p:cNvPr>
          <p:cNvSpPr/>
          <p:nvPr/>
        </p:nvSpPr>
        <p:spPr>
          <a:xfrm>
            <a:off x="2929622" y="4646822"/>
            <a:ext cx="5581397" cy="369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320AB1D3-7B45-60CA-3FC9-DCF235EB0A86}"/>
              </a:ext>
            </a:extLst>
          </p:cNvPr>
          <p:cNvSpPr txBox="1"/>
          <p:nvPr/>
        </p:nvSpPr>
        <p:spPr>
          <a:xfrm>
            <a:off x="8597242" y="5023191"/>
            <a:ext cx="2994922" cy="369332"/>
          </a:xfrm>
          <a:prstGeom prst="rect">
            <a:avLst/>
          </a:prstGeom>
          <a:noFill/>
        </p:spPr>
        <p:txBody>
          <a:bodyPr wrap="none" rtlCol="0">
            <a:spAutoFit/>
          </a:bodyPr>
          <a:lstStyle/>
          <a:p>
            <a:r>
              <a:rPr lang="de-DE" b="1" dirty="0">
                <a:solidFill>
                  <a:srgbClr val="FF0000"/>
                </a:solidFill>
              </a:rPr>
              <a:t>Datensatz</a:t>
            </a:r>
            <a:r>
              <a:rPr lang="de-DE" dirty="0">
                <a:solidFill>
                  <a:srgbClr val="FF0000"/>
                </a:solidFill>
              </a:rPr>
              <a:t> </a:t>
            </a:r>
            <a:r>
              <a:rPr lang="de-DE" dirty="0">
                <a:solidFill>
                  <a:srgbClr val="0070C0"/>
                </a:solidFill>
              </a:rPr>
              <a:t>von Person mit ID </a:t>
            </a:r>
            <a:r>
              <a:rPr lang="de-DE" b="1" dirty="0">
                <a:solidFill>
                  <a:srgbClr val="0070C0"/>
                </a:solidFill>
              </a:rPr>
              <a:t>3</a:t>
            </a:r>
          </a:p>
        </p:txBody>
      </p:sp>
      <p:sp>
        <p:nvSpPr>
          <p:cNvPr id="17" name="Rechteck 16">
            <a:extLst>
              <a:ext uri="{FF2B5EF4-FFF2-40B4-BE49-F238E27FC236}">
                <a16:creationId xmlns:a16="http://schemas.microsoft.com/office/drawing/2014/main" id="{1B69258C-A93C-60F5-00B6-D9C307A25139}"/>
              </a:ext>
            </a:extLst>
          </p:cNvPr>
          <p:cNvSpPr/>
          <p:nvPr/>
        </p:nvSpPr>
        <p:spPr>
          <a:xfrm>
            <a:off x="2929622" y="5023191"/>
            <a:ext cx="5581397" cy="3693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634094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Tabelle </a:t>
            </a:r>
            <a:r>
              <a:rPr lang="de-DE" sz="2400" b="0" dirty="0">
                <a:latin typeface="Source Sans Pro" panose="020B0503030403020204" pitchFamily="34" charset="0"/>
              </a:rPr>
              <a:t>(leer)</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25248" y="1152063"/>
            <a:ext cx="10828551" cy="3016210"/>
          </a:xfrm>
          <a:prstGeom prst="rect">
            <a:avLst/>
          </a:prstGeom>
          <a:noFill/>
        </p:spPr>
        <p:txBody>
          <a:bodyPr wrap="square" rtlCol="0">
            <a:spAutoFit/>
          </a:bodyPr>
          <a:lstStyle/>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In einem Datenbankmodell </a:t>
            </a:r>
            <a:r>
              <a:rPr lang="de-DE" sz="1400" noProof="0" dirty="0">
                <a:solidFill>
                  <a:srgbClr val="0071B2"/>
                </a:solidFill>
                <a:latin typeface="Source Sans Pro" panose="020B0503030403020204" pitchFamily="34" charset="0"/>
              </a:rPr>
              <a:t>(bzw. im zugehörigen Datenbankdiagramm) </a:t>
            </a:r>
            <a:r>
              <a:rPr lang="de-DE" sz="2400" noProof="0" dirty="0">
                <a:solidFill>
                  <a:srgbClr val="0071B2"/>
                </a:solidFill>
                <a:latin typeface="Source Sans Pro" panose="020B0503030403020204" pitchFamily="34" charset="0"/>
              </a:rPr>
              <a:t>werden wir </a:t>
            </a:r>
            <a:r>
              <a:rPr lang="de-DE" sz="2400" b="1" noProof="0" dirty="0">
                <a:solidFill>
                  <a:srgbClr val="0071B2"/>
                </a:solidFill>
                <a:latin typeface="Source Sans Pro" panose="020B0503030403020204" pitchFamily="34" charset="0"/>
              </a:rPr>
              <a:t>zu allen </a:t>
            </a:r>
            <a:r>
              <a:rPr lang="de-DE" sz="2400" noProof="0" dirty="0">
                <a:solidFill>
                  <a:srgbClr val="0071B2"/>
                </a:solidFill>
                <a:latin typeface="Source Sans Pro" panose="020B0503030403020204" pitchFamily="34" charset="0"/>
              </a:rPr>
              <a:t>vom Auftraggeber </a:t>
            </a:r>
            <a:r>
              <a:rPr lang="de-DE" sz="2400" b="1" noProof="0" dirty="0">
                <a:solidFill>
                  <a:srgbClr val="0071B2"/>
                </a:solidFill>
                <a:latin typeface="Source Sans Pro" panose="020B0503030403020204" pitchFamily="34" charset="0"/>
              </a:rPr>
              <a:t>gewünschten Entitätstypen </a:t>
            </a:r>
            <a:r>
              <a:rPr lang="de-DE" sz="2400" noProof="0" dirty="0">
                <a:solidFill>
                  <a:srgbClr val="0071B2"/>
                </a:solidFill>
                <a:latin typeface="Source Sans Pro" panose="020B0503030403020204" pitchFamily="34" charset="0"/>
              </a:rPr>
              <a:t>eine Tabelle anlegen müssen.</a:t>
            </a:r>
            <a:endParaRPr lang="de-DE" sz="1400" noProof="0" dirty="0">
              <a:solidFill>
                <a:srgbClr val="0071B2"/>
              </a:solidFill>
              <a:latin typeface="Source Sans Pro" panose="020B0503030403020204" pitchFamily="34" charset="0"/>
            </a:endParaRPr>
          </a:p>
          <a:p>
            <a:pPr lvl="0"/>
            <a:endParaRPr lang="de-DE" sz="800" noProof="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400" noProof="0" dirty="0">
                <a:solidFill>
                  <a:srgbClr val="0071B2"/>
                </a:solidFill>
                <a:latin typeface="Source Sans Pro" panose="020B0503030403020204" pitchFamily="34" charset="0"/>
              </a:rPr>
              <a:t>Diese Tabellen werden wir aber </a:t>
            </a:r>
            <a:r>
              <a:rPr lang="de-DE" sz="2400" b="1" noProof="0" dirty="0">
                <a:solidFill>
                  <a:srgbClr val="0071B2"/>
                </a:solidFill>
                <a:latin typeface="Source Sans Pro" panose="020B0503030403020204" pitchFamily="34" charset="0"/>
              </a:rPr>
              <a:t>leer</a:t>
            </a:r>
            <a:r>
              <a:rPr lang="de-DE" sz="2400" noProof="0" dirty="0">
                <a:solidFill>
                  <a:srgbClr val="0071B2"/>
                </a:solidFill>
                <a:latin typeface="Source Sans Pro" panose="020B0503030403020204" pitchFamily="34" charset="0"/>
              </a:rPr>
              <a:t> lassen und also keine Datensätze eintragen, da diese zum Zeitpunkt der Modellierung oft auch noch unbekannt sind.</a:t>
            </a:r>
            <a:endParaRPr lang="de-DE" sz="800" noProof="0" dirty="0">
              <a:solidFill>
                <a:srgbClr val="0071B2"/>
              </a:solidFill>
              <a:latin typeface="Source Sans Pro" panose="020B0503030403020204" pitchFamily="34" charset="0"/>
            </a:endParaRPr>
          </a:p>
          <a:p>
            <a:r>
              <a:rPr lang="de-DE" sz="1400" dirty="0">
                <a:solidFill>
                  <a:srgbClr val="0071B2"/>
                </a:solidFill>
                <a:latin typeface="Source Sans Pro" panose="020B0503030403020204" pitchFamily="34" charset="0"/>
              </a:rPr>
              <a:t>          (Das erinnert an den Bauplan eines Architekten, in dem zwar alle Räume  nicht aber Möbel oder gar Mieter eingezeichnet werden)</a:t>
            </a:r>
          </a:p>
          <a:p>
            <a:endParaRPr lang="de-DE" sz="80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400" dirty="0">
                <a:solidFill>
                  <a:srgbClr val="0071B2"/>
                </a:solidFill>
                <a:latin typeface="Source Sans Pro" panose="020B0503030403020204" pitchFamily="34" charset="0"/>
              </a:rPr>
              <a:t>Um Platz zu sparen, werden die </a:t>
            </a:r>
            <a:r>
              <a:rPr lang="de-DE" sz="2400" b="1" dirty="0">
                <a:solidFill>
                  <a:srgbClr val="0071B2"/>
                </a:solidFill>
                <a:latin typeface="Source Sans Pro" panose="020B0503030403020204" pitchFamily="34" charset="0"/>
              </a:rPr>
              <a:t>Attribute übereinander </a:t>
            </a:r>
            <a:r>
              <a:rPr lang="de-DE" sz="2400" dirty="0">
                <a:solidFill>
                  <a:srgbClr val="0071B2"/>
                </a:solidFill>
                <a:latin typeface="Source Sans Pro" panose="020B0503030403020204" pitchFamily="34" charset="0"/>
              </a:rPr>
              <a:t>notiert:</a:t>
            </a:r>
            <a:endParaRPr lang="de-DE" sz="1400" dirty="0">
              <a:solidFill>
                <a:srgbClr val="0070C0"/>
              </a:solidFill>
              <a:latin typeface="Source Sans Pro" panose="020B0503030403020204" pitchFamily="34" charset="0"/>
            </a:endParaRPr>
          </a:p>
          <a:p>
            <a:pPr lvl="0"/>
            <a:endParaRPr lang="de-DE" sz="800" noProof="0" dirty="0">
              <a:solidFill>
                <a:srgbClr val="0071B2"/>
              </a:solidFill>
              <a:latin typeface="Source Sans Pro" panose="020B0503030403020204" pitchFamily="34" charset="0"/>
            </a:endParaRPr>
          </a:p>
          <a:p>
            <a:pPr lvl="0"/>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graphicFrame>
        <p:nvGraphicFramePr>
          <p:cNvPr id="10" name="Tabelle 9">
            <a:extLst>
              <a:ext uri="{FF2B5EF4-FFF2-40B4-BE49-F238E27FC236}">
                <a16:creationId xmlns:a16="http://schemas.microsoft.com/office/drawing/2014/main" id="{8BF05987-C656-8772-5A2B-E00CD8CC2DED}"/>
              </a:ext>
            </a:extLst>
          </p:cNvPr>
          <p:cNvGraphicFramePr>
            <a:graphicFrameLocks noGrp="1"/>
          </p:cNvGraphicFramePr>
          <p:nvPr>
            <p:extLst>
              <p:ext uri="{D42A27DB-BD31-4B8C-83A1-F6EECF244321}">
                <p14:modId xmlns:p14="http://schemas.microsoft.com/office/powerpoint/2010/main" val="3950956281"/>
              </p:ext>
            </p:extLst>
          </p:nvPr>
        </p:nvGraphicFramePr>
        <p:xfrm>
          <a:off x="4946072" y="4731800"/>
          <a:ext cx="1463957" cy="1737360"/>
        </p:xfrm>
        <a:graphic>
          <a:graphicData uri="http://schemas.openxmlformats.org/drawingml/2006/table">
            <a:tbl>
              <a:tblPr firstRow="1" bandRow="1">
                <a:tableStyleId>{5C22544A-7EE6-4342-B048-85BDC9FD1C3A}</a:tableStyleId>
              </a:tblPr>
              <a:tblGrid>
                <a:gridCol w="1463957">
                  <a:extLst>
                    <a:ext uri="{9D8B030D-6E8A-4147-A177-3AD203B41FA5}">
                      <a16:colId xmlns:a16="http://schemas.microsoft.com/office/drawing/2014/main" val="4014580829"/>
                    </a:ext>
                  </a:extLst>
                </a:gridCol>
              </a:tblGrid>
              <a:tr h="295367">
                <a:tc>
                  <a:txBody>
                    <a:bodyPr/>
                    <a:lstStyle/>
                    <a:p>
                      <a:r>
                        <a:rPr lang="de-DE" dirty="0" err="1"/>
                        <a:t>Person_ID</a:t>
                      </a:r>
                      <a:endParaRPr lang="de-DE" dirty="0"/>
                    </a:p>
                  </a:txBody>
                  <a:tcPr/>
                </a:tc>
                <a:extLst>
                  <a:ext uri="{0D108BD9-81ED-4DB2-BD59-A6C34878D82A}">
                    <a16:rowId xmlns:a16="http://schemas.microsoft.com/office/drawing/2014/main" val="4235911520"/>
                  </a:ext>
                </a:extLst>
              </a:tr>
              <a:tr h="295367">
                <a:tc>
                  <a:txBody>
                    <a:bodyPr/>
                    <a:lstStyle/>
                    <a:p>
                      <a:r>
                        <a:rPr lang="de-DE" dirty="0"/>
                        <a:t>Vorname</a:t>
                      </a:r>
                    </a:p>
                  </a:txBody>
                  <a:tcPr/>
                </a:tc>
                <a:extLst>
                  <a:ext uri="{0D108BD9-81ED-4DB2-BD59-A6C34878D82A}">
                    <a16:rowId xmlns:a16="http://schemas.microsoft.com/office/drawing/2014/main" val="1684581590"/>
                  </a:ext>
                </a:extLst>
              </a:tr>
              <a:tr h="295367">
                <a:tc>
                  <a:txBody>
                    <a:bodyPr/>
                    <a:lstStyle/>
                    <a:p>
                      <a:r>
                        <a:rPr lang="de-DE" dirty="0"/>
                        <a:t>Nachname</a:t>
                      </a:r>
                    </a:p>
                  </a:txBody>
                  <a:tcPr/>
                </a:tc>
                <a:extLst>
                  <a:ext uri="{0D108BD9-81ED-4DB2-BD59-A6C34878D82A}">
                    <a16:rowId xmlns:a16="http://schemas.microsoft.com/office/drawing/2014/main" val="528400265"/>
                  </a:ext>
                </a:extLst>
              </a:tr>
              <a:tr h="516892">
                <a:tc>
                  <a:txBody>
                    <a:bodyPr/>
                    <a:lstStyle/>
                    <a:p>
                      <a:r>
                        <a:rPr lang="de-DE" dirty="0"/>
                        <a:t>Körpergröße in cm</a:t>
                      </a:r>
                    </a:p>
                  </a:txBody>
                  <a:tcPr/>
                </a:tc>
                <a:extLst>
                  <a:ext uri="{0D108BD9-81ED-4DB2-BD59-A6C34878D82A}">
                    <a16:rowId xmlns:a16="http://schemas.microsoft.com/office/drawing/2014/main" val="3316462644"/>
                  </a:ext>
                </a:extLst>
              </a:tr>
            </a:tbl>
          </a:graphicData>
        </a:graphic>
      </p:graphicFrame>
      <p:sp>
        <p:nvSpPr>
          <p:cNvPr id="13" name="Textfeld 12">
            <a:extLst>
              <a:ext uri="{FF2B5EF4-FFF2-40B4-BE49-F238E27FC236}">
                <a16:creationId xmlns:a16="http://schemas.microsoft.com/office/drawing/2014/main" id="{94606974-B493-EF4D-6373-98AE4DFC96D1}"/>
              </a:ext>
            </a:extLst>
          </p:cNvPr>
          <p:cNvSpPr txBox="1"/>
          <p:nvPr/>
        </p:nvSpPr>
        <p:spPr>
          <a:xfrm>
            <a:off x="5266206" y="4294819"/>
            <a:ext cx="823687" cy="369332"/>
          </a:xfrm>
          <a:prstGeom prst="rect">
            <a:avLst/>
          </a:prstGeom>
          <a:noFill/>
        </p:spPr>
        <p:txBody>
          <a:bodyPr wrap="none" rtlCol="0">
            <a:spAutoFit/>
          </a:bodyPr>
          <a:lstStyle/>
          <a:p>
            <a:r>
              <a:rPr lang="de-DE" dirty="0"/>
              <a:t>Person</a:t>
            </a:r>
          </a:p>
        </p:txBody>
      </p:sp>
    </p:spTree>
    <p:extLst>
      <p:ext uri="{BB962C8B-B14F-4D97-AF65-F5344CB8AC3E}">
        <p14:creationId xmlns:p14="http://schemas.microsoft.com/office/powerpoint/2010/main" val="2711904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Beziehung</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25248" y="1152063"/>
            <a:ext cx="10828551" cy="2769989"/>
          </a:xfrm>
          <a:prstGeom prst="rect">
            <a:avLst/>
          </a:prstGeom>
          <a:noFill/>
        </p:spPr>
        <p:txBody>
          <a:bodyPr wrap="square" rtlCol="0">
            <a:spAutoFit/>
          </a:bodyPr>
          <a:lstStyle/>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In einem Datenbankmodell können verschiedene Tabellen </a:t>
            </a:r>
            <a:r>
              <a:rPr lang="de-DE" sz="1400" noProof="0" dirty="0">
                <a:solidFill>
                  <a:srgbClr val="0071B2"/>
                </a:solidFill>
                <a:latin typeface="Source Sans Pro" panose="020B0503030403020204" pitchFamily="34" charset="0"/>
              </a:rPr>
              <a:t>(bzw. deren Entitäten) </a:t>
            </a:r>
            <a:r>
              <a:rPr lang="de-DE" sz="2400" noProof="0" dirty="0">
                <a:solidFill>
                  <a:srgbClr val="0071B2"/>
                </a:solidFill>
                <a:latin typeface="Source Sans Pro" panose="020B0503030403020204" pitchFamily="34" charset="0"/>
              </a:rPr>
              <a:t>in einer </a:t>
            </a:r>
            <a:r>
              <a:rPr lang="de-DE" sz="2400" b="1" noProof="0" dirty="0">
                <a:solidFill>
                  <a:srgbClr val="0071B2"/>
                </a:solidFill>
                <a:latin typeface="Source Sans Pro" panose="020B0503030403020204" pitchFamily="34" charset="0"/>
              </a:rPr>
              <a:t>Beziehung</a:t>
            </a:r>
            <a:r>
              <a:rPr lang="de-DE" sz="2400" noProof="0" dirty="0">
                <a:solidFill>
                  <a:srgbClr val="0071B2"/>
                </a:solidFill>
                <a:latin typeface="Source Sans Pro" panose="020B0503030403020204" pitchFamily="34" charset="0"/>
              </a:rPr>
              <a:t> zueinander stehen.</a:t>
            </a:r>
            <a:endParaRPr lang="de-DE" sz="1400" noProof="0" dirty="0">
              <a:solidFill>
                <a:srgbClr val="0071B2"/>
              </a:solidFill>
              <a:latin typeface="Source Sans Pro" panose="020B0503030403020204" pitchFamily="34" charset="0"/>
            </a:endParaRPr>
          </a:p>
          <a:p>
            <a:pPr lvl="0"/>
            <a:endParaRPr lang="de-DE" sz="800" noProof="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400" noProof="0" dirty="0">
                <a:solidFill>
                  <a:srgbClr val="0071B2"/>
                </a:solidFill>
                <a:latin typeface="Source Sans Pro" panose="020B0503030403020204" pitchFamily="34" charset="0"/>
              </a:rPr>
              <a:t>So kann z.B. vom Auftraggeber bei den Tabellen </a:t>
            </a:r>
            <a:r>
              <a:rPr lang="de-DE" sz="2400" i="1" noProof="0" dirty="0">
                <a:solidFill>
                  <a:srgbClr val="0071B2"/>
                </a:solidFill>
                <a:latin typeface="Source Sans Pro" panose="020B0503030403020204" pitchFamily="34" charset="0"/>
              </a:rPr>
              <a:t>Person</a:t>
            </a:r>
            <a:r>
              <a:rPr lang="de-DE" sz="2400" noProof="0" dirty="0">
                <a:solidFill>
                  <a:srgbClr val="0071B2"/>
                </a:solidFill>
                <a:latin typeface="Source Sans Pro" panose="020B0503030403020204" pitchFamily="34" charset="0"/>
              </a:rPr>
              <a:t> und </a:t>
            </a:r>
            <a:r>
              <a:rPr lang="de-DE" sz="2400" i="1" noProof="0" dirty="0">
                <a:solidFill>
                  <a:srgbClr val="0071B2"/>
                </a:solidFill>
                <a:latin typeface="Source Sans Pro" panose="020B0503030403020204" pitchFamily="34" charset="0"/>
              </a:rPr>
              <a:t>Auto</a:t>
            </a:r>
            <a:r>
              <a:rPr lang="de-DE" sz="2400" noProof="0" dirty="0">
                <a:solidFill>
                  <a:srgbClr val="0071B2"/>
                </a:solidFill>
                <a:latin typeface="Source Sans Pro" panose="020B0503030403020204" pitchFamily="34" charset="0"/>
              </a:rPr>
              <a:t> die Einrichtung der Beziehung „Person X“ </a:t>
            </a:r>
            <a:r>
              <a:rPr lang="de-DE" sz="2400" b="1" noProof="0" dirty="0">
                <a:solidFill>
                  <a:srgbClr val="0071B2"/>
                </a:solidFill>
                <a:latin typeface="Source Sans Pro" panose="020B0503030403020204" pitchFamily="34" charset="0"/>
              </a:rPr>
              <a:t>ist Eigentümer von</a:t>
            </a:r>
            <a:r>
              <a:rPr lang="de-DE" sz="2400" noProof="0" dirty="0">
                <a:solidFill>
                  <a:srgbClr val="0071B2"/>
                </a:solidFill>
                <a:latin typeface="Source Sans Pro" panose="020B0503030403020204" pitchFamily="34" charset="0"/>
              </a:rPr>
              <a:t> „Auto Y“ verlangt werden.</a:t>
            </a:r>
            <a:endParaRPr lang="de-DE" sz="1400" dirty="0">
              <a:solidFill>
                <a:srgbClr val="0071B2"/>
              </a:solidFill>
              <a:latin typeface="Source Sans Pro" panose="020B0503030403020204" pitchFamily="34" charset="0"/>
            </a:endParaRPr>
          </a:p>
          <a:p>
            <a:endParaRPr lang="de-DE" sz="80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400" dirty="0">
                <a:solidFill>
                  <a:srgbClr val="0071B2"/>
                </a:solidFill>
                <a:latin typeface="Source Sans Pro" panose="020B0503030403020204" pitchFamily="34" charset="0"/>
              </a:rPr>
              <a:t>Eine solche Beziehung kann mit Hilfe einer Verbindungslinie dargestellt werden:</a:t>
            </a:r>
            <a:endParaRPr lang="de-DE" sz="800" noProof="0" dirty="0">
              <a:solidFill>
                <a:srgbClr val="0071B2"/>
              </a:solidFill>
              <a:latin typeface="Source Sans Pro" panose="020B0503030403020204" pitchFamily="34" charset="0"/>
            </a:endParaRPr>
          </a:p>
          <a:p>
            <a:pPr lvl="0"/>
            <a:r>
              <a:rPr lang="de-DE" sz="1400" dirty="0">
                <a:solidFill>
                  <a:srgbClr val="0071B2"/>
                </a:solidFill>
                <a:latin typeface="Source Sans Pro" panose="020B0503030403020204" pitchFamily="34" charset="0"/>
              </a:rPr>
              <a:t>          (zusammen mit einem erläuternden Text an der Verbindungslinie)</a:t>
            </a:r>
            <a:endPar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graphicFrame>
        <p:nvGraphicFramePr>
          <p:cNvPr id="10" name="Tabelle 9">
            <a:extLst>
              <a:ext uri="{FF2B5EF4-FFF2-40B4-BE49-F238E27FC236}">
                <a16:creationId xmlns:a16="http://schemas.microsoft.com/office/drawing/2014/main" id="{8BF05987-C656-8772-5A2B-E00CD8CC2DED}"/>
              </a:ext>
            </a:extLst>
          </p:cNvPr>
          <p:cNvGraphicFramePr>
            <a:graphicFrameLocks noGrp="1"/>
          </p:cNvGraphicFramePr>
          <p:nvPr>
            <p:extLst>
              <p:ext uri="{D42A27DB-BD31-4B8C-83A1-F6EECF244321}">
                <p14:modId xmlns:p14="http://schemas.microsoft.com/office/powerpoint/2010/main" val="3078625174"/>
              </p:ext>
            </p:extLst>
          </p:nvPr>
        </p:nvGraphicFramePr>
        <p:xfrm>
          <a:off x="2054647" y="4788827"/>
          <a:ext cx="1957896" cy="1483360"/>
        </p:xfrm>
        <a:graphic>
          <a:graphicData uri="http://schemas.openxmlformats.org/drawingml/2006/table">
            <a:tbl>
              <a:tblPr firstRow="1" bandRow="1">
                <a:tableStyleId>{5C22544A-7EE6-4342-B048-85BDC9FD1C3A}</a:tableStyleId>
              </a:tblPr>
              <a:tblGrid>
                <a:gridCol w="1957896">
                  <a:extLst>
                    <a:ext uri="{9D8B030D-6E8A-4147-A177-3AD203B41FA5}">
                      <a16:colId xmlns:a16="http://schemas.microsoft.com/office/drawing/2014/main" val="4014580829"/>
                    </a:ext>
                  </a:extLst>
                </a:gridCol>
              </a:tblGrid>
              <a:tr h="370840">
                <a:tc>
                  <a:txBody>
                    <a:bodyPr/>
                    <a:lstStyle/>
                    <a:p>
                      <a:r>
                        <a:rPr lang="de-DE" dirty="0" err="1"/>
                        <a:t>Person_ID</a:t>
                      </a:r>
                      <a:endParaRPr lang="de-DE" dirty="0"/>
                    </a:p>
                  </a:txBody>
                  <a:tcPr/>
                </a:tc>
                <a:extLst>
                  <a:ext uri="{0D108BD9-81ED-4DB2-BD59-A6C34878D82A}">
                    <a16:rowId xmlns:a16="http://schemas.microsoft.com/office/drawing/2014/main" val="4235911520"/>
                  </a:ext>
                </a:extLst>
              </a:tr>
              <a:tr h="370840">
                <a:tc>
                  <a:txBody>
                    <a:bodyPr/>
                    <a:lstStyle/>
                    <a:p>
                      <a:r>
                        <a:rPr lang="de-DE" dirty="0"/>
                        <a:t>Vorname</a:t>
                      </a:r>
                    </a:p>
                  </a:txBody>
                  <a:tcPr/>
                </a:tc>
                <a:extLst>
                  <a:ext uri="{0D108BD9-81ED-4DB2-BD59-A6C34878D82A}">
                    <a16:rowId xmlns:a16="http://schemas.microsoft.com/office/drawing/2014/main" val="1684581590"/>
                  </a:ext>
                </a:extLst>
              </a:tr>
              <a:tr h="370840">
                <a:tc>
                  <a:txBody>
                    <a:bodyPr/>
                    <a:lstStyle/>
                    <a:p>
                      <a:r>
                        <a:rPr lang="de-DE" dirty="0"/>
                        <a:t>Nachname</a:t>
                      </a:r>
                    </a:p>
                  </a:txBody>
                  <a:tcPr/>
                </a:tc>
                <a:extLst>
                  <a:ext uri="{0D108BD9-81ED-4DB2-BD59-A6C34878D82A}">
                    <a16:rowId xmlns:a16="http://schemas.microsoft.com/office/drawing/2014/main" val="528400265"/>
                  </a:ext>
                </a:extLst>
              </a:tr>
              <a:tr h="370840">
                <a:tc>
                  <a:txBody>
                    <a:bodyPr/>
                    <a:lstStyle/>
                    <a:p>
                      <a:r>
                        <a:rPr lang="de-DE" dirty="0"/>
                        <a:t>Körpergröße in cm</a:t>
                      </a:r>
                    </a:p>
                  </a:txBody>
                  <a:tcPr/>
                </a:tc>
                <a:extLst>
                  <a:ext uri="{0D108BD9-81ED-4DB2-BD59-A6C34878D82A}">
                    <a16:rowId xmlns:a16="http://schemas.microsoft.com/office/drawing/2014/main" val="3316462644"/>
                  </a:ext>
                </a:extLst>
              </a:tr>
            </a:tbl>
          </a:graphicData>
        </a:graphic>
      </p:graphicFrame>
      <p:sp>
        <p:nvSpPr>
          <p:cNvPr id="13" name="Textfeld 12">
            <a:extLst>
              <a:ext uri="{FF2B5EF4-FFF2-40B4-BE49-F238E27FC236}">
                <a16:creationId xmlns:a16="http://schemas.microsoft.com/office/drawing/2014/main" id="{94606974-B493-EF4D-6373-98AE4DFC96D1}"/>
              </a:ext>
            </a:extLst>
          </p:cNvPr>
          <p:cNvSpPr txBox="1"/>
          <p:nvPr/>
        </p:nvSpPr>
        <p:spPr>
          <a:xfrm>
            <a:off x="2434330" y="4406189"/>
            <a:ext cx="823687" cy="369332"/>
          </a:xfrm>
          <a:prstGeom prst="rect">
            <a:avLst/>
          </a:prstGeom>
          <a:noFill/>
        </p:spPr>
        <p:txBody>
          <a:bodyPr wrap="none" rtlCol="0">
            <a:spAutoFit/>
          </a:bodyPr>
          <a:lstStyle/>
          <a:p>
            <a:r>
              <a:rPr lang="de-DE" dirty="0"/>
              <a:t>Person</a:t>
            </a:r>
          </a:p>
        </p:txBody>
      </p:sp>
      <p:graphicFrame>
        <p:nvGraphicFramePr>
          <p:cNvPr id="2" name="Tabelle 1">
            <a:extLst>
              <a:ext uri="{FF2B5EF4-FFF2-40B4-BE49-F238E27FC236}">
                <a16:creationId xmlns:a16="http://schemas.microsoft.com/office/drawing/2014/main" id="{D4FB0ABE-49A7-7F85-B639-001DB99459B6}"/>
              </a:ext>
            </a:extLst>
          </p:cNvPr>
          <p:cNvGraphicFramePr>
            <a:graphicFrameLocks noGrp="1"/>
          </p:cNvGraphicFramePr>
          <p:nvPr>
            <p:extLst>
              <p:ext uri="{D42A27DB-BD31-4B8C-83A1-F6EECF244321}">
                <p14:modId xmlns:p14="http://schemas.microsoft.com/office/powerpoint/2010/main" val="2318873069"/>
              </p:ext>
            </p:extLst>
          </p:nvPr>
        </p:nvGraphicFramePr>
        <p:xfrm>
          <a:off x="6714609" y="4841712"/>
          <a:ext cx="1957896" cy="1112520"/>
        </p:xfrm>
        <a:graphic>
          <a:graphicData uri="http://schemas.openxmlformats.org/drawingml/2006/table">
            <a:tbl>
              <a:tblPr firstRow="1" bandRow="1">
                <a:tableStyleId>{5C22544A-7EE6-4342-B048-85BDC9FD1C3A}</a:tableStyleId>
              </a:tblPr>
              <a:tblGrid>
                <a:gridCol w="1957896">
                  <a:extLst>
                    <a:ext uri="{9D8B030D-6E8A-4147-A177-3AD203B41FA5}">
                      <a16:colId xmlns:a16="http://schemas.microsoft.com/office/drawing/2014/main" val="4014580829"/>
                    </a:ext>
                  </a:extLst>
                </a:gridCol>
              </a:tblGrid>
              <a:tr h="370840">
                <a:tc>
                  <a:txBody>
                    <a:bodyPr/>
                    <a:lstStyle/>
                    <a:p>
                      <a:r>
                        <a:rPr lang="de-DE" dirty="0" err="1"/>
                        <a:t>Auto_ID</a:t>
                      </a:r>
                      <a:endParaRPr lang="de-DE" dirty="0"/>
                    </a:p>
                  </a:txBody>
                  <a:tcPr/>
                </a:tc>
                <a:extLst>
                  <a:ext uri="{0D108BD9-81ED-4DB2-BD59-A6C34878D82A}">
                    <a16:rowId xmlns:a16="http://schemas.microsoft.com/office/drawing/2014/main" val="4235911520"/>
                  </a:ext>
                </a:extLst>
              </a:tr>
              <a:tr h="370840">
                <a:tc>
                  <a:txBody>
                    <a:bodyPr/>
                    <a:lstStyle/>
                    <a:p>
                      <a:r>
                        <a:rPr lang="de-DE" dirty="0"/>
                        <a:t>Marke</a:t>
                      </a:r>
                    </a:p>
                  </a:txBody>
                  <a:tcPr/>
                </a:tc>
                <a:extLst>
                  <a:ext uri="{0D108BD9-81ED-4DB2-BD59-A6C34878D82A}">
                    <a16:rowId xmlns:a16="http://schemas.microsoft.com/office/drawing/2014/main" val="1684581590"/>
                  </a:ext>
                </a:extLst>
              </a:tr>
              <a:tr h="370840">
                <a:tc>
                  <a:txBody>
                    <a:bodyPr/>
                    <a:lstStyle/>
                    <a:p>
                      <a:r>
                        <a:rPr lang="de-DE" dirty="0"/>
                        <a:t>Baujahr</a:t>
                      </a:r>
                    </a:p>
                  </a:txBody>
                  <a:tcPr/>
                </a:tc>
                <a:extLst>
                  <a:ext uri="{0D108BD9-81ED-4DB2-BD59-A6C34878D82A}">
                    <a16:rowId xmlns:a16="http://schemas.microsoft.com/office/drawing/2014/main" val="528400265"/>
                  </a:ext>
                </a:extLst>
              </a:tr>
            </a:tbl>
          </a:graphicData>
        </a:graphic>
      </p:graphicFrame>
      <p:sp>
        <p:nvSpPr>
          <p:cNvPr id="3" name="Textfeld 2">
            <a:extLst>
              <a:ext uri="{FF2B5EF4-FFF2-40B4-BE49-F238E27FC236}">
                <a16:creationId xmlns:a16="http://schemas.microsoft.com/office/drawing/2014/main" id="{EB6A628F-DB0F-C125-5452-E2B5B33B16DC}"/>
              </a:ext>
            </a:extLst>
          </p:cNvPr>
          <p:cNvSpPr txBox="1"/>
          <p:nvPr/>
        </p:nvSpPr>
        <p:spPr>
          <a:xfrm>
            <a:off x="7209267" y="4406189"/>
            <a:ext cx="636072" cy="369332"/>
          </a:xfrm>
          <a:prstGeom prst="rect">
            <a:avLst/>
          </a:prstGeom>
          <a:noFill/>
        </p:spPr>
        <p:txBody>
          <a:bodyPr wrap="none" rtlCol="0">
            <a:spAutoFit/>
          </a:bodyPr>
          <a:lstStyle/>
          <a:p>
            <a:r>
              <a:rPr lang="de-DE" dirty="0"/>
              <a:t>Auto</a:t>
            </a:r>
          </a:p>
        </p:txBody>
      </p:sp>
      <p:cxnSp>
        <p:nvCxnSpPr>
          <p:cNvPr id="8" name="Gerader Verbinder 7">
            <a:extLst>
              <a:ext uri="{FF2B5EF4-FFF2-40B4-BE49-F238E27FC236}">
                <a16:creationId xmlns:a16="http://schemas.microsoft.com/office/drawing/2014/main" id="{CABC6028-8E08-B616-5437-280799D9BACF}"/>
              </a:ext>
            </a:extLst>
          </p:cNvPr>
          <p:cNvCxnSpPr/>
          <p:nvPr/>
        </p:nvCxnSpPr>
        <p:spPr>
          <a:xfrm>
            <a:off x="4258044" y="5255475"/>
            <a:ext cx="2211616"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9100FCC1-84E4-FE17-ADE4-C3A23003FFB4}"/>
              </a:ext>
            </a:extLst>
          </p:cNvPr>
          <p:cNvSpPr txBox="1"/>
          <p:nvPr/>
        </p:nvSpPr>
        <p:spPr>
          <a:xfrm>
            <a:off x="4737600" y="4978476"/>
            <a:ext cx="1352230" cy="276999"/>
          </a:xfrm>
          <a:prstGeom prst="rect">
            <a:avLst/>
          </a:prstGeom>
          <a:noFill/>
        </p:spPr>
        <p:txBody>
          <a:bodyPr wrap="none" rtlCol="0">
            <a:spAutoFit/>
          </a:bodyPr>
          <a:lstStyle/>
          <a:p>
            <a:r>
              <a:rPr lang="de-DE" sz="1200" dirty="0"/>
              <a:t>ist Eigentümer von</a:t>
            </a:r>
          </a:p>
        </p:txBody>
      </p:sp>
    </p:spTree>
    <p:extLst>
      <p:ext uri="{BB962C8B-B14F-4D97-AF65-F5344CB8AC3E}">
        <p14:creationId xmlns:p14="http://schemas.microsoft.com/office/powerpoint/2010/main" val="1320487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Beziehungs-Typen</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81724" y="2359092"/>
            <a:ext cx="10828551" cy="1815882"/>
          </a:xfrm>
          <a:prstGeom prst="rect">
            <a:avLst/>
          </a:prstGeom>
          <a:noFill/>
        </p:spPr>
        <p:txBody>
          <a:bodyPr wrap="square" rtlCol="0">
            <a:spAutoFit/>
          </a:bodyPr>
          <a:lstStyle/>
          <a:p>
            <a:pPr marL="342900" lvl="0" indent="-342900">
              <a:buFont typeface="Arial" panose="020B0604020202020204" pitchFamily="34" charset="0"/>
              <a:buChar char="•"/>
            </a:pPr>
            <a:r>
              <a:rPr lang="de-DE" sz="2400" noProof="0" dirty="0">
                <a:solidFill>
                  <a:srgbClr val="0071B2"/>
                </a:solidFill>
                <a:latin typeface="Source Sans Pro" panose="020B0503030403020204" pitchFamily="34" charset="0"/>
              </a:rPr>
              <a:t>Um eine solche Beziehung aber auch technisch umsetzen zu können, müssen wir zwischen </a:t>
            </a:r>
            <a:r>
              <a:rPr lang="de-DE" sz="2400" b="1" noProof="0" dirty="0">
                <a:solidFill>
                  <a:srgbClr val="0071B2"/>
                </a:solidFill>
                <a:latin typeface="Source Sans Pro" panose="020B0503030403020204" pitchFamily="34" charset="0"/>
              </a:rPr>
              <a:t>3 Beziehungstypen </a:t>
            </a:r>
            <a:r>
              <a:rPr lang="de-DE" sz="2400" noProof="0" dirty="0">
                <a:solidFill>
                  <a:srgbClr val="0071B2"/>
                </a:solidFill>
                <a:latin typeface="Source Sans Pro" panose="020B0503030403020204" pitchFamily="34" charset="0"/>
              </a:rPr>
              <a:t>unterscheiden.</a:t>
            </a:r>
          </a:p>
          <a:p>
            <a:pPr lvl="0"/>
            <a:endParaRPr lang="de-DE" sz="800" noProof="0" dirty="0">
              <a:solidFill>
                <a:srgbClr val="0071B2"/>
              </a:solidFill>
              <a:latin typeface="Source Sans Pro" panose="020B0503030403020204" pitchFamily="34" charset="0"/>
            </a:endParaRPr>
          </a:p>
          <a:p>
            <a:pPr marL="342900" lvl="0" indent="-342900">
              <a:buFont typeface="Arial" panose="020B0604020202020204" pitchFamily="34" charset="0"/>
              <a:buChar char="•"/>
            </a:pPr>
            <a:r>
              <a:rPr lang="de-DE" sz="2400" dirty="0">
                <a:solidFill>
                  <a:srgbClr val="0071B2"/>
                </a:solidFill>
                <a:latin typeface="Source Sans Pro" panose="020B0503030403020204" pitchFamily="34" charset="0"/>
              </a:rPr>
              <a:t>Diese werden auf den folgenden Folien mit Hilfe von </a:t>
            </a:r>
            <a:r>
              <a:rPr lang="de-DE" sz="2400" b="1" dirty="0">
                <a:solidFill>
                  <a:srgbClr val="0071B2"/>
                </a:solidFill>
                <a:latin typeface="Source Sans Pro" panose="020B0503030403020204" pitchFamily="34" charset="0"/>
              </a:rPr>
              <a:t>Beispielen</a:t>
            </a:r>
            <a:r>
              <a:rPr lang="de-DE" sz="2400" dirty="0">
                <a:solidFill>
                  <a:srgbClr val="0071B2"/>
                </a:solidFill>
                <a:latin typeface="Source Sans Pro" panose="020B0503030403020204" pitchFamily="34" charset="0"/>
              </a:rPr>
              <a:t> vorgestellt:</a:t>
            </a:r>
            <a:endParaRPr lang="de-DE" sz="1400" noProof="0" dirty="0">
              <a:solidFill>
                <a:srgbClr val="0071B2"/>
              </a:solidFill>
              <a:latin typeface="Source Sans Pro" panose="020B0503030403020204" pitchFamily="34" charset="0"/>
            </a:endParaRPr>
          </a:p>
          <a:p>
            <a:pPr lvl="0"/>
            <a:endParaRPr lang="de-DE" sz="800" noProof="0" dirty="0">
              <a:solidFill>
                <a:srgbClr val="0071B2"/>
              </a:solidFill>
              <a:latin typeface="Source Sans Pro" panose="020B0503030403020204" pitchFamily="34" charset="0"/>
            </a:endParaRPr>
          </a:p>
          <a:p>
            <a:pPr lvl="0"/>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Tree>
    <p:extLst>
      <p:ext uri="{BB962C8B-B14F-4D97-AF65-F5344CB8AC3E}">
        <p14:creationId xmlns:p14="http://schemas.microsoft.com/office/powerpoint/2010/main" val="4178344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1:1-Beziehung </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25248" y="1152063"/>
            <a:ext cx="10828551" cy="2339102"/>
          </a:xfrm>
          <a:prstGeom prst="rect">
            <a:avLst/>
          </a:prstGeom>
          <a:noFill/>
        </p:spPr>
        <p:txBody>
          <a:bodyPr wrap="square" rtlCol="0">
            <a:spAutoFit/>
          </a:bodyPr>
          <a:lstStyle/>
          <a:p>
            <a:pPr marL="342900" indent="-342900">
              <a:buFont typeface="Arial" panose="020B0604020202020204" pitchFamily="34" charset="0"/>
              <a:buChar char="•"/>
            </a:pPr>
            <a:r>
              <a:rPr lang="de-DE" sz="2400" noProof="0" dirty="0">
                <a:solidFill>
                  <a:srgbClr val="0071B2"/>
                </a:solidFill>
                <a:latin typeface="Source Sans Pro" panose="020B0503030403020204" pitchFamily="34" charset="0"/>
              </a:rPr>
              <a:t>Jedem Datensatz der einen Tabelle kann höchstens 1 Datensatz der anderen Tabelle zugeordnet werden. </a:t>
            </a:r>
            <a:r>
              <a:rPr lang="de-DE" sz="1400" noProof="0" dirty="0">
                <a:solidFill>
                  <a:srgbClr val="0071B2"/>
                </a:solidFill>
                <a:latin typeface="Source Sans Pro" panose="020B0503030403020204" pitchFamily="34" charset="0"/>
              </a:rPr>
              <a:t>(Die beiden </a:t>
            </a:r>
            <a:r>
              <a:rPr lang="de-DE" sz="1400" b="1" noProof="0" dirty="0">
                <a:solidFill>
                  <a:srgbClr val="0071B2"/>
                </a:solidFill>
                <a:latin typeface="Source Sans Pro" panose="020B0503030403020204" pitchFamily="34" charset="0"/>
              </a:rPr>
              <a:t>1</a:t>
            </a:r>
            <a:r>
              <a:rPr lang="de-DE" sz="1400" noProof="0" dirty="0">
                <a:solidFill>
                  <a:srgbClr val="0071B2"/>
                </a:solidFill>
                <a:latin typeface="Source Sans Pro" panose="020B0503030403020204" pitchFamily="34" charset="0"/>
              </a:rPr>
              <a:t>-en werden als </a:t>
            </a:r>
            <a:r>
              <a:rPr lang="de-DE" sz="1400" b="1" noProof="0" dirty="0">
                <a:solidFill>
                  <a:srgbClr val="0071B2"/>
                </a:solidFill>
                <a:latin typeface="Source Sans Pro" panose="020B0503030403020204" pitchFamily="34" charset="0"/>
              </a:rPr>
              <a:t>„</a:t>
            </a:r>
            <a:r>
              <a:rPr lang="de-DE" sz="1400" b="1" dirty="0">
                <a:solidFill>
                  <a:srgbClr val="0071B2"/>
                </a:solidFill>
                <a:latin typeface="Source Sans Pro" panose="020B0503030403020204" pitchFamily="34" charset="0"/>
              </a:rPr>
              <a:t>K</a:t>
            </a:r>
            <a:r>
              <a:rPr lang="de-DE" sz="1400" b="1" noProof="0" dirty="0" err="1">
                <a:solidFill>
                  <a:srgbClr val="0071B2"/>
                </a:solidFill>
                <a:latin typeface="Source Sans Pro" panose="020B0503030403020204" pitchFamily="34" charset="0"/>
              </a:rPr>
              <a:t>ardinalitäten</a:t>
            </a:r>
            <a:r>
              <a:rPr lang="de-DE" sz="1400" b="1" noProof="0" dirty="0">
                <a:solidFill>
                  <a:srgbClr val="0071B2"/>
                </a:solidFill>
                <a:latin typeface="Source Sans Pro" panose="020B0503030403020204" pitchFamily="34" charset="0"/>
              </a:rPr>
              <a:t>“ </a:t>
            </a:r>
            <a:r>
              <a:rPr lang="de-DE" sz="1400" noProof="0" dirty="0">
                <a:solidFill>
                  <a:srgbClr val="0071B2"/>
                </a:solidFill>
                <a:latin typeface="Source Sans Pro" panose="020B0503030403020204" pitchFamily="34" charset="0"/>
              </a:rPr>
              <a:t>bezeichnet)</a:t>
            </a:r>
          </a:p>
          <a:p>
            <a:pPr marL="342900" indent="-342900">
              <a:buFont typeface="Arial" panose="020B0604020202020204" pitchFamily="34" charset="0"/>
              <a:buChar char="•"/>
            </a:pPr>
            <a:endParaRPr lang="de-DE" sz="2400" dirty="0">
              <a:solidFill>
                <a:srgbClr val="0071B2"/>
              </a:solidFill>
              <a:latin typeface="Source Sans Pro" panose="020B0503030403020204" pitchFamily="34" charset="0"/>
            </a:endParaRPr>
          </a:p>
          <a:p>
            <a:r>
              <a:rPr lang="de-DE" sz="1400" b="1" noProof="0" dirty="0">
                <a:solidFill>
                  <a:srgbClr val="0071B2"/>
                </a:solidFill>
                <a:latin typeface="Source Sans Pro" panose="020B0503030403020204" pitchFamily="34" charset="0"/>
              </a:rPr>
              <a:t>          Beispiel: </a:t>
            </a:r>
            <a:endParaRPr lang="de-DE" sz="1400" noProof="0" dirty="0">
              <a:solidFill>
                <a:srgbClr val="0071B2"/>
              </a:solidFill>
              <a:latin typeface="Source Sans Pro" panose="020B0503030403020204" pitchFamily="34" charset="0"/>
            </a:endParaRPr>
          </a:p>
          <a:p>
            <a:r>
              <a:rPr lang="de-DE" sz="1400" noProof="0" dirty="0">
                <a:solidFill>
                  <a:srgbClr val="0071B2"/>
                </a:solidFill>
                <a:latin typeface="Source Sans Pro" panose="020B0503030403020204" pitchFamily="34" charset="0"/>
              </a:rPr>
              <a:t>         Jedem Bundesbürger kann (höchstens) </a:t>
            </a:r>
            <a:r>
              <a:rPr lang="de-DE" sz="1400" b="1" noProof="0" dirty="0">
                <a:solidFill>
                  <a:srgbClr val="FF0000"/>
                </a:solidFill>
                <a:latin typeface="Source Sans Pro" panose="020B0503030403020204" pitchFamily="34" charset="0"/>
              </a:rPr>
              <a:t>1</a:t>
            </a:r>
            <a:r>
              <a:rPr lang="de-DE" sz="1400" b="1" noProof="0" dirty="0">
                <a:solidFill>
                  <a:srgbClr val="0071B2"/>
                </a:solidFill>
                <a:latin typeface="Source Sans Pro" panose="020B0503030403020204" pitchFamily="34" charset="0"/>
              </a:rPr>
              <a:t> </a:t>
            </a:r>
            <a:r>
              <a:rPr lang="de-DE" sz="1400" noProof="0" dirty="0">
                <a:solidFill>
                  <a:srgbClr val="0071B2"/>
                </a:solidFill>
                <a:latin typeface="Source Sans Pro" panose="020B0503030403020204" pitchFamily="34" charset="0"/>
              </a:rPr>
              <a:t>aktuell gültiger </a:t>
            </a:r>
            <a:r>
              <a:rPr lang="de-DE" sz="1400" dirty="0">
                <a:solidFill>
                  <a:srgbClr val="0071B2"/>
                </a:solidFill>
                <a:latin typeface="Source Sans Pro" panose="020B0503030403020204" pitchFamily="34" charset="0"/>
              </a:rPr>
              <a:t>Personalausweis</a:t>
            </a:r>
            <a:r>
              <a:rPr lang="de-DE" sz="1400" noProof="0" dirty="0">
                <a:solidFill>
                  <a:srgbClr val="0071B2"/>
                </a:solidFill>
                <a:latin typeface="Source Sans Pro" panose="020B0503030403020204" pitchFamily="34" charset="0"/>
              </a:rPr>
              <a:t> zugeordnet werden </a:t>
            </a:r>
          </a:p>
          <a:p>
            <a:r>
              <a:rPr lang="de-DE" sz="1400" dirty="0">
                <a:solidFill>
                  <a:srgbClr val="0071B2"/>
                </a:solidFill>
                <a:latin typeface="Source Sans Pro" panose="020B0503030403020204" pitchFamily="34" charset="0"/>
              </a:rPr>
              <a:t>          </a:t>
            </a:r>
            <a:r>
              <a:rPr lang="de-DE" sz="1400" noProof="0" dirty="0">
                <a:solidFill>
                  <a:srgbClr val="0071B2"/>
                </a:solidFill>
                <a:latin typeface="Source Sans Pro" panose="020B0503030403020204" pitchFamily="34" charset="0"/>
              </a:rPr>
              <a:t>UND jeder aktuell gültige Personalausweis besitzt (höchstens) </a:t>
            </a:r>
            <a:r>
              <a:rPr lang="de-DE" sz="1400" b="1" noProof="0" dirty="0">
                <a:solidFill>
                  <a:srgbClr val="FF0000"/>
                </a:solidFill>
                <a:latin typeface="Source Sans Pro" panose="020B0503030403020204" pitchFamily="34" charset="0"/>
              </a:rPr>
              <a:t>1</a:t>
            </a:r>
            <a:r>
              <a:rPr lang="de-DE" sz="1400" noProof="0" dirty="0">
                <a:solidFill>
                  <a:srgbClr val="0071B2"/>
                </a:solidFill>
                <a:latin typeface="Source Sans Pro" panose="020B0503030403020204" pitchFamily="34" charset="0"/>
              </a:rPr>
              <a:t> Eigentümer.</a:t>
            </a:r>
            <a:endParaRPr lang="de-DE" sz="1400" dirty="0">
              <a:solidFill>
                <a:srgbClr val="0071B2"/>
              </a:solidFill>
              <a:latin typeface="Source Sans Pro" panose="020B0503030403020204" pitchFamily="34" charset="0"/>
            </a:endParaRPr>
          </a:p>
          <a:p>
            <a:endParaRPr lang="de-DE" sz="800" dirty="0">
              <a:solidFill>
                <a:srgbClr val="0071B2"/>
              </a:solidFill>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graphicFrame>
        <p:nvGraphicFramePr>
          <p:cNvPr id="2" name="Tabelle 1">
            <a:extLst>
              <a:ext uri="{FF2B5EF4-FFF2-40B4-BE49-F238E27FC236}">
                <a16:creationId xmlns:a16="http://schemas.microsoft.com/office/drawing/2014/main" id="{E47BA788-BC56-9412-BB13-47092339025A}"/>
              </a:ext>
            </a:extLst>
          </p:cNvPr>
          <p:cNvGraphicFramePr>
            <a:graphicFrameLocks noGrp="1"/>
          </p:cNvGraphicFramePr>
          <p:nvPr>
            <p:extLst>
              <p:ext uri="{D42A27DB-BD31-4B8C-83A1-F6EECF244321}">
                <p14:modId xmlns:p14="http://schemas.microsoft.com/office/powerpoint/2010/main" val="687531088"/>
              </p:ext>
            </p:extLst>
          </p:nvPr>
        </p:nvGraphicFramePr>
        <p:xfrm>
          <a:off x="2378843" y="3963750"/>
          <a:ext cx="1957896" cy="1483360"/>
        </p:xfrm>
        <a:graphic>
          <a:graphicData uri="http://schemas.openxmlformats.org/drawingml/2006/table">
            <a:tbl>
              <a:tblPr firstRow="1" bandRow="1">
                <a:tableStyleId>{5C22544A-7EE6-4342-B048-85BDC9FD1C3A}</a:tableStyleId>
              </a:tblPr>
              <a:tblGrid>
                <a:gridCol w="1957896">
                  <a:extLst>
                    <a:ext uri="{9D8B030D-6E8A-4147-A177-3AD203B41FA5}">
                      <a16:colId xmlns:a16="http://schemas.microsoft.com/office/drawing/2014/main" val="4014580829"/>
                    </a:ext>
                  </a:extLst>
                </a:gridCol>
              </a:tblGrid>
              <a:tr h="370840">
                <a:tc>
                  <a:txBody>
                    <a:bodyPr/>
                    <a:lstStyle/>
                    <a:p>
                      <a:r>
                        <a:rPr lang="de-DE" dirty="0" err="1"/>
                        <a:t>Person_ID</a:t>
                      </a:r>
                      <a:endParaRPr lang="de-DE" dirty="0"/>
                    </a:p>
                  </a:txBody>
                  <a:tcPr/>
                </a:tc>
                <a:extLst>
                  <a:ext uri="{0D108BD9-81ED-4DB2-BD59-A6C34878D82A}">
                    <a16:rowId xmlns:a16="http://schemas.microsoft.com/office/drawing/2014/main" val="4235911520"/>
                  </a:ext>
                </a:extLst>
              </a:tr>
              <a:tr h="370840">
                <a:tc>
                  <a:txBody>
                    <a:bodyPr/>
                    <a:lstStyle/>
                    <a:p>
                      <a:r>
                        <a:rPr lang="de-DE" dirty="0"/>
                        <a:t>Vorname</a:t>
                      </a:r>
                    </a:p>
                  </a:txBody>
                  <a:tcPr/>
                </a:tc>
                <a:extLst>
                  <a:ext uri="{0D108BD9-81ED-4DB2-BD59-A6C34878D82A}">
                    <a16:rowId xmlns:a16="http://schemas.microsoft.com/office/drawing/2014/main" val="1684581590"/>
                  </a:ext>
                </a:extLst>
              </a:tr>
              <a:tr h="370840">
                <a:tc>
                  <a:txBody>
                    <a:bodyPr/>
                    <a:lstStyle/>
                    <a:p>
                      <a:r>
                        <a:rPr lang="de-DE" dirty="0"/>
                        <a:t>Nachname</a:t>
                      </a:r>
                    </a:p>
                  </a:txBody>
                  <a:tcPr/>
                </a:tc>
                <a:extLst>
                  <a:ext uri="{0D108BD9-81ED-4DB2-BD59-A6C34878D82A}">
                    <a16:rowId xmlns:a16="http://schemas.microsoft.com/office/drawing/2014/main" val="528400265"/>
                  </a:ext>
                </a:extLst>
              </a:tr>
              <a:tr h="370840">
                <a:tc>
                  <a:txBody>
                    <a:bodyPr/>
                    <a:lstStyle/>
                    <a:p>
                      <a:r>
                        <a:rPr lang="de-DE" dirty="0"/>
                        <a:t>Körpergröße in cm</a:t>
                      </a:r>
                    </a:p>
                  </a:txBody>
                  <a:tcPr/>
                </a:tc>
                <a:extLst>
                  <a:ext uri="{0D108BD9-81ED-4DB2-BD59-A6C34878D82A}">
                    <a16:rowId xmlns:a16="http://schemas.microsoft.com/office/drawing/2014/main" val="3316462644"/>
                  </a:ext>
                </a:extLst>
              </a:tr>
            </a:tbl>
          </a:graphicData>
        </a:graphic>
      </p:graphicFrame>
      <p:sp>
        <p:nvSpPr>
          <p:cNvPr id="3" name="Textfeld 2">
            <a:extLst>
              <a:ext uri="{FF2B5EF4-FFF2-40B4-BE49-F238E27FC236}">
                <a16:creationId xmlns:a16="http://schemas.microsoft.com/office/drawing/2014/main" id="{89685DA6-2659-862F-C3D9-334615C2C741}"/>
              </a:ext>
            </a:extLst>
          </p:cNvPr>
          <p:cNvSpPr txBox="1"/>
          <p:nvPr/>
        </p:nvSpPr>
        <p:spPr>
          <a:xfrm>
            <a:off x="2284701" y="3594418"/>
            <a:ext cx="823687" cy="369332"/>
          </a:xfrm>
          <a:prstGeom prst="rect">
            <a:avLst/>
          </a:prstGeom>
          <a:noFill/>
        </p:spPr>
        <p:txBody>
          <a:bodyPr wrap="none" rtlCol="0">
            <a:spAutoFit/>
          </a:bodyPr>
          <a:lstStyle/>
          <a:p>
            <a:r>
              <a:rPr lang="de-DE" dirty="0"/>
              <a:t>Person</a:t>
            </a:r>
          </a:p>
        </p:txBody>
      </p:sp>
      <p:graphicFrame>
        <p:nvGraphicFramePr>
          <p:cNvPr id="7" name="Tabelle 6">
            <a:extLst>
              <a:ext uri="{FF2B5EF4-FFF2-40B4-BE49-F238E27FC236}">
                <a16:creationId xmlns:a16="http://schemas.microsoft.com/office/drawing/2014/main" id="{428828B7-0197-99F3-9488-BE7ACD39144B}"/>
              </a:ext>
            </a:extLst>
          </p:cNvPr>
          <p:cNvGraphicFramePr>
            <a:graphicFrameLocks noGrp="1"/>
          </p:cNvGraphicFramePr>
          <p:nvPr>
            <p:extLst>
              <p:ext uri="{D42A27DB-BD31-4B8C-83A1-F6EECF244321}">
                <p14:modId xmlns:p14="http://schemas.microsoft.com/office/powerpoint/2010/main" val="3746961002"/>
              </p:ext>
            </p:extLst>
          </p:nvPr>
        </p:nvGraphicFramePr>
        <p:xfrm>
          <a:off x="6548355" y="3963750"/>
          <a:ext cx="2121345" cy="1112520"/>
        </p:xfrm>
        <a:graphic>
          <a:graphicData uri="http://schemas.openxmlformats.org/drawingml/2006/table">
            <a:tbl>
              <a:tblPr firstRow="1" bandRow="1">
                <a:tableStyleId>{5C22544A-7EE6-4342-B048-85BDC9FD1C3A}</a:tableStyleId>
              </a:tblPr>
              <a:tblGrid>
                <a:gridCol w="2121345">
                  <a:extLst>
                    <a:ext uri="{9D8B030D-6E8A-4147-A177-3AD203B41FA5}">
                      <a16:colId xmlns:a16="http://schemas.microsoft.com/office/drawing/2014/main" val="4014580829"/>
                    </a:ext>
                  </a:extLst>
                </a:gridCol>
              </a:tblGrid>
              <a:tr h="370840">
                <a:tc>
                  <a:txBody>
                    <a:bodyPr/>
                    <a:lstStyle/>
                    <a:p>
                      <a:r>
                        <a:rPr lang="de-DE" dirty="0" err="1"/>
                        <a:t>Personalausweis_ID</a:t>
                      </a:r>
                      <a:endParaRPr lang="de-DE" dirty="0"/>
                    </a:p>
                  </a:txBody>
                  <a:tcPr/>
                </a:tc>
                <a:extLst>
                  <a:ext uri="{0D108BD9-81ED-4DB2-BD59-A6C34878D82A}">
                    <a16:rowId xmlns:a16="http://schemas.microsoft.com/office/drawing/2014/main" val="4235911520"/>
                  </a:ext>
                </a:extLst>
              </a:tr>
              <a:tr h="370840">
                <a:tc>
                  <a:txBody>
                    <a:bodyPr/>
                    <a:lstStyle/>
                    <a:p>
                      <a:r>
                        <a:rPr lang="de-DE" dirty="0"/>
                        <a:t>Ausstellungsdatum</a:t>
                      </a:r>
                    </a:p>
                  </a:txBody>
                  <a:tcPr/>
                </a:tc>
                <a:extLst>
                  <a:ext uri="{0D108BD9-81ED-4DB2-BD59-A6C34878D82A}">
                    <a16:rowId xmlns:a16="http://schemas.microsoft.com/office/drawing/2014/main" val="1684581590"/>
                  </a:ext>
                </a:extLst>
              </a:tr>
              <a:tr h="370840">
                <a:tc>
                  <a:txBody>
                    <a:bodyPr/>
                    <a:lstStyle/>
                    <a:p>
                      <a:r>
                        <a:rPr lang="de-DE" dirty="0"/>
                        <a:t>Ausstellungsort</a:t>
                      </a:r>
                    </a:p>
                  </a:txBody>
                  <a:tcPr/>
                </a:tc>
                <a:extLst>
                  <a:ext uri="{0D108BD9-81ED-4DB2-BD59-A6C34878D82A}">
                    <a16:rowId xmlns:a16="http://schemas.microsoft.com/office/drawing/2014/main" val="528400265"/>
                  </a:ext>
                </a:extLst>
              </a:tr>
            </a:tbl>
          </a:graphicData>
        </a:graphic>
      </p:graphicFrame>
      <p:sp>
        <p:nvSpPr>
          <p:cNvPr id="8" name="Textfeld 7">
            <a:extLst>
              <a:ext uri="{FF2B5EF4-FFF2-40B4-BE49-F238E27FC236}">
                <a16:creationId xmlns:a16="http://schemas.microsoft.com/office/drawing/2014/main" id="{D800E5C4-F0CD-F93A-8FCC-CC9EFCA2C8DF}"/>
              </a:ext>
            </a:extLst>
          </p:cNvPr>
          <p:cNvSpPr txBox="1"/>
          <p:nvPr/>
        </p:nvSpPr>
        <p:spPr>
          <a:xfrm>
            <a:off x="6461195" y="3593989"/>
            <a:ext cx="1729384" cy="369332"/>
          </a:xfrm>
          <a:prstGeom prst="rect">
            <a:avLst/>
          </a:prstGeom>
          <a:noFill/>
        </p:spPr>
        <p:txBody>
          <a:bodyPr wrap="none" rtlCol="0">
            <a:spAutoFit/>
          </a:bodyPr>
          <a:lstStyle/>
          <a:p>
            <a:r>
              <a:rPr lang="de-DE" dirty="0"/>
              <a:t>Personalausweis</a:t>
            </a:r>
          </a:p>
        </p:txBody>
      </p:sp>
      <p:cxnSp>
        <p:nvCxnSpPr>
          <p:cNvPr id="9" name="Gerader Verbinder 8">
            <a:extLst>
              <a:ext uri="{FF2B5EF4-FFF2-40B4-BE49-F238E27FC236}">
                <a16:creationId xmlns:a16="http://schemas.microsoft.com/office/drawing/2014/main" id="{3D9D7761-54E6-AAF0-3436-C991E03D5393}"/>
              </a:ext>
            </a:extLst>
          </p:cNvPr>
          <p:cNvCxnSpPr/>
          <p:nvPr/>
        </p:nvCxnSpPr>
        <p:spPr>
          <a:xfrm>
            <a:off x="4336739" y="4320988"/>
            <a:ext cx="2211616"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2A3D7436-58C0-F4A8-2CA1-CD36C65B8009}"/>
              </a:ext>
            </a:extLst>
          </p:cNvPr>
          <p:cNvSpPr txBox="1"/>
          <p:nvPr/>
        </p:nvSpPr>
        <p:spPr>
          <a:xfrm>
            <a:off x="4813358" y="4043250"/>
            <a:ext cx="1352230" cy="276999"/>
          </a:xfrm>
          <a:prstGeom prst="rect">
            <a:avLst/>
          </a:prstGeom>
          <a:noFill/>
        </p:spPr>
        <p:txBody>
          <a:bodyPr wrap="none" rtlCol="0">
            <a:spAutoFit/>
          </a:bodyPr>
          <a:lstStyle/>
          <a:p>
            <a:r>
              <a:rPr lang="de-DE" sz="1200" dirty="0"/>
              <a:t>ist Eigentümer von</a:t>
            </a:r>
          </a:p>
        </p:txBody>
      </p:sp>
      <p:sp>
        <p:nvSpPr>
          <p:cNvPr id="13" name="Textfeld 12">
            <a:extLst>
              <a:ext uri="{FF2B5EF4-FFF2-40B4-BE49-F238E27FC236}">
                <a16:creationId xmlns:a16="http://schemas.microsoft.com/office/drawing/2014/main" id="{6A5486DE-F43B-5007-CF26-902EF30A6C0E}"/>
              </a:ext>
            </a:extLst>
          </p:cNvPr>
          <p:cNvSpPr txBox="1"/>
          <p:nvPr/>
        </p:nvSpPr>
        <p:spPr>
          <a:xfrm>
            <a:off x="4273056" y="4302487"/>
            <a:ext cx="301686" cy="369332"/>
          </a:xfrm>
          <a:prstGeom prst="rect">
            <a:avLst/>
          </a:prstGeom>
          <a:noFill/>
        </p:spPr>
        <p:txBody>
          <a:bodyPr wrap="none" rtlCol="0">
            <a:spAutoFit/>
          </a:bodyPr>
          <a:lstStyle/>
          <a:p>
            <a:r>
              <a:rPr lang="de-DE" b="1" dirty="0">
                <a:solidFill>
                  <a:srgbClr val="FF0000"/>
                </a:solidFill>
              </a:rPr>
              <a:t>1</a:t>
            </a:r>
          </a:p>
        </p:txBody>
      </p:sp>
      <p:sp>
        <p:nvSpPr>
          <p:cNvPr id="14" name="Textfeld 13">
            <a:extLst>
              <a:ext uri="{FF2B5EF4-FFF2-40B4-BE49-F238E27FC236}">
                <a16:creationId xmlns:a16="http://schemas.microsoft.com/office/drawing/2014/main" id="{3417382B-0EDC-7337-88CC-2B4440814CAA}"/>
              </a:ext>
            </a:extLst>
          </p:cNvPr>
          <p:cNvSpPr txBox="1"/>
          <p:nvPr/>
        </p:nvSpPr>
        <p:spPr>
          <a:xfrm>
            <a:off x="6319572" y="4289358"/>
            <a:ext cx="301686" cy="369332"/>
          </a:xfrm>
          <a:prstGeom prst="rect">
            <a:avLst/>
          </a:prstGeom>
          <a:noFill/>
        </p:spPr>
        <p:txBody>
          <a:bodyPr wrap="none" rtlCol="0">
            <a:spAutoFit/>
          </a:bodyPr>
          <a:lstStyle/>
          <a:p>
            <a:r>
              <a:rPr lang="de-DE" b="1" dirty="0">
                <a:solidFill>
                  <a:srgbClr val="FF0000"/>
                </a:solidFill>
              </a:rPr>
              <a:t>1</a:t>
            </a:r>
          </a:p>
        </p:txBody>
      </p:sp>
    </p:spTree>
    <p:extLst>
      <p:ext uri="{BB962C8B-B14F-4D97-AF65-F5344CB8AC3E}">
        <p14:creationId xmlns:p14="http://schemas.microsoft.com/office/powerpoint/2010/main" val="162889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13"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1:n-Beziehung </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334298" y="1135695"/>
            <a:ext cx="10596558" cy="2923877"/>
          </a:xfrm>
          <a:prstGeom prst="rect">
            <a:avLst/>
          </a:prstGeom>
          <a:noFill/>
        </p:spPr>
        <p:txBody>
          <a:bodyPr wrap="square" rtlCol="0">
            <a:spAutoFit/>
          </a:bodyPr>
          <a:lstStyle/>
          <a:p>
            <a:pPr marL="342900" indent="-342900">
              <a:buFont typeface="Arial" panose="020B0604020202020204" pitchFamily="34" charset="0"/>
              <a:buChar char="•"/>
            </a:pPr>
            <a:r>
              <a:rPr lang="de-DE" sz="2400" noProof="0" dirty="0">
                <a:solidFill>
                  <a:srgbClr val="0071B2"/>
                </a:solidFill>
                <a:latin typeface="Source Sans Pro" panose="020B0503030403020204" pitchFamily="34" charset="0"/>
              </a:rPr>
              <a:t>Jedem Datensatz einer </a:t>
            </a:r>
            <a:r>
              <a:rPr lang="de-DE" sz="2400" i="1" noProof="0" dirty="0">
                <a:solidFill>
                  <a:srgbClr val="0071B2"/>
                </a:solidFill>
                <a:latin typeface="Source Sans Pro" panose="020B0503030403020204" pitchFamily="34" charset="0"/>
              </a:rPr>
              <a:t>Tabelle A </a:t>
            </a:r>
            <a:r>
              <a:rPr lang="de-DE" sz="2400" noProof="0" dirty="0">
                <a:solidFill>
                  <a:srgbClr val="0071B2"/>
                </a:solidFill>
                <a:latin typeface="Source Sans Pro" panose="020B0503030403020204" pitchFamily="34" charset="0"/>
              </a:rPr>
              <a:t>kann höchstens </a:t>
            </a:r>
            <a:r>
              <a:rPr lang="de-DE" sz="2400" b="1" noProof="0" dirty="0">
                <a:solidFill>
                  <a:srgbClr val="0071B2"/>
                </a:solidFill>
                <a:latin typeface="Source Sans Pro" panose="020B0503030403020204" pitchFamily="34" charset="0"/>
              </a:rPr>
              <a:t>1</a:t>
            </a:r>
            <a:r>
              <a:rPr lang="de-DE" sz="2400" noProof="0" dirty="0">
                <a:solidFill>
                  <a:srgbClr val="0071B2"/>
                </a:solidFill>
                <a:latin typeface="Source Sans Pro" panose="020B0503030403020204" pitchFamily="34" charset="0"/>
              </a:rPr>
              <a:t> Datensatz einer </a:t>
            </a:r>
            <a:r>
              <a:rPr lang="de-DE" sz="2400" i="1" noProof="0" dirty="0">
                <a:solidFill>
                  <a:srgbClr val="0071B2"/>
                </a:solidFill>
                <a:latin typeface="Source Sans Pro" panose="020B0503030403020204" pitchFamily="34" charset="0"/>
              </a:rPr>
              <a:t>Tabelle B </a:t>
            </a:r>
            <a:r>
              <a:rPr lang="de-DE" sz="2400" noProof="0" dirty="0">
                <a:solidFill>
                  <a:srgbClr val="0071B2"/>
                </a:solidFill>
                <a:latin typeface="Source Sans Pro" panose="020B0503030403020204" pitchFamily="34" charset="0"/>
              </a:rPr>
              <a:t>zugeordnet werden. Aber umgekehrt gilt: Einem Datensatz aus der </a:t>
            </a:r>
            <a:r>
              <a:rPr lang="de-DE" sz="2400" i="1" noProof="0" dirty="0">
                <a:solidFill>
                  <a:srgbClr val="0071B2"/>
                </a:solidFill>
                <a:latin typeface="Source Sans Pro" panose="020B0503030403020204" pitchFamily="34" charset="0"/>
              </a:rPr>
              <a:t>Tabelle B </a:t>
            </a:r>
            <a:r>
              <a:rPr lang="de-DE" sz="2400" noProof="0" dirty="0">
                <a:solidFill>
                  <a:srgbClr val="0071B2"/>
                </a:solidFill>
                <a:latin typeface="Source Sans Pro" panose="020B0503030403020204" pitchFamily="34" charset="0"/>
              </a:rPr>
              <a:t>können </a:t>
            </a:r>
            <a:r>
              <a:rPr lang="de-DE" sz="2400" b="1" noProof="0" dirty="0">
                <a:solidFill>
                  <a:srgbClr val="0071B2"/>
                </a:solidFill>
                <a:latin typeface="Source Sans Pro" panose="020B0503030403020204" pitchFamily="34" charset="0"/>
              </a:rPr>
              <a:t>mehrere</a:t>
            </a:r>
            <a:r>
              <a:rPr lang="de-DE" sz="1400" noProof="0" dirty="0">
                <a:solidFill>
                  <a:srgbClr val="0071B2"/>
                </a:solidFill>
                <a:latin typeface="Source Sans Pro" panose="020B0503030403020204" pitchFamily="34" charset="0"/>
              </a:rPr>
              <a:t> (symbolisiert durch „n“) </a:t>
            </a:r>
            <a:r>
              <a:rPr lang="de-DE" sz="2400" noProof="0" dirty="0">
                <a:solidFill>
                  <a:srgbClr val="0071B2"/>
                </a:solidFill>
                <a:latin typeface="Source Sans Pro" panose="020B0503030403020204" pitchFamily="34" charset="0"/>
              </a:rPr>
              <a:t>Datensätze von A zugeordnet sein. </a:t>
            </a:r>
          </a:p>
          <a:p>
            <a:r>
              <a:rPr lang="de-DE" sz="2400" dirty="0">
                <a:solidFill>
                  <a:srgbClr val="0071B2"/>
                </a:solidFill>
                <a:latin typeface="Source Sans Pro" panose="020B0503030403020204" pitchFamily="34" charset="0"/>
              </a:rPr>
              <a:t>      </a:t>
            </a:r>
            <a:r>
              <a:rPr lang="de-DE" sz="1400" noProof="0" dirty="0">
                <a:solidFill>
                  <a:srgbClr val="0071B2"/>
                </a:solidFill>
                <a:latin typeface="Source Sans Pro" panose="020B0503030403020204" pitchFamily="34" charset="0"/>
              </a:rPr>
              <a:t>(Auch hier gilt: 1 und n werden als </a:t>
            </a:r>
            <a:r>
              <a:rPr lang="de-DE" sz="1400" b="1" noProof="0" dirty="0">
                <a:solidFill>
                  <a:srgbClr val="0071B2"/>
                </a:solidFill>
                <a:latin typeface="Source Sans Pro" panose="020B0503030403020204" pitchFamily="34" charset="0"/>
              </a:rPr>
              <a:t>„</a:t>
            </a:r>
            <a:r>
              <a:rPr lang="de-DE" sz="1400" b="1" dirty="0">
                <a:solidFill>
                  <a:srgbClr val="0071B2"/>
                </a:solidFill>
                <a:latin typeface="Source Sans Pro" panose="020B0503030403020204" pitchFamily="34" charset="0"/>
              </a:rPr>
              <a:t>K</a:t>
            </a:r>
            <a:r>
              <a:rPr lang="de-DE" sz="1400" b="1" noProof="0" dirty="0" err="1">
                <a:solidFill>
                  <a:srgbClr val="0071B2"/>
                </a:solidFill>
                <a:latin typeface="Source Sans Pro" panose="020B0503030403020204" pitchFamily="34" charset="0"/>
              </a:rPr>
              <a:t>ardinalität</a:t>
            </a:r>
            <a:r>
              <a:rPr lang="de-DE" sz="1400" b="1" noProof="0" dirty="0">
                <a:solidFill>
                  <a:srgbClr val="0071B2"/>
                </a:solidFill>
                <a:latin typeface="Source Sans Pro" panose="020B0503030403020204" pitchFamily="34" charset="0"/>
              </a:rPr>
              <a:t>“ </a:t>
            </a:r>
            <a:r>
              <a:rPr lang="de-DE" sz="1400" noProof="0" dirty="0">
                <a:solidFill>
                  <a:srgbClr val="0071B2"/>
                </a:solidFill>
                <a:latin typeface="Source Sans Pro" panose="020B0503030403020204" pitchFamily="34" charset="0"/>
              </a:rPr>
              <a:t>bezeichnet)</a:t>
            </a:r>
          </a:p>
          <a:p>
            <a:pPr marL="342900" indent="-342900">
              <a:buFont typeface="Arial" panose="020B0604020202020204" pitchFamily="34" charset="0"/>
              <a:buChar char="•"/>
            </a:pPr>
            <a:endParaRPr lang="de-DE" sz="1400" dirty="0">
              <a:solidFill>
                <a:srgbClr val="0071B2"/>
              </a:solidFill>
              <a:latin typeface="Source Sans Pro" panose="020B0503030403020204" pitchFamily="34" charset="0"/>
            </a:endParaRPr>
          </a:p>
          <a:p>
            <a:r>
              <a:rPr lang="de-DE" sz="1400" b="1" noProof="0" dirty="0">
                <a:solidFill>
                  <a:srgbClr val="0071B2"/>
                </a:solidFill>
                <a:latin typeface="Source Sans Pro" panose="020B0503030403020204" pitchFamily="34" charset="0"/>
              </a:rPr>
              <a:t>          Beispiel: </a:t>
            </a:r>
            <a:endParaRPr lang="de-DE" sz="1400" noProof="0" dirty="0">
              <a:solidFill>
                <a:srgbClr val="0071B2"/>
              </a:solidFill>
              <a:latin typeface="Source Sans Pro" panose="020B0503030403020204" pitchFamily="34" charset="0"/>
            </a:endParaRPr>
          </a:p>
          <a:p>
            <a:r>
              <a:rPr lang="de-DE" sz="1400" noProof="0" dirty="0">
                <a:solidFill>
                  <a:srgbClr val="0071B2"/>
                </a:solidFill>
                <a:latin typeface="Source Sans Pro" panose="020B0503030403020204" pitchFamily="34" charset="0"/>
              </a:rPr>
              <a:t>         Jedes Auto hat (höchstens) </a:t>
            </a:r>
            <a:r>
              <a:rPr lang="de-DE" sz="1400" b="1" noProof="0" dirty="0">
                <a:solidFill>
                  <a:srgbClr val="FF0000"/>
                </a:solidFill>
                <a:latin typeface="Source Sans Pro" panose="020B0503030403020204" pitchFamily="34" charset="0"/>
              </a:rPr>
              <a:t>1</a:t>
            </a:r>
            <a:r>
              <a:rPr lang="de-DE" sz="1400" b="1" noProof="0" dirty="0">
                <a:solidFill>
                  <a:srgbClr val="0071B2"/>
                </a:solidFill>
                <a:latin typeface="Source Sans Pro" panose="020B0503030403020204" pitchFamily="34" charset="0"/>
              </a:rPr>
              <a:t> </a:t>
            </a:r>
            <a:r>
              <a:rPr lang="de-DE" sz="1400" noProof="0" dirty="0">
                <a:solidFill>
                  <a:srgbClr val="0071B2"/>
                </a:solidFill>
                <a:latin typeface="Source Sans Pro" panose="020B0503030403020204" pitchFamily="34" charset="0"/>
              </a:rPr>
              <a:t>aktuellen Eigentümer.</a:t>
            </a:r>
          </a:p>
          <a:p>
            <a:r>
              <a:rPr lang="de-DE" sz="1400" dirty="0">
                <a:solidFill>
                  <a:srgbClr val="0071B2"/>
                </a:solidFill>
                <a:latin typeface="Source Sans Pro" panose="020B0503030403020204" pitchFamily="34" charset="0"/>
              </a:rPr>
              <a:t>          </a:t>
            </a:r>
            <a:r>
              <a:rPr lang="de-DE" sz="1400" noProof="0" dirty="0">
                <a:solidFill>
                  <a:srgbClr val="0071B2"/>
                </a:solidFill>
                <a:latin typeface="Source Sans Pro" panose="020B0503030403020204" pitchFamily="34" charset="0"/>
              </a:rPr>
              <a:t>ABER jede Person kann </a:t>
            </a:r>
            <a:r>
              <a:rPr lang="de-DE" sz="1400" b="1" noProof="0" dirty="0">
                <a:solidFill>
                  <a:srgbClr val="FF0000"/>
                </a:solidFill>
                <a:latin typeface="Source Sans Pro" panose="020B0503030403020204" pitchFamily="34" charset="0"/>
              </a:rPr>
              <a:t>mehrere</a:t>
            </a:r>
            <a:r>
              <a:rPr lang="de-DE" sz="1400" noProof="0" dirty="0">
                <a:solidFill>
                  <a:srgbClr val="0071B2"/>
                </a:solidFill>
                <a:latin typeface="Source Sans Pro" panose="020B0503030403020204" pitchFamily="34" charset="0"/>
              </a:rPr>
              <a:t> Autos besitzen.</a:t>
            </a:r>
            <a:endParaRPr lang="de-DE" sz="1400" dirty="0">
              <a:solidFill>
                <a:srgbClr val="0071B2"/>
              </a:solidFill>
              <a:latin typeface="Source Sans Pro" panose="020B0503030403020204" pitchFamily="34" charset="0"/>
            </a:endParaRPr>
          </a:p>
          <a:p>
            <a:endParaRPr lang="de-DE" sz="800" dirty="0">
              <a:solidFill>
                <a:srgbClr val="0071B2"/>
              </a:solidFill>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graphicFrame>
        <p:nvGraphicFramePr>
          <p:cNvPr id="2" name="Tabelle 1">
            <a:extLst>
              <a:ext uri="{FF2B5EF4-FFF2-40B4-BE49-F238E27FC236}">
                <a16:creationId xmlns:a16="http://schemas.microsoft.com/office/drawing/2014/main" id="{E47BA788-BC56-9412-BB13-47092339025A}"/>
              </a:ext>
            </a:extLst>
          </p:cNvPr>
          <p:cNvGraphicFramePr>
            <a:graphicFrameLocks noGrp="1"/>
          </p:cNvGraphicFramePr>
          <p:nvPr>
            <p:extLst>
              <p:ext uri="{D42A27DB-BD31-4B8C-83A1-F6EECF244321}">
                <p14:modId xmlns:p14="http://schemas.microsoft.com/office/powerpoint/2010/main" val="3941360085"/>
              </p:ext>
            </p:extLst>
          </p:nvPr>
        </p:nvGraphicFramePr>
        <p:xfrm>
          <a:off x="2860982" y="4250271"/>
          <a:ext cx="1957896" cy="1483360"/>
        </p:xfrm>
        <a:graphic>
          <a:graphicData uri="http://schemas.openxmlformats.org/drawingml/2006/table">
            <a:tbl>
              <a:tblPr firstRow="1" bandRow="1">
                <a:tableStyleId>{5C22544A-7EE6-4342-B048-85BDC9FD1C3A}</a:tableStyleId>
              </a:tblPr>
              <a:tblGrid>
                <a:gridCol w="1957896">
                  <a:extLst>
                    <a:ext uri="{9D8B030D-6E8A-4147-A177-3AD203B41FA5}">
                      <a16:colId xmlns:a16="http://schemas.microsoft.com/office/drawing/2014/main" val="4014580829"/>
                    </a:ext>
                  </a:extLst>
                </a:gridCol>
              </a:tblGrid>
              <a:tr h="370840">
                <a:tc>
                  <a:txBody>
                    <a:bodyPr/>
                    <a:lstStyle/>
                    <a:p>
                      <a:r>
                        <a:rPr lang="de-DE" dirty="0" err="1"/>
                        <a:t>Person_ID</a:t>
                      </a:r>
                      <a:endParaRPr lang="de-DE" dirty="0"/>
                    </a:p>
                  </a:txBody>
                  <a:tcPr/>
                </a:tc>
                <a:extLst>
                  <a:ext uri="{0D108BD9-81ED-4DB2-BD59-A6C34878D82A}">
                    <a16:rowId xmlns:a16="http://schemas.microsoft.com/office/drawing/2014/main" val="4235911520"/>
                  </a:ext>
                </a:extLst>
              </a:tr>
              <a:tr h="370840">
                <a:tc>
                  <a:txBody>
                    <a:bodyPr/>
                    <a:lstStyle/>
                    <a:p>
                      <a:r>
                        <a:rPr lang="de-DE" dirty="0"/>
                        <a:t>Vorname</a:t>
                      </a:r>
                    </a:p>
                  </a:txBody>
                  <a:tcPr/>
                </a:tc>
                <a:extLst>
                  <a:ext uri="{0D108BD9-81ED-4DB2-BD59-A6C34878D82A}">
                    <a16:rowId xmlns:a16="http://schemas.microsoft.com/office/drawing/2014/main" val="1684581590"/>
                  </a:ext>
                </a:extLst>
              </a:tr>
              <a:tr h="370840">
                <a:tc>
                  <a:txBody>
                    <a:bodyPr/>
                    <a:lstStyle/>
                    <a:p>
                      <a:r>
                        <a:rPr lang="de-DE" dirty="0"/>
                        <a:t>Nachname</a:t>
                      </a:r>
                    </a:p>
                  </a:txBody>
                  <a:tcPr/>
                </a:tc>
                <a:extLst>
                  <a:ext uri="{0D108BD9-81ED-4DB2-BD59-A6C34878D82A}">
                    <a16:rowId xmlns:a16="http://schemas.microsoft.com/office/drawing/2014/main" val="528400265"/>
                  </a:ext>
                </a:extLst>
              </a:tr>
              <a:tr h="370840">
                <a:tc>
                  <a:txBody>
                    <a:bodyPr/>
                    <a:lstStyle/>
                    <a:p>
                      <a:r>
                        <a:rPr lang="de-DE" dirty="0"/>
                        <a:t>Körpergröße in cm</a:t>
                      </a:r>
                    </a:p>
                  </a:txBody>
                  <a:tcPr/>
                </a:tc>
                <a:extLst>
                  <a:ext uri="{0D108BD9-81ED-4DB2-BD59-A6C34878D82A}">
                    <a16:rowId xmlns:a16="http://schemas.microsoft.com/office/drawing/2014/main" val="3316462644"/>
                  </a:ext>
                </a:extLst>
              </a:tr>
            </a:tbl>
          </a:graphicData>
        </a:graphic>
      </p:graphicFrame>
      <p:sp>
        <p:nvSpPr>
          <p:cNvPr id="3" name="Textfeld 2">
            <a:extLst>
              <a:ext uri="{FF2B5EF4-FFF2-40B4-BE49-F238E27FC236}">
                <a16:creationId xmlns:a16="http://schemas.microsoft.com/office/drawing/2014/main" id="{89685DA6-2659-862F-C3D9-334615C2C741}"/>
              </a:ext>
            </a:extLst>
          </p:cNvPr>
          <p:cNvSpPr txBox="1"/>
          <p:nvPr/>
        </p:nvSpPr>
        <p:spPr>
          <a:xfrm>
            <a:off x="2866344" y="3874906"/>
            <a:ext cx="823687" cy="369332"/>
          </a:xfrm>
          <a:prstGeom prst="rect">
            <a:avLst/>
          </a:prstGeom>
          <a:noFill/>
        </p:spPr>
        <p:txBody>
          <a:bodyPr wrap="none" rtlCol="0">
            <a:spAutoFit/>
          </a:bodyPr>
          <a:lstStyle/>
          <a:p>
            <a:r>
              <a:rPr lang="de-DE" dirty="0"/>
              <a:t>Person</a:t>
            </a:r>
          </a:p>
        </p:txBody>
      </p:sp>
      <p:graphicFrame>
        <p:nvGraphicFramePr>
          <p:cNvPr id="7" name="Tabelle 6">
            <a:extLst>
              <a:ext uri="{FF2B5EF4-FFF2-40B4-BE49-F238E27FC236}">
                <a16:creationId xmlns:a16="http://schemas.microsoft.com/office/drawing/2014/main" id="{428828B7-0197-99F3-9488-BE7ACD39144B}"/>
              </a:ext>
            </a:extLst>
          </p:cNvPr>
          <p:cNvGraphicFramePr>
            <a:graphicFrameLocks noGrp="1"/>
          </p:cNvGraphicFramePr>
          <p:nvPr>
            <p:extLst>
              <p:ext uri="{D42A27DB-BD31-4B8C-83A1-F6EECF244321}">
                <p14:modId xmlns:p14="http://schemas.microsoft.com/office/powerpoint/2010/main" val="3819195261"/>
              </p:ext>
            </p:extLst>
          </p:nvPr>
        </p:nvGraphicFramePr>
        <p:xfrm>
          <a:off x="7030494" y="4250271"/>
          <a:ext cx="1014095" cy="1112520"/>
        </p:xfrm>
        <a:graphic>
          <a:graphicData uri="http://schemas.openxmlformats.org/drawingml/2006/table">
            <a:tbl>
              <a:tblPr firstRow="1" bandRow="1">
                <a:tableStyleId>{5C22544A-7EE6-4342-B048-85BDC9FD1C3A}</a:tableStyleId>
              </a:tblPr>
              <a:tblGrid>
                <a:gridCol w="1014095">
                  <a:extLst>
                    <a:ext uri="{9D8B030D-6E8A-4147-A177-3AD203B41FA5}">
                      <a16:colId xmlns:a16="http://schemas.microsoft.com/office/drawing/2014/main" val="4014580829"/>
                    </a:ext>
                  </a:extLst>
                </a:gridCol>
              </a:tblGrid>
              <a:tr h="370840">
                <a:tc>
                  <a:txBody>
                    <a:bodyPr/>
                    <a:lstStyle/>
                    <a:p>
                      <a:r>
                        <a:rPr lang="de-DE" dirty="0" err="1"/>
                        <a:t>Auto_ID</a:t>
                      </a:r>
                      <a:endParaRPr lang="de-DE" dirty="0"/>
                    </a:p>
                  </a:txBody>
                  <a:tcPr/>
                </a:tc>
                <a:extLst>
                  <a:ext uri="{0D108BD9-81ED-4DB2-BD59-A6C34878D82A}">
                    <a16:rowId xmlns:a16="http://schemas.microsoft.com/office/drawing/2014/main" val="4235911520"/>
                  </a:ext>
                </a:extLst>
              </a:tr>
              <a:tr h="370840">
                <a:tc>
                  <a:txBody>
                    <a:bodyPr/>
                    <a:lstStyle/>
                    <a:p>
                      <a:r>
                        <a:rPr lang="de-DE" dirty="0"/>
                        <a:t>Marke</a:t>
                      </a:r>
                    </a:p>
                  </a:txBody>
                  <a:tcPr/>
                </a:tc>
                <a:extLst>
                  <a:ext uri="{0D108BD9-81ED-4DB2-BD59-A6C34878D82A}">
                    <a16:rowId xmlns:a16="http://schemas.microsoft.com/office/drawing/2014/main" val="1684581590"/>
                  </a:ext>
                </a:extLst>
              </a:tr>
              <a:tr h="370840">
                <a:tc>
                  <a:txBody>
                    <a:bodyPr/>
                    <a:lstStyle/>
                    <a:p>
                      <a:r>
                        <a:rPr lang="de-DE" dirty="0"/>
                        <a:t>PS</a:t>
                      </a:r>
                    </a:p>
                  </a:txBody>
                  <a:tcPr/>
                </a:tc>
                <a:extLst>
                  <a:ext uri="{0D108BD9-81ED-4DB2-BD59-A6C34878D82A}">
                    <a16:rowId xmlns:a16="http://schemas.microsoft.com/office/drawing/2014/main" val="528400265"/>
                  </a:ext>
                </a:extLst>
              </a:tr>
            </a:tbl>
          </a:graphicData>
        </a:graphic>
      </p:graphicFrame>
      <p:sp>
        <p:nvSpPr>
          <p:cNvPr id="8" name="Textfeld 7">
            <a:extLst>
              <a:ext uri="{FF2B5EF4-FFF2-40B4-BE49-F238E27FC236}">
                <a16:creationId xmlns:a16="http://schemas.microsoft.com/office/drawing/2014/main" id="{D800E5C4-F0CD-F93A-8FCC-CC9EFCA2C8DF}"/>
              </a:ext>
            </a:extLst>
          </p:cNvPr>
          <p:cNvSpPr txBox="1"/>
          <p:nvPr/>
        </p:nvSpPr>
        <p:spPr>
          <a:xfrm>
            <a:off x="6992407" y="3835481"/>
            <a:ext cx="636072" cy="369332"/>
          </a:xfrm>
          <a:prstGeom prst="rect">
            <a:avLst/>
          </a:prstGeom>
          <a:noFill/>
        </p:spPr>
        <p:txBody>
          <a:bodyPr wrap="none" rtlCol="0">
            <a:spAutoFit/>
          </a:bodyPr>
          <a:lstStyle/>
          <a:p>
            <a:r>
              <a:rPr lang="de-DE" dirty="0"/>
              <a:t>Auto</a:t>
            </a:r>
          </a:p>
        </p:txBody>
      </p:sp>
      <p:cxnSp>
        <p:nvCxnSpPr>
          <p:cNvPr id="9" name="Gerader Verbinder 8">
            <a:extLst>
              <a:ext uri="{FF2B5EF4-FFF2-40B4-BE49-F238E27FC236}">
                <a16:creationId xmlns:a16="http://schemas.microsoft.com/office/drawing/2014/main" id="{3D9D7761-54E6-AAF0-3436-C991E03D5393}"/>
              </a:ext>
            </a:extLst>
          </p:cNvPr>
          <p:cNvCxnSpPr/>
          <p:nvPr/>
        </p:nvCxnSpPr>
        <p:spPr>
          <a:xfrm>
            <a:off x="4818878" y="4607509"/>
            <a:ext cx="2211616"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2A3D7436-58C0-F4A8-2CA1-CD36C65B8009}"/>
              </a:ext>
            </a:extLst>
          </p:cNvPr>
          <p:cNvSpPr txBox="1"/>
          <p:nvPr/>
        </p:nvSpPr>
        <p:spPr>
          <a:xfrm>
            <a:off x="5295497" y="4329771"/>
            <a:ext cx="1352230" cy="276999"/>
          </a:xfrm>
          <a:prstGeom prst="rect">
            <a:avLst/>
          </a:prstGeom>
          <a:noFill/>
        </p:spPr>
        <p:txBody>
          <a:bodyPr wrap="none" rtlCol="0">
            <a:spAutoFit/>
          </a:bodyPr>
          <a:lstStyle/>
          <a:p>
            <a:r>
              <a:rPr lang="de-DE" sz="1200" dirty="0"/>
              <a:t>ist Eigentümer von</a:t>
            </a:r>
          </a:p>
        </p:txBody>
      </p:sp>
      <p:sp>
        <p:nvSpPr>
          <p:cNvPr id="13" name="Textfeld 12">
            <a:extLst>
              <a:ext uri="{FF2B5EF4-FFF2-40B4-BE49-F238E27FC236}">
                <a16:creationId xmlns:a16="http://schemas.microsoft.com/office/drawing/2014/main" id="{6A5486DE-F43B-5007-CF26-902EF30A6C0E}"/>
              </a:ext>
            </a:extLst>
          </p:cNvPr>
          <p:cNvSpPr txBox="1"/>
          <p:nvPr/>
        </p:nvSpPr>
        <p:spPr>
          <a:xfrm>
            <a:off x="4755195" y="4589008"/>
            <a:ext cx="301686" cy="369332"/>
          </a:xfrm>
          <a:prstGeom prst="rect">
            <a:avLst/>
          </a:prstGeom>
          <a:noFill/>
        </p:spPr>
        <p:txBody>
          <a:bodyPr wrap="none" rtlCol="0">
            <a:spAutoFit/>
          </a:bodyPr>
          <a:lstStyle/>
          <a:p>
            <a:r>
              <a:rPr lang="de-DE" b="1" dirty="0">
                <a:solidFill>
                  <a:srgbClr val="FF0000"/>
                </a:solidFill>
              </a:rPr>
              <a:t>1</a:t>
            </a:r>
          </a:p>
        </p:txBody>
      </p:sp>
      <p:sp>
        <p:nvSpPr>
          <p:cNvPr id="14" name="Textfeld 13">
            <a:extLst>
              <a:ext uri="{FF2B5EF4-FFF2-40B4-BE49-F238E27FC236}">
                <a16:creationId xmlns:a16="http://schemas.microsoft.com/office/drawing/2014/main" id="{3417382B-0EDC-7337-88CC-2B4440814CAA}"/>
              </a:ext>
            </a:extLst>
          </p:cNvPr>
          <p:cNvSpPr txBox="1"/>
          <p:nvPr/>
        </p:nvSpPr>
        <p:spPr>
          <a:xfrm>
            <a:off x="6801711" y="4575879"/>
            <a:ext cx="308098" cy="369332"/>
          </a:xfrm>
          <a:prstGeom prst="rect">
            <a:avLst/>
          </a:prstGeom>
          <a:noFill/>
        </p:spPr>
        <p:txBody>
          <a:bodyPr wrap="none" rtlCol="0">
            <a:spAutoFit/>
          </a:bodyPr>
          <a:lstStyle/>
          <a:p>
            <a:r>
              <a:rPr lang="de-DE" b="1" dirty="0">
                <a:solidFill>
                  <a:srgbClr val="FF0000"/>
                </a:solidFill>
              </a:rPr>
              <a:t>n</a:t>
            </a:r>
          </a:p>
        </p:txBody>
      </p:sp>
    </p:spTree>
    <p:extLst>
      <p:ext uri="{BB962C8B-B14F-4D97-AF65-F5344CB8AC3E}">
        <p14:creationId xmlns:p14="http://schemas.microsoft.com/office/powerpoint/2010/main" val="3096134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13"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m:n-Beziehung </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334298" y="1135695"/>
            <a:ext cx="10596558" cy="2062103"/>
          </a:xfrm>
          <a:prstGeom prst="rect">
            <a:avLst/>
          </a:prstGeom>
          <a:noFill/>
        </p:spPr>
        <p:txBody>
          <a:bodyPr wrap="square" rtlCol="0">
            <a:spAutoFit/>
          </a:bodyPr>
          <a:lstStyle/>
          <a:p>
            <a:pPr marL="342900" indent="-342900">
              <a:buFont typeface="Arial" panose="020B0604020202020204" pitchFamily="34" charset="0"/>
              <a:buChar char="•"/>
            </a:pPr>
            <a:r>
              <a:rPr lang="de-DE" sz="2400" noProof="0" dirty="0">
                <a:solidFill>
                  <a:srgbClr val="0071B2"/>
                </a:solidFill>
                <a:latin typeface="Source Sans Pro" panose="020B0503030403020204" pitchFamily="34" charset="0"/>
              </a:rPr>
              <a:t>Jedem Datensatz einer Tabelle</a:t>
            </a:r>
            <a:r>
              <a:rPr lang="de-DE" sz="2400" i="1" noProof="0" dirty="0">
                <a:solidFill>
                  <a:srgbClr val="0071B2"/>
                </a:solidFill>
                <a:latin typeface="Source Sans Pro" panose="020B0503030403020204" pitchFamily="34" charset="0"/>
              </a:rPr>
              <a:t> </a:t>
            </a:r>
            <a:r>
              <a:rPr lang="de-DE" sz="2400" noProof="0" dirty="0">
                <a:solidFill>
                  <a:srgbClr val="0071B2"/>
                </a:solidFill>
                <a:latin typeface="Source Sans Pro" panose="020B0503030403020204" pitchFamily="34" charset="0"/>
              </a:rPr>
              <a:t>können </a:t>
            </a:r>
            <a:r>
              <a:rPr lang="de-DE" sz="2400" b="1" dirty="0">
                <a:solidFill>
                  <a:srgbClr val="0071B2"/>
                </a:solidFill>
                <a:latin typeface="Source Sans Pro" panose="020B0503030403020204" pitchFamily="34" charset="0"/>
              </a:rPr>
              <a:t>mehrere</a:t>
            </a:r>
            <a:r>
              <a:rPr lang="de-DE" sz="2400" noProof="0" dirty="0">
                <a:solidFill>
                  <a:srgbClr val="0071B2"/>
                </a:solidFill>
                <a:latin typeface="Source Sans Pro" panose="020B0503030403020204" pitchFamily="34" charset="0"/>
              </a:rPr>
              <a:t> Datensätze der anderen Tabelle</a:t>
            </a:r>
            <a:r>
              <a:rPr lang="de-DE" sz="2400" i="1" noProof="0" dirty="0">
                <a:solidFill>
                  <a:srgbClr val="0071B2"/>
                </a:solidFill>
                <a:latin typeface="Source Sans Pro" panose="020B0503030403020204" pitchFamily="34" charset="0"/>
              </a:rPr>
              <a:t> </a:t>
            </a:r>
            <a:r>
              <a:rPr lang="de-DE" sz="2400" noProof="0" dirty="0">
                <a:solidFill>
                  <a:srgbClr val="0071B2"/>
                </a:solidFill>
                <a:latin typeface="Source Sans Pro" panose="020B0503030403020204" pitchFamily="34" charset="0"/>
              </a:rPr>
              <a:t>zugeordnet werden. </a:t>
            </a:r>
            <a:r>
              <a:rPr lang="de-DE" sz="1400" noProof="0" dirty="0">
                <a:solidFill>
                  <a:srgbClr val="0071B2"/>
                </a:solidFill>
                <a:latin typeface="Source Sans Pro" panose="020B0503030403020204" pitchFamily="34" charset="0"/>
              </a:rPr>
              <a:t>(Auch hier gilt: m und n werden als </a:t>
            </a:r>
            <a:r>
              <a:rPr lang="de-DE" sz="1400" b="1" noProof="0" dirty="0">
                <a:solidFill>
                  <a:srgbClr val="0071B2"/>
                </a:solidFill>
                <a:latin typeface="Source Sans Pro" panose="020B0503030403020204" pitchFamily="34" charset="0"/>
              </a:rPr>
              <a:t>„</a:t>
            </a:r>
            <a:r>
              <a:rPr lang="de-DE" sz="1400" b="1" dirty="0">
                <a:solidFill>
                  <a:srgbClr val="0071B2"/>
                </a:solidFill>
                <a:latin typeface="Source Sans Pro" panose="020B0503030403020204" pitchFamily="34" charset="0"/>
              </a:rPr>
              <a:t>K</a:t>
            </a:r>
            <a:r>
              <a:rPr lang="de-DE" sz="1400" b="1" noProof="0" dirty="0" err="1">
                <a:solidFill>
                  <a:srgbClr val="0071B2"/>
                </a:solidFill>
                <a:latin typeface="Source Sans Pro" panose="020B0503030403020204" pitchFamily="34" charset="0"/>
              </a:rPr>
              <a:t>ardinalität</a:t>
            </a:r>
            <a:r>
              <a:rPr lang="de-DE" sz="1400" b="1" noProof="0" dirty="0">
                <a:solidFill>
                  <a:srgbClr val="0071B2"/>
                </a:solidFill>
                <a:latin typeface="Source Sans Pro" panose="020B0503030403020204" pitchFamily="34" charset="0"/>
              </a:rPr>
              <a:t>“ </a:t>
            </a:r>
            <a:r>
              <a:rPr lang="de-DE" sz="1400" noProof="0" dirty="0">
                <a:solidFill>
                  <a:srgbClr val="0071B2"/>
                </a:solidFill>
                <a:latin typeface="Source Sans Pro" panose="020B0503030403020204" pitchFamily="34" charset="0"/>
              </a:rPr>
              <a:t>bezeichnet)</a:t>
            </a:r>
          </a:p>
          <a:p>
            <a:pPr marL="342900" indent="-342900">
              <a:buFont typeface="Arial" panose="020B0604020202020204" pitchFamily="34" charset="0"/>
              <a:buChar char="•"/>
            </a:pPr>
            <a:endParaRPr lang="de-DE" sz="1400" dirty="0">
              <a:solidFill>
                <a:srgbClr val="0071B2"/>
              </a:solidFill>
              <a:latin typeface="Source Sans Pro" panose="020B0503030403020204" pitchFamily="34" charset="0"/>
            </a:endParaRPr>
          </a:p>
          <a:p>
            <a:r>
              <a:rPr lang="de-DE" sz="1400" b="1" noProof="0" dirty="0">
                <a:solidFill>
                  <a:srgbClr val="0071B2"/>
                </a:solidFill>
                <a:latin typeface="Source Sans Pro" panose="020B0503030403020204" pitchFamily="34" charset="0"/>
              </a:rPr>
              <a:t>          Beispiel: </a:t>
            </a:r>
            <a:endParaRPr lang="de-DE" sz="1400" noProof="0" dirty="0">
              <a:solidFill>
                <a:srgbClr val="0071B2"/>
              </a:solidFill>
              <a:latin typeface="Source Sans Pro" panose="020B0503030403020204" pitchFamily="34" charset="0"/>
            </a:endParaRPr>
          </a:p>
          <a:p>
            <a:r>
              <a:rPr lang="de-DE" sz="1400" noProof="0" dirty="0">
                <a:solidFill>
                  <a:srgbClr val="0071B2"/>
                </a:solidFill>
                <a:latin typeface="Source Sans Pro" panose="020B0503030403020204" pitchFamily="34" charset="0"/>
              </a:rPr>
              <a:t>         Jede Person kann Mitglied </a:t>
            </a:r>
            <a:r>
              <a:rPr lang="de-DE" sz="1400" b="1" noProof="0" dirty="0">
                <a:solidFill>
                  <a:srgbClr val="FF0000"/>
                </a:solidFill>
                <a:latin typeface="Source Sans Pro" panose="020B0503030403020204" pitchFamily="34" charset="0"/>
              </a:rPr>
              <a:t>mehrerer</a:t>
            </a:r>
            <a:r>
              <a:rPr lang="de-DE" sz="1400" noProof="0" dirty="0">
                <a:solidFill>
                  <a:srgbClr val="0071B2"/>
                </a:solidFill>
                <a:latin typeface="Source Sans Pro" panose="020B0503030403020204" pitchFamily="34" charset="0"/>
              </a:rPr>
              <a:t> Vereine sein. </a:t>
            </a:r>
          </a:p>
          <a:p>
            <a:r>
              <a:rPr lang="de-DE" sz="1400" dirty="0">
                <a:solidFill>
                  <a:srgbClr val="0071B2"/>
                </a:solidFill>
                <a:latin typeface="Source Sans Pro" panose="020B0503030403020204" pitchFamily="34" charset="0"/>
              </a:rPr>
              <a:t>         Und in jedem Verein können </a:t>
            </a:r>
            <a:r>
              <a:rPr lang="de-DE" sz="1400" b="1" dirty="0">
                <a:solidFill>
                  <a:srgbClr val="FF0000"/>
                </a:solidFill>
                <a:latin typeface="Source Sans Pro" panose="020B0503030403020204" pitchFamily="34" charset="0"/>
              </a:rPr>
              <a:t>mehrere</a:t>
            </a:r>
            <a:r>
              <a:rPr lang="de-DE" sz="1400" dirty="0">
                <a:solidFill>
                  <a:srgbClr val="0071B2"/>
                </a:solidFill>
                <a:latin typeface="Source Sans Pro" panose="020B0503030403020204" pitchFamily="34" charset="0"/>
              </a:rPr>
              <a:t> Mitglieder sein. </a:t>
            </a:r>
            <a:endParaRPr lang="de-DE" sz="800" dirty="0">
              <a:solidFill>
                <a:srgbClr val="0071B2"/>
              </a:solidFill>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graphicFrame>
        <p:nvGraphicFramePr>
          <p:cNvPr id="2" name="Tabelle 1">
            <a:extLst>
              <a:ext uri="{FF2B5EF4-FFF2-40B4-BE49-F238E27FC236}">
                <a16:creationId xmlns:a16="http://schemas.microsoft.com/office/drawing/2014/main" id="{E47BA788-BC56-9412-BB13-47092339025A}"/>
              </a:ext>
            </a:extLst>
          </p:cNvPr>
          <p:cNvGraphicFramePr>
            <a:graphicFrameLocks noGrp="1"/>
          </p:cNvGraphicFramePr>
          <p:nvPr/>
        </p:nvGraphicFramePr>
        <p:xfrm>
          <a:off x="2378843" y="3963750"/>
          <a:ext cx="1957896" cy="1483360"/>
        </p:xfrm>
        <a:graphic>
          <a:graphicData uri="http://schemas.openxmlformats.org/drawingml/2006/table">
            <a:tbl>
              <a:tblPr firstRow="1" bandRow="1">
                <a:tableStyleId>{5C22544A-7EE6-4342-B048-85BDC9FD1C3A}</a:tableStyleId>
              </a:tblPr>
              <a:tblGrid>
                <a:gridCol w="1957896">
                  <a:extLst>
                    <a:ext uri="{9D8B030D-6E8A-4147-A177-3AD203B41FA5}">
                      <a16:colId xmlns:a16="http://schemas.microsoft.com/office/drawing/2014/main" val="4014580829"/>
                    </a:ext>
                  </a:extLst>
                </a:gridCol>
              </a:tblGrid>
              <a:tr h="370840">
                <a:tc>
                  <a:txBody>
                    <a:bodyPr/>
                    <a:lstStyle/>
                    <a:p>
                      <a:r>
                        <a:rPr lang="de-DE" dirty="0" err="1"/>
                        <a:t>Person_ID</a:t>
                      </a:r>
                      <a:endParaRPr lang="de-DE" dirty="0"/>
                    </a:p>
                  </a:txBody>
                  <a:tcPr/>
                </a:tc>
                <a:extLst>
                  <a:ext uri="{0D108BD9-81ED-4DB2-BD59-A6C34878D82A}">
                    <a16:rowId xmlns:a16="http://schemas.microsoft.com/office/drawing/2014/main" val="4235911520"/>
                  </a:ext>
                </a:extLst>
              </a:tr>
              <a:tr h="370840">
                <a:tc>
                  <a:txBody>
                    <a:bodyPr/>
                    <a:lstStyle/>
                    <a:p>
                      <a:r>
                        <a:rPr lang="de-DE" dirty="0"/>
                        <a:t>Vorname</a:t>
                      </a:r>
                    </a:p>
                  </a:txBody>
                  <a:tcPr/>
                </a:tc>
                <a:extLst>
                  <a:ext uri="{0D108BD9-81ED-4DB2-BD59-A6C34878D82A}">
                    <a16:rowId xmlns:a16="http://schemas.microsoft.com/office/drawing/2014/main" val="1684581590"/>
                  </a:ext>
                </a:extLst>
              </a:tr>
              <a:tr h="370840">
                <a:tc>
                  <a:txBody>
                    <a:bodyPr/>
                    <a:lstStyle/>
                    <a:p>
                      <a:r>
                        <a:rPr lang="de-DE" dirty="0"/>
                        <a:t>Nachname</a:t>
                      </a:r>
                    </a:p>
                  </a:txBody>
                  <a:tcPr/>
                </a:tc>
                <a:extLst>
                  <a:ext uri="{0D108BD9-81ED-4DB2-BD59-A6C34878D82A}">
                    <a16:rowId xmlns:a16="http://schemas.microsoft.com/office/drawing/2014/main" val="528400265"/>
                  </a:ext>
                </a:extLst>
              </a:tr>
              <a:tr h="370840">
                <a:tc>
                  <a:txBody>
                    <a:bodyPr/>
                    <a:lstStyle/>
                    <a:p>
                      <a:r>
                        <a:rPr lang="de-DE" dirty="0"/>
                        <a:t>Körpergröße in cm</a:t>
                      </a:r>
                    </a:p>
                  </a:txBody>
                  <a:tcPr/>
                </a:tc>
                <a:extLst>
                  <a:ext uri="{0D108BD9-81ED-4DB2-BD59-A6C34878D82A}">
                    <a16:rowId xmlns:a16="http://schemas.microsoft.com/office/drawing/2014/main" val="3316462644"/>
                  </a:ext>
                </a:extLst>
              </a:tr>
            </a:tbl>
          </a:graphicData>
        </a:graphic>
      </p:graphicFrame>
      <p:sp>
        <p:nvSpPr>
          <p:cNvPr id="3" name="Textfeld 2">
            <a:extLst>
              <a:ext uri="{FF2B5EF4-FFF2-40B4-BE49-F238E27FC236}">
                <a16:creationId xmlns:a16="http://schemas.microsoft.com/office/drawing/2014/main" id="{89685DA6-2659-862F-C3D9-334615C2C741}"/>
              </a:ext>
            </a:extLst>
          </p:cNvPr>
          <p:cNvSpPr txBox="1"/>
          <p:nvPr/>
        </p:nvSpPr>
        <p:spPr>
          <a:xfrm>
            <a:off x="2284701" y="3594418"/>
            <a:ext cx="823687" cy="369332"/>
          </a:xfrm>
          <a:prstGeom prst="rect">
            <a:avLst/>
          </a:prstGeom>
          <a:noFill/>
        </p:spPr>
        <p:txBody>
          <a:bodyPr wrap="none" rtlCol="0">
            <a:spAutoFit/>
          </a:bodyPr>
          <a:lstStyle/>
          <a:p>
            <a:r>
              <a:rPr lang="de-DE" dirty="0"/>
              <a:t>Person</a:t>
            </a:r>
          </a:p>
        </p:txBody>
      </p:sp>
      <p:graphicFrame>
        <p:nvGraphicFramePr>
          <p:cNvPr id="7" name="Tabelle 6">
            <a:extLst>
              <a:ext uri="{FF2B5EF4-FFF2-40B4-BE49-F238E27FC236}">
                <a16:creationId xmlns:a16="http://schemas.microsoft.com/office/drawing/2014/main" id="{428828B7-0197-99F3-9488-BE7ACD39144B}"/>
              </a:ext>
            </a:extLst>
          </p:cNvPr>
          <p:cNvGraphicFramePr>
            <a:graphicFrameLocks noGrp="1"/>
          </p:cNvGraphicFramePr>
          <p:nvPr>
            <p:extLst>
              <p:ext uri="{D42A27DB-BD31-4B8C-83A1-F6EECF244321}">
                <p14:modId xmlns:p14="http://schemas.microsoft.com/office/powerpoint/2010/main" val="4214423096"/>
              </p:ext>
            </p:extLst>
          </p:nvPr>
        </p:nvGraphicFramePr>
        <p:xfrm>
          <a:off x="6548355" y="3963750"/>
          <a:ext cx="1162368" cy="111252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4014580829"/>
                    </a:ext>
                  </a:extLst>
                </a:gridCol>
              </a:tblGrid>
              <a:tr h="370840">
                <a:tc>
                  <a:txBody>
                    <a:bodyPr/>
                    <a:lstStyle/>
                    <a:p>
                      <a:r>
                        <a:rPr lang="de-DE" dirty="0" err="1"/>
                        <a:t>Verein_ID</a:t>
                      </a:r>
                      <a:endParaRPr lang="de-DE" dirty="0"/>
                    </a:p>
                  </a:txBody>
                  <a:tcPr/>
                </a:tc>
                <a:extLst>
                  <a:ext uri="{0D108BD9-81ED-4DB2-BD59-A6C34878D82A}">
                    <a16:rowId xmlns:a16="http://schemas.microsoft.com/office/drawing/2014/main" val="4235911520"/>
                  </a:ext>
                </a:extLst>
              </a:tr>
              <a:tr h="370840">
                <a:tc>
                  <a:txBody>
                    <a:bodyPr/>
                    <a:lstStyle/>
                    <a:p>
                      <a:r>
                        <a:rPr lang="de-DE" dirty="0"/>
                        <a:t>Name</a:t>
                      </a:r>
                    </a:p>
                  </a:txBody>
                  <a:tcPr/>
                </a:tc>
                <a:extLst>
                  <a:ext uri="{0D108BD9-81ED-4DB2-BD59-A6C34878D82A}">
                    <a16:rowId xmlns:a16="http://schemas.microsoft.com/office/drawing/2014/main" val="1684581590"/>
                  </a:ext>
                </a:extLst>
              </a:tr>
              <a:tr h="370840">
                <a:tc>
                  <a:txBody>
                    <a:bodyPr/>
                    <a:lstStyle/>
                    <a:p>
                      <a:r>
                        <a:rPr lang="de-DE" dirty="0"/>
                        <a:t>Adresse</a:t>
                      </a:r>
                    </a:p>
                  </a:txBody>
                  <a:tcPr/>
                </a:tc>
                <a:extLst>
                  <a:ext uri="{0D108BD9-81ED-4DB2-BD59-A6C34878D82A}">
                    <a16:rowId xmlns:a16="http://schemas.microsoft.com/office/drawing/2014/main" val="528400265"/>
                  </a:ext>
                </a:extLst>
              </a:tr>
            </a:tbl>
          </a:graphicData>
        </a:graphic>
      </p:graphicFrame>
      <p:sp>
        <p:nvSpPr>
          <p:cNvPr id="8" name="Textfeld 7">
            <a:extLst>
              <a:ext uri="{FF2B5EF4-FFF2-40B4-BE49-F238E27FC236}">
                <a16:creationId xmlns:a16="http://schemas.microsoft.com/office/drawing/2014/main" id="{D800E5C4-F0CD-F93A-8FCC-CC9EFCA2C8DF}"/>
              </a:ext>
            </a:extLst>
          </p:cNvPr>
          <p:cNvSpPr txBox="1"/>
          <p:nvPr/>
        </p:nvSpPr>
        <p:spPr>
          <a:xfrm>
            <a:off x="6461195" y="3593989"/>
            <a:ext cx="787331" cy="369332"/>
          </a:xfrm>
          <a:prstGeom prst="rect">
            <a:avLst/>
          </a:prstGeom>
          <a:noFill/>
        </p:spPr>
        <p:txBody>
          <a:bodyPr wrap="none" rtlCol="0">
            <a:spAutoFit/>
          </a:bodyPr>
          <a:lstStyle/>
          <a:p>
            <a:r>
              <a:rPr lang="de-DE" dirty="0"/>
              <a:t>Verein</a:t>
            </a:r>
          </a:p>
        </p:txBody>
      </p:sp>
      <p:cxnSp>
        <p:nvCxnSpPr>
          <p:cNvPr id="9" name="Gerader Verbinder 8">
            <a:extLst>
              <a:ext uri="{FF2B5EF4-FFF2-40B4-BE49-F238E27FC236}">
                <a16:creationId xmlns:a16="http://schemas.microsoft.com/office/drawing/2014/main" id="{3D9D7761-54E6-AAF0-3436-C991E03D5393}"/>
              </a:ext>
            </a:extLst>
          </p:cNvPr>
          <p:cNvCxnSpPr/>
          <p:nvPr/>
        </p:nvCxnSpPr>
        <p:spPr>
          <a:xfrm>
            <a:off x="4336739" y="4320988"/>
            <a:ext cx="2211616"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2A3D7436-58C0-F4A8-2CA1-CD36C65B8009}"/>
              </a:ext>
            </a:extLst>
          </p:cNvPr>
          <p:cNvSpPr txBox="1"/>
          <p:nvPr/>
        </p:nvSpPr>
        <p:spPr>
          <a:xfrm>
            <a:off x="4813358" y="4043250"/>
            <a:ext cx="1148135" cy="276999"/>
          </a:xfrm>
          <a:prstGeom prst="rect">
            <a:avLst/>
          </a:prstGeom>
          <a:noFill/>
        </p:spPr>
        <p:txBody>
          <a:bodyPr wrap="none" rtlCol="0">
            <a:spAutoFit/>
          </a:bodyPr>
          <a:lstStyle/>
          <a:p>
            <a:r>
              <a:rPr lang="de-DE" sz="1200" dirty="0"/>
              <a:t>ist Mitglied von</a:t>
            </a:r>
          </a:p>
        </p:txBody>
      </p:sp>
      <p:sp>
        <p:nvSpPr>
          <p:cNvPr id="13" name="Textfeld 12">
            <a:extLst>
              <a:ext uri="{FF2B5EF4-FFF2-40B4-BE49-F238E27FC236}">
                <a16:creationId xmlns:a16="http://schemas.microsoft.com/office/drawing/2014/main" id="{6A5486DE-F43B-5007-CF26-902EF30A6C0E}"/>
              </a:ext>
            </a:extLst>
          </p:cNvPr>
          <p:cNvSpPr txBox="1"/>
          <p:nvPr/>
        </p:nvSpPr>
        <p:spPr>
          <a:xfrm>
            <a:off x="4273056" y="4275744"/>
            <a:ext cx="372218" cy="369332"/>
          </a:xfrm>
          <a:prstGeom prst="rect">
            <a:avLst/>
          </a:prstGeom>
          <a:noFill/>
        </p:spPr>
        <p:txBody>
          <a:bodyPr wrap="none" rtlCol="0">
            <a:spAutoFit/>
          </a:bodyPr>
          <a:lstStyle/>
          <a:p>
            <a:r>
              <a:rPr lang="de-DE" b="1" dirty="0">
                <a:solidFill>
                  <a:srgbClr val="FF0000"/>
                </a:solidFill>
              </a:rPr>
              <a:t>m</a:t>
            </a:r>
          </a:p>
        </p:txBody>
      </p:sp>
      <p:sp>
        <p:nvSpPr>
          <p:cNvPr id="14" name="Textfeld 13">
            <a:extLst>
              <a:ext uri="{FF2B5EF4-FFF2-40B4-BE49-F238E27FC236}">
                <a16:creationId xmlns:a16="http://schemas.microsoft.com/office/drawing/2014/main" id="{3417382B-0EDC-7337-88CC-2B4440814CAA}"/>
              </a:ext>
            </a:extLst>
          </p:cNvPr>
          <p:cNvSpPr txBox="1"/>
          <p:nvPr/>
        </p:nvSpPr>
        <p:spPr>
          <a:xfrm>
            <a:off x="6303940" y="4267436"/>
            <a:ext cx="308098" cy="369332"/>
          </a:xfrm>
          <a:prstGeom prst="rect">
            <a:avLst/>
          </a:prstGeom>
          <a:noFill/>
        </p:spPr>
        <p:txBody>
          <a:bodyPr wrap="none" rtlCol="0">
            <a:spAutoFit/>
          </a:bodyPr>
          <a:lstStyle/>
          <a:p>
            <a:r>
              <a:rPr lang="de-DE" b="1" dirty="0">
                <a:solidFill>
                  <a:srgbClr val="FF0000"/>
                </a:solidFill>
              </a:rPr>
              <a:t>n</a:t>
            </a:r>
          </a:p>
        </p:txBody>
      </p:sp>
    </p:spTree>
    <p:extLst>
      <p:ext uri="{BB962C8B-B14F-4D97-AF65-F5344CB8AC3E}">
        <p14:creationId xmlns:p14="http://schemas.microsoft.com/office/powerpoint/2010/main" val="230871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13"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Fremdschlüssel</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19524" y="1202400"/>
            <a:ext cx="10596558" cy="4893647"/>
          </a:xfrm>
          <a:prstGeom prst="rect">
            <a:avLst/>
          </a:prstGeom>
          <a:noFill/>
        </p:spPr>
        <p:txBody>
          <a:bodyPr wrap="square" rtlCol="0">
            <a:spAutoFit/>
          </a:bodyPr>
          <a:lstStyle/>
          <a:p>
            <a:pPr marL="342900" indent="-342900">
              <a:buFont typeface="Arial" panose="020B0604020202020204" pitchFamily="34" charset="0"/>
              <a:buChar char="•"/>
            </a:pPr>
            <a:r>
              <a:rPr lang="de-DE" sz="2000" noProof="0" dirty="0">
                <a:solidFill>
                  <a:srgbClr val="0071B2"/>
                </a:solidFill>
                <a:latin typeface="Source Sans Pro" panose="020B0503030403020204" pitchFamily="34" charset="0"/>
              </a:rPr>
              <a:t>Um eine Beziehung auch technisch umsetzen zu können, werden sogenannte </a:t>
            </a:r>
            <a:r>
              <a:rPr lang="de-DE" sz="2000" b="1" noProof="0" dirty="0">
                <a:solidFill>
                  <a:srgbClr val="0071B2"/>
                </a:solidFill>
                <a:latin typeface="Source Sans Pro" panose="020B0503030403020204" pitchFamily="34" charset="0"/>
              </a:rPr>
              <a:t>Fremdschlüssel</a:t>
            </a:r>
            <a:r>
              <a:rPr lang="de-DE" sz="2000" noProof="0" dirty="0">
                <a:solidFill>
                  <a:srgbClr val="0071B2"/>
                </a:solidFill>
                <a:latin typeface="Source Sans Pro" panose="020B0503030403020204" pitchFamily="34" charset="0"/>
              </a:rPr>
              <a:t> verwendet, mit denen wir den Bezug von einer Entität auf eine andere darstellen können. Erläuterung:</a:t>
            </a:r>
          </a:p>
          <a:p>
            <a:pPr marL="342900" indent="-342900">
              <a:buFont typeface="Arial" panose="020B0604020202020204" pitchFamily="34" charset="0"/>
              <a:buChar char="•"/>
            </a:pPr>
            <a:endParaRPr lang="de-DE" sz="2400" dirty="0">
              <a:solidFill>
                <a:srgbClr val="0071B2"/>
              </a:solidFill>
              <a:latin typeface="Source Sans Pro" panose="020B0503030403020204" pitchFamily="34" charset="0"/>
            </a:endParaRPr>
          </a:p>
          <a:p>
            <a:pPr marL="342900" indent="-342900">
              <a:buFont typeface="Arial" panose="020B0604020202020204" pitchFamily="34" charset="0"/>
              <a:buChar char="•"/>
            </a:pPr>
            <a:endParaRPr lang="de-DE" sz="2400" noProof="0" dirty="0">
              <a:solidFill>
                <a:srgbClr val="0071B2"/>
              </a:solidFill>
              <a:latin typeface="Source Sans Pro" panose="020B0503030403020204" pitchFamily="34" charset="0"/>
            </a:endParaRPr>
          </a:p>
          <a:p>
            <a:pPr marL="342900" indent="-342900">
              <a:buFont typeface="Arial" panose="020B0604020202020204" pitchFamily="34" charset="0"/>
              <a:buChar char="•"/>
            </a:pPr>
            <a:endParaRPr lang="de-DE" sz="2400" dirty="0">
              <a:solidFill>
                <a:srgbClr val="0071B2"/>
              </a:solidFill>
              <a:latin typeface="Source Sans Pro" panose="020B0503030403020204" pitchFamily="34" charset="0"/>
            </a:endParaRPr>
          </a:p>
          <a:p>
            <a:endParaRPr lang="de-DE" sz="2400" noProof="0" dirty="0">
              <a:solidFill>
                <a:srgbClr val="0071B2"/>
              </a:solidFill>
              <a:latin typeface="Source Sans Pro" panose="020B0503030403020204" pitchFamily="34" charset="0"/>
            </a:endParaRPr>
          </a:p>
          <a:p>
            <a:endParaRPr lang="de-DE" sz="800" noProof="0" dirty="0">
              <a:solidFill>
                <a:srgbClr val="0071B2"/>
              </a:solidFill>
              <a:latin typeface="Source Sans Pro" panose="020B0503030403020204" pitchFamily="34" charset="0"/>
            </a:endParaRPr>
          </a:p>
          <a:p>
            <a:pPr marL="342900" indent="-342900">
              <a:buFont typeface="Arial" panose="020B0604020202020204" pitchFamily="34" charset="0"/>
              <a:buChar char="•"/>
            </a:pPr>
            <a:endParaRPr lang="de-DE" sz="2400" dirty="0">
              <a:solidFill>
                <a:srgbClr val="0071B2"/>
              </a:solidFill>
              <a:latin typeface="Source Sans Pro" panose="020B0503030403020204" pitchFamily="34" charset="0"/>
            </a:endParaRPr>
          </a:p>
          <a:p>
            <a:pPr marL="342900" indent="-342900">
              <a:buFont typeface="Arial" panose="020B0604020202020204" pitchFamily="34" charset="0"/>
              <a:buChar char="•"/>
            </a:pPr>
            <a:endParaRPr lang="de-DE" sz="240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000" dirty="0">
                <a:solidFill>
                  <a:srgbClr val="0071B2"/>
                </a:solidFill>
                <a:latin typeface="Source Sans Pro" panose="020B0503030403020204" pitchFamily="34" charset="0"/>
              </a:rPr>
              <a:t>Die Frage, </a:t>
            </a:r>
            <a:r>
              <a:rPr lang="de-DE" sz="2000" b="1" dirty="0">
                <a:solidFill>
                  <a:srgbClr val="0071B2"/>
                </a:solidFill>
                <a:latin typeface="Source Sans Pro" panose="020B0503030403020204" pitchFamily="34" charset="0"/>
              </a:rPr>
              <a:t>„wo“ </a:t>
            </a:r>
            <a:r>
              <a:rPr lang="de-DE" sz="2000" dirty="0">
                <a:solidFill>
                  <a:srgbClr val="0071B2"/>
                </a:solidFill>
                <a:latin typeface="Source Sans Pro" panose="020B0503030403020204" pitchFamily="34" charset="0"/>
              </a:rPr>
              <a:t>der Fremdschlüssel notiert werden muss, kann allerdings nur beantwortet werden, wenn man den Beziehungs-Typ </a:t>
            </a:r>
            <a:r>
              <a:rPr lang="de-DE" dirty="0">
                <a:solidFill>
                  <a:srgbClr val="0071B2"/>
                </a:solidFill>
                <a:latin typeface="Source Sans Pro" panose="020B0503030403020204" pitchFamily="34" charset="0"/>
              </a:rPr>
              <a:t>(1:1, 1:n, oder m:n) </a:t>
            </a:r>
            <a:r>
              <a:rPr lang="de-DE" sz="2000" dirty="0">
                <a:solidFill>
                  <a:srgbClr val="0071B2"/>
                </a:solidFill>
                <a:latin typeface="Source Sans Pro" panose="020B0503030403020204" pitchFamily="34" charset="0"/>
              </a:rPr>
              <a:t>kennt.</a:t>
            </a:r>
          </a:p>
          <a:p>
            <a:endParaRPr lang="de-DE" sz="70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000" noProof="0" dirty="0">
                <a:solidFill>
                  <a:srgbClr val="0071B2"/>
                </a:solidFill>
                <a:latin typeface="Source Sans Pro" panose="020B0503030403020204" pitchFamily="34" charset="0"/>
              </a:rPr>
              <a:t>Wir betrachten im Folgenden die angesprochenen 3 Fälle:</a:t>
            </a:r>
            <a:endParaRPr lang="de-DE" sz="1200" noProof="0" dirty="0">
              <a:solidFill>
                <a:srgbClr val="0071B2"/>
              </a:solidFill>
              <a:latin typeface="Source Sans Pro" panose="020B0503030403020204" pitchFamily="34" charset="0"/>
            </a:endParaRPr>
          </a:p>
          <a:p>
            <a:pPr marL="342900" lvl="0" indent="-342900">
              <a:buFont typeface="Arial" panose="020B0604020202020204" pitchFamily="34" charset="0"/>
              <a:buChar cha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graphicFrame>
        <p:nvGraphicFramePr>
          <p:cNvPr id="15" name="Tabelle 14">
            <a:extLst>
              <a:ext uri="{FF2B5EF4-FFF2-40B4-BE49-F238E27FC236}">
                <a16:creationId xmlns:a16="http://schemas.microsoft.com/office/drawing/2014/main" id="{55036348-7730-8A98-38AA-7458AF55ECB9}"/>
              </a:ext>
            </a:extLst>
          </p:cNvPr>
          <p:cNvGraphicFramePr>
            <a:graphicFrameLocks noGrp="1"/>
          </p:cNvGraphicFramePr>
          <p:nvPr>
            <p:extLst>
              <p:ext uri="{D42A27DB-BD31-4B8C-83A1-F6EECF244321}">
                <p14:modId xmlns:p14="http://schemas.microsoft.com/office/powerpoint/2010/main" val="21220064"/>
              </p:ext>
            </p:extLst>
          </p:nvPr>
        </p:nvGraphicFramePr>
        <p:xfrm>
          <a:off x="6708334" y="2670298"/>
          <a:ext cx="3180444" cy="1645920"/>
        </p:xfrm>
        <a:graphic>
          <a:graphicData uri="http://schemas.openxmlformats.org/drawingml/2006/table">
            <a:tbl>
              <a:tblPr firstRow="1" bandRow="1">
                <a:tableStyleId>{5C22544A-7EE6-4342-B048-85BDC9FD1C3A}</a:tableStyleId>
              </a:tblPr>
              <a:tblGrid>
                <a:gridCol w="1035495">
                  <a:extLst>
                    <a:ext uri="{9D8B030D-6E8A-4147-A177-3AD203B41FA5}">
                      <a16:colId xmlns:a16="http://schemas.microsoft.com/office/drawing/2014/main" val="575160789"/>
                    </a:ext>
                  </a:extLst>
                </a:gridCol>
                <a:gridCol w="836860">
                  <a:extLst>
                    <a:ext uri="{9D8B030D-6E8A-4147-A177-3AD203B41FA5}">
                      <a16:colId xmlns:a16="http://schemas.microsoft.com/office/drawing/2014/main" val="897148854"/>
                    </a:ext>
                  </a:extLst>
                </a:gridCol>
                <a:gridCol w="798020">
                  <a:extLst>
                    <a:ext uri="{9D8B030D-6E8A-4147-A177-3AD203B41FA5}">
                      <a16:colId xmlns:a16="http://schemas.microsoft.com/office/drawing/2014/main" val="1250397250"/>
                    </a:ext>
                  </a:extLst>
                </a:gridCol>
                <a:gridCol w="510069">
                  <a:extLst>
                    <a:ext uri="{9D8B030D-6E8A-4147-A177-3AD203B41FA5}">
                      <a16:colId xmlns:a16="http://schemas.microsoft.com/office/drawing/2014/main" val="2136345382"/>
                    </a:ext>
                  </a:extLst>
                </a:gridCol>
              </a:tblGrid>
              <a:tr h="251749">
                <a:tc>
                  <a:txBody>
                    <a:bodyPr/>
                    <a:lstStyle/>
                    <a:p>
                      <a:r>
                        <a:rPr lang="de-DE" sz="1200" dirty="0"/>
                        <a:t>Auto_ID (PK)</a:t>
                      </a:r>
                    </a:p>
                  </a:txBody>
                  <a:tcPr/>
                </a:tc>
                <a:tc>
                  <a:txBody>
                    <a:bodyPr/>
                    <a:lstStyle/>
                    <a:p>
                      <a:r>
                        <a:rPr lang="de-DE" sz="1200" b="1" dirty="0">
                          <a:solidFill>
                            <a:schemeClr val="accent2"/>
                          </a:solidFill>
                        </a:rPr>
                        <a:t>Person_ID</a:t>
                      </a:r>
                    </a:p>
                  </a:txBody>
                  <a:tcPr/>
                </a:tc>
                <a:tc>
                  <a:txBody>
                    <a:bodyPr/>
                    <a:lstStyle/>
                    <a:p>
                      <a:r>
                        <a:rPr lang="de-DE" sz="1200" dirty="0"/>
                        <a:t>Marke</a:t>
                      </a:r>
                    </a:p>
                  </a:txBody>
                  <a:tcPr/>
                </a:tc>
                <a:tc>
                  <a:txBody>
                    <a:bodyPr/>
                    <a:lstStyle/>
                    <a:p>
                      <a:r>
                        <a:rPr lang="de-DE" sz="1200" dirty="0"/>
                        <a:t>PS</a:t>
                      </a:r>
                    </a:p>
                  </a:txBody>
                  <a:tcPr/>
                </a:tc>
                <a:extLst>
                  <a:ext uri="{0D108BD9-81ED-4DB2-BD59-A6C34878D82A}">
                    <a16:rowId xmlns:a16="http://schemas.microsoft.com/office/drawing/2014/main" val="222390635"/>
                  </a:ext>
                </a:extLst>
              </a:tr>
              <a:tr h="251749">
                <a:tc>
                  <a:txBody>
                    <a:bodyPr/>
                    <a:lstStyle/>
                    <a:p>
                      <a:r>
                        <a:rPr lang="de-DE" sz="1200" dirty="0"/>
                        <a:t>1</a:t>
                      </a:r>
                    </a:p>
                  </a:txBody>
                  <a:tcPr/>
                </a:tc>
                <a:tc>
                  <a:txBody>
                    <a:bodyPr/>
                    <a:lstStyle/>
                    <a:p>
                      <a:r>
                        <a:rPr lang="de-DE" sz="1200" b="1" dirty="0">
                          <a:solidFill>
                            <a:schemeClr val="accent2"/>
                          </a:solidFill>
                        </a:rPr>
                        <a:t>3</a:t>
                      </a:r>
                    </a:p>
                  </a:txBody>
                  <a:tcPr/>
                </a:tc>
                <a:tc>
                  <a:txBody>
                    <a:bodyPr/>
                    <a:lstStyle/>
                    <a:p>
                      <a:r>
                        <a:rPr lang="de-DE" sz="1200" dirty="0"/>
                        <a:t>Audi</a:t>
                      </a:r>
                    </a:p>
                  </a:txBody>
                  <a:tcPr/>
                </a:tc>
                <a:tc>
                  <a:txBody>
                    <a:bodyPr/>
                    <a:lstStyle/>
                    <a:p>
                      <a:r>
                        <a:rPr lang="de-DE" sz="1200" dirty="0"/>
                        <a:t>50</a:t>
                      </a:r>
                    </a:p>
                  </a:txBody>
                  <a:tcPr/>
                </a:tc>
                <a:extLst>
                  <a:ext uri="{0D108BD9-81ED-4DB2-BD59-A6C34878D82A}">
                    <a16:rowId xmlns:a16="http://schemas.microsoft.com/office/drawing/2014/main" val="1244206545"/>
                  </a:ext>
                </a:extLst>
              </a:tr>
              <a:tr h="251749">
                <a:tc>
                  <a:txBody>
                    <a:bodyPr/>
                    <a:lstStyle/>
                    <a:p>
                      <a:r>
                        <a:rPr lang="de-DE" sz="1200" dirty="0"/>
                        <a:t>2</a:t>
                      </a:r>
                    </a:p>
                  </a:txBody>
                  <a:tcPr/>
                </a:tc>
                <a:tc>
                  <a:txBody>
                    <a:bodyPr/>
                    <a:lstStyle/>
                    <a:p>
                      <a:r>
                        <a:rPr lang="de-DE" sz="1200" b="1" dirty="0">
                          <a:solidFill>
                            <a:schemeClr val="accent2"/>
                          </a:solidFill>
                        </a:rPr>
                        <a:t>3</a:t>
                      </a:r>
                    </a:p>
                  </a:txBody>
                  <a:tcPr/>
                </a:tc>
                <a:tc>
                  <a:txBody>
                    <a:bodyPr/>
                    <a:lstStyle/>
                    <a:p>
                      <a:r>
                        <a:rPr lang="de-DE" sz="1200" dirty="0"/>
                        <a:t>Porsche</a:t>
                      </a:r>
                    </a:p>
                  </a:txBody>
                  <a:tcPr/>
                </a:tc>
                <a:tc>
                  <a:txBody>
                    <a:bodyPr/>
                    <a:lstStyle/>
                    <a:p>
                      <a:r>
                        <a:rPr lang="de-DE" sz="1200" dirty="0"/>
                        <a:t>200</a:t>
                      </a:r>
                    </a:p>
                  </a:txBody>
                  <a:tcPr/>
                </a:tc>
                <a:extLst>
                  <a:ext uri="{0D108BD9-81ED-4DB2-BD59-A6C34878D82A}">
                    <a16:rowId xmlns:a16="http://schemas.microsoft.com/office/drawing/2014/main" val="788923964"/>
                  </a:ext>
                </a:extLst>
              </a:tr>
              <a:tr h="251749">
                <a:tc>
                  <a:txBody>
                    <a:bodyPr/>
                    <a:lstStyle/>
                    <a:p>
                      <a:r>
                        <a:rPr lang="de-DE" sz="1200" dirty="0"/>
                        <a:t>3</a:t>
                      </a:r>
                    </a:p>
                  </a:txBody>
                  <a:tcPr/>
                </a:tc>
                <a:tc>
                  <a:txBody>
                    <a:bodyPr/>
                    <a:lstStyle/>
                    <a:p>
                      <a:r>
                        <a:rPr lang="de-DE" sz="1200" b="1" dirty="0">
                          <a:solidFill>
                            <a:schemeClr val="accent2"/>
                          </a:solidFill>
                        </a:rPr>
                        <a:t>NULL</a:t>
                      </a:r>
                    </a:p>
                  </a:txBody>
                  <a:tcPr/>
                </a:tc>
                <a:tc>
                  <a:txBody>
                    <a:bodyPr/>
                    <a:lstStyle/>
                    <a:p>
                      <a:r>
                        <a:rPr lang="de-DE" sz="1200" dirty="0"/>
                        <a:t>Schrotty</a:t>
                      </a:r>
                    </a:p>
                  </a:txBody>
                  <a:tcPr/>
                </a:tc>
                <a:tc>
                  <a:txBody>
                    <a:bodyPr/>
                    <a:lstStyle/>
                    <a:p>
                      <a:r>
                        <a:rPr lang="de-DE" sz="1200" dirty="0"/>
                        <a:t>0</a:t>
                      </a:r>
                    </a:p>
                  </a:txBody>
                  <a:tcPr/>
                </a:tc>
                <a:extLst>
                  <a:ext uri="{0D108BD9-81ED-4DB2-BD59-A6C34878D82A}">
                    <a16:rowId xmlns:a16="http://schemas.microsoft.com/office/drawing/2014/main" val="1024814567"/>
                  </a:ext>
                </a:extLst>
              </a:tr>
              <a:tr h="251749">
                <a:tc>
                  <a:txBody>
                    <a:bodyPr/>
                    <a:lstStyle/>
                    <a:p>
                      <a:r>
                        <a:rPr lang="de-DE" sz="1200" dirty="0"/>
                        <a:t>4</a:t>
                      </a:r>
                    </a:p>
                  </a:txBody>
                  <a:tcPr/>
                </a:tc>
                <a:tc>
                  <a:txBody>
                    <a:bodyPr/>
                    <a:lstStyle/>
                    <a:p>
                      <a:r>
                        <a:rPr lang="de-DE" sz="1200" b="1" dirty="0">
                          <a:solidFill>
                            <a:schemeClr val="accent2"/>
                          </a:solidFill>
                        </a:rPr>
                        <a:t>1</a:t>
                      </a:r>
                    </a:p>
                  </a:txBody>
                  <a:tcPr/>
                </a:tc>
                <a:tc>
                  <a:txBody>
                    <a:bodyPr/>
                    <a:lstStyle/>
                    <a:p>
                      <a:r>
                        <a:rPr lang="de-DE" sz="1200" dirty="0"/>
                        <a:t>Volvo</a:t>
                      </a:r>
                    </a:p>
                  </a:txBody>
                  <a:tcPr/>
                </a:tc>
                <a:tc>
                  <a:txBody>
                    <a:bodyPr/>
                    <a:lstStyle/>
                    <a:p>
                      <a:r>
                        <a:rPr lang="de-DE" sz="1200" dirty="0"/>
                        <a:t>80</a:t>
                      </a:r>
                    </a:p>
                  </a:txBody>
                  <a:tcPr/>
                </a:tc>
                <a:extLst>
                  <a:ext uri="{0D108BD9-81ED-4DB2-BD59-A6C34878D82A}">
                    <a16:rowId xmlns:a16="http://schemas.microsoft.com/office/drawing/2014/main" val="3029020167"/>
                  </a:ext>
                </a:extLst>
              </a:tr>
              <a:tr h="251749">
                <a:tc>
                  <a:txBody>
                    <a:bodyPr/>
                    <a:lstStyle/>
                    <a:p>
                      <a:r>
                        <a:rPr lang="de-DE" sz="1200" dirty="0"/>
                        <a:t>5</a:t>
                      </a:r>
                    </a:p>
                  </a:txBody>
                  <a:tcPr/>
                </a:tc>
                <a:tc>
                  <a:txBody>
                    <a:bodyPr/>
                    <a:lstStyle/>
                    <a:p>
                      <a:r>
                        <a:rPr lang="de-DE" sz="1200" b="1" dirty="0">
                          <a:solidFill>
                            <a:schemeClr val="accent2"/>
                          </a:solidFill>
                        </a:rPr>
                        <a:t>4</a:t>
                      </a:r>
                    </a:p>
                  </a:txBody>
                  <a:tcPr/>
                </a:tc>
                <a:tc>
                  <a:txBody>
                    <a:bodyPr/>
                    <a:lstStyle/>
                    <a:p>
                      <a:r>
                        <a:rPr lang="de-DE" sz="1200" dirty="0"/>
                        <a:t>Peugeot</a:t>
                      </a:r>
                    </a:p>
                  </a:txBody>
                  <a:tcPr/>
                </a:tc>
                <a:tc>
                  <a:txBody>
                    <a:bodyPr/>
                    <a:lstStyle/>
                    <a:p>
                      <a:r>
                        <a:rPr lang="de-DE" sz="1200" dirty="0"/>
                        <a:t>60</a:t>
                      </a:r>
                    </a:p>
                  </a:txBody>
                  <a:tcPr/>
                </a:tc>
                <a:extLst>
                  <a:ext uri="{0D108BD9-81ED-4DB2-BD59-A6C34878D82A}">
                    <a16:rowId xmlns:a16="http://schemas.microsoft.com/office/drawing/2014/main" val="740436797"/>
                  </a:ext>
                </a:extLst>
              </a:tr>
            </a:tbl>
          </a:graphicData>
        </a:graphic>
      </p:graphicFrame>
      <p:graphicFrame>
        <p:nvGraphicFramePr>
          <p:cNvPr id="16" name="Tabelle 15">
            <a:extLst>
              <a:ext uri="{FF2B5EF4-FFF2-40B4-BE49-F238E27FC236}">
                <a16:creationId xmlns:a16="http://schemas.microsoft.com/office/drawing/2014/main" id="{7A9F19D9-A6DC-9F2E-360C-FC787B568BCD}"/>
              </a:ext>
            </a:extLst>
          </p:cNvPr>
          <p:cNvGraphicFramePr>
            <a:graphicFrameLocks noGrp="1"/>
          </p:cNvGraphicFramePr>
          <p:nvPr>
            <p:extLst>
              <p:ext uri="{D42A27DB-BD31-4B8C-83A1-F6EECF244321}">
                <p14:modId xmlns:p14="http://schemas.microsoft.com/office/powerpoint/2010/main" val="70789631"/>
              </p:ext>
            </p:extLst>
          </p:nvPr>
        </p:nvGraphicFramePr>
        <p:xfrm>
          <a:off x="2076150" y="2658070"/>
          <a:ext cx="2850802" cy="1371600"/>
        </p:xfrm>
        <a:graphic>
          <a:graphicData uri="http://schemas.openxmlformats.org/drawingml/2006/table">
            <a:tbl>
              <a:tblPr firstRow="1" bandRow="1">
                <a:tableStyleId>{5C22544A-7EE6-4342-B048-85BDC9FD1C3A}</a:tableStyleId>
              </a:tblPr>
              <a:tblGrid>
                <a:gridCol w="1159637">
                  <a:extLst>
                    <a:ext uri="{9D8B030D-6E8A-4147-A177-3AD203B41FA5}">
                      <a16:colId xmlns:a16="http://schemas.microsoft.com/office/drawing/2014/main" val="897148854"/>
                    </a:ext>
                  </a:extLst>
                </a:gridCol>
                <a:gridCol w="794957">
                  <a:extLst>
                    <a:ext uri="{9D8B030D-6E8A-4147-A177-3AD203B41FA5}">
                      <a16:colId xmlns:a16="http://schemas.microsoft.com/office/drawing/2014/main" val="1250397250"/>
                    </a:ext>
                  </a:extLst>
                </a:gridCol>
                <a:gridCol w="896208">
                  <a:extLst>
                    <a:ext uri="{9D8B030D-6E8A-4147-A177-3AD203B41FA5}">
                      <a16:colId xmlns:a16="http://schemas.microsoft.com/office/drawing/2014/main" val="2136345382"/>
                    </a:ext>
                  </a:extLst>
                </a:gridCol>
              </a:tblGrid>
              <a:tr h="251749">
                <a:tc>
                  <a:txBody>
                    <a:bodyPr/>
                    <a:lstStyle/>
                    <a:p>
                      <a:r>
                        <a:rPr lang="de-DE" sz="1200" b="1" dirty="0">
                          <a:solidFill>
                            <a:schemeClr val="bg1"/>
                          </a:solidFill>
                        </a:rPr>
                        <a:t>Person_ID (PK)</a:t>
                      </a:r>
                    </a:p>
                  </a:txBody>
                  <a:tcPr/>
                </a:tc>
                <a:tc>
                  <a:txBody>
                    <a:bodyPr/>
                    <a:lstStyle/>
                    <a:p>
                      <a:r>
                        <a:rPr lang="de-DE" sz="1200" dirty="0"/>
                        <a:t>Vorname</a:t>
                      </a:r>
                    </a:p>
                  </a:txBody>
                  <a:tcPr/>
                </a:tc>
                <a:tc>
                  <a:txBody>
                    <a:bodyPr/>
                    <a:lstStyle/>
                    <a:p>
                      <a:r>
                        <a:rPr lang="de-DE" sz="1200" dirty="0"/>
                        <a:t>Nachname</a:t>
                      </a:r>
                    </a:p>
                  </a:txBody>
                  <a:tcPr/>
                </a:tc>
                <a:extLst>
                  <a:ext uri="{0D108BD9-81ED-4DB2-BD59-A6C34878D82A}">
                    <a16:rowId xmlns:a16="http://schemas.microsoft.com/office/drawing/2014/main" val="222390635"/>
                  </a:ext>
                </a:extLst>
              </a:tr>
              <a:tr h="251749">
                <a:tc>
                  <a:txBody>
                    <a:bodyPr/>
                    <a:lstStyle/>
                    <a:p>
                      <a:r>
                        <a:rPr lang="de-DE" sz="1200" b="1" dirty="0">
                          <a:solidFill>
                            <a:schemeClr val="tx1"/>
                          </a:solidFill>
                        </a:rPr>
                        <a:t>1</a:t>
                      </a:r>
                    </a:p>
                  </a:txBody>
                  <a:tcPr/>
                </a:tc>
                <a:tc>
                  <a:txBody>
                    <a:bodyPr/>
                    <a:lstStyle/>
                    <a:p>
                      <a:r>
                        <a:rPr lang="de-DE" sz="1200" dirty="0"/>
                        <a:t>Klaus</a:t>
                      </a:r>
                    </a:p>
                  </a:txBody>
                  <a:tcPr/>
                </a:tc>
                <a:tc>
                  <a:txBody>
                    <a:bodyPr/>
                    <a:lstStyle/>
                    <a:p>
                      <a:r>
                        <a:rPr lang="de-DE" sz="1200" dirty="0"/>
                        <a:t>Müller</a:t>
                      </a:r>
                    </a:p>
                  </a:txBody>
                  <a:tcPr/>
                </a:tc>
                <a:extLst>
                  <a:ext uri="{0D108BD9-81ED-4DB2-BD59-A6C34878D82A}">
                    <a16:rowId xmlns:a16="http://schemas.microsoft.com/office/drawing/2014/main" val="1244206545"/>
                  </a:ext>
                </a:extLst>
              </a:tr>
              <a:tr h="251749">
                <a:tc>
                  <a:txBody>
                    <a:bodyPr/>
                    <a:lstStyle/>
                    <a:p>
                      <a:r>
                        <a:rPr lang="de-DE" sz="1200" b="1" dirty="0">
                          <a:solidFill>
                            <a:schemeClr val="tx1"/>
                          </a:solidFill>
                        </a:rPr>
                        <a:t>2</a:t>
                      </a:r>
                    </a:p>
                  </a:txBody>
                  <a:tcPr/>
                </a:tc>
                <a:tc>
                  <a:txBody>
                    <a:bodyPr/>
                    <a:lstStyle/>
                    <a:p>
                      <a:r>
                        <a:rPr lang="de-DE" sz="1200" dirty="0"/>
                        <a:t>Hans</a:t>
                      </a:r>
                    </a:p>
                  </a:txBody>
                  <a:tcPr/>
                </a:tc>
                <a:tc>
                  <a:txBody>
                    <a:bodyPr/>
                    <a:lstStyle/>
                    <a:p>
                      <a:r>
                        <a:rPr lang="de-DE" sz="1200" dirty="0"/>
                        <a:t>Hatnix</a:t>
                      </a:r>
                    </a:p>
                  </a:txBody>
                  <a:tcPr/>
                </a:tc>
                <a:extLst>
                  <a:ext uri="{0D108BD9-81ED-4DB2-BD59-A6C34878D82A}">
                    <a16:rowId xmlns:a16="http://schemas.microsoft.com/office/drawing/2014/main" val="821667300"/>
                  </a:ext>
                </a:extLst>
              </a:tr>
              <a:tr h="251749">
                <a:tc>
                  <a:txBody>
                    <a:bodyPr/>
                    <a:lstStyle/>
                    <a:p>
                      <a:r>
                        <a:rPr lang="de-DE" sz="1200" b="1" dirty="0">
                          <a:solidFill>
                            <a:schemeClr val="tx1"/>
                          </a:solidFill>
                        </a:rPr>
                        <a:t>3</a:t>
                      </a:r>
                    </a:p>
                  </a:txBody>
                  <a:tcPr/>
                </a:tc>
                <a:tc>
                  <a:txBody>
                    <a:bodyPr/>
                    <a:lstStyle/>
                    <a:p>
                      <a:r>
                        <a:rPr lang="de-DE" sz="1200" dirty="0"/>
                        <a:t>Petra</a:t>
                      </a:r>
                    </a:p>
                  </a:txBody>
                  <a:tcPr/>
                </a:tc>
                <a:tc>
                  <a:txBody>
                    <a:bodyPr/>
                    <a:lstStyle/>
                    <a:p>
                      <a:r>
                        <a:rPr lang="de-DE" sz="1200" dirty="0"/>
                        <a:t>Bayram</a:t>
                      </a:r>
                    </a:p>
                  </a:txBody>
                  <a:tcPr/>
                </a:tc>
                <a:extLst>
                  <a:ext uri="{0D108BD9-81ED-4DB2-BD59-A6C34878D82A}">
                    <a16:rowId xmlns:a16="http://schemas.microsoft.com/office/drawing/2014/main" val="788923964"/>
                  </a:ext>
                </a:extLst>
              </a:tr>
              <a:tr h="251749">
                <a:tc>
                  <a:txBody>
                    <a:bodyPr/>
                    <a:lstStyle/>
                    <a:p>
                      <a:r>
                        <a:rPr lang="de-DE" sz="1200" b="1" dirty="0">
                          <a:solidFill>
                            <a:schemeClr val="tx1"/>
                          </a:solidFill>
                        </a:rPr>
                        <a:t>4</a:t>
                      </a:r>
                    </a:p>
                  </a:txBody>
                  <a:tcPr/>
                </a:tc>
                <a:tc>
                  <a:txBody>
                    <a:bodyPr/>
                    <a:lstStyle/>
                    <a:p>
                      <a:r>
                        <a:rPr lang="de-DE" sz="1200" dirty="0"/>
                        <a:t>Sören</a:t>
                      </a:r>
                    </a:p>
                  </a:txBody>
                  <a:tcPr/>
                </a:tc>
                <a:tc>
                  <a:txBody>
                    <a:bodyPr/>
                    <a:lstStyle/>
                    <a:p>
                      <a:r>
                        <a:rPr lang="de-DE" sz="1200" dirty="0"/>
                        <a:t>Anderson</a:t>
                      </a:r>
                    </a:p>
                  </a:txBody>
                  <a:tcPr/>
                </a:tc>
                <a:extLst>
                  <a:ext uri="{0D108BD9-81ED-4DB2-BD59-A6C34878D82A}">
                    <a16:rowId xmlns:a16="http://schemas.microsoft.com/office/drawing/2014/main" val="3029020167"/>
                  </a:ext>
                </a:extLst>
              </a:tr>
            </a:tbl>
          </a:graphicData>
        </a:graphic>
      </p:graphicFrame>
      <p:cxnSp>
        <p:nvCxnSpPr>
          <p:cNvPr id="17" name="Gerader Verbinder 16">
            <a:extLst>
              <a:ext uri="{FF2B5EF4-FFF2-40B4-BE49-F238E27FC236}">
                <a16:creationId xmlns:a16="http://schemas.microsoft.com/office/drawing/2014/main" id="{3D5ABB09-80D1-CC2E-9F85-79AA45AAD684}"/>
              </a:ext>
            </a:extLst>
          </p:cNvPr>
          <p:cNvCxnSpPr/>
          <p:nvPr/>
        </p:nvCxnSpPr>
        <p:spPr>
          <a:xfrm>
            <a:off x="4926952" y="2808796"/>
            <a:ext cx="178138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8" name="Textfeld 17">
            <a:extLst>
              <a:ext uri="{FF2B5EF4-FFF2-40B4-BE49-F238E27FC236}">
                <a16:creationId xmlns:a16="http://schemas.microsoft.com/office/drawing/2014/main" id="{53E7B818-98DE-F4F6-04C4-A4FC56E96243}"/>
              </a:ext>
            </a:extLst>
          </p:cNvPr>
          <p:cNvSpPr txBox="1"/>
          <p:nvPr/>
        </p:nvSpPr>
        <p:spPr>
          <a:xfrm>
            <a:off x="5150861" y="2558644"/>
            <a:ext cx="1352230" cy="276999"/>
          </a:xfrm>
          <a:prstGeom prst="rect">
            <a:avLst/>
          </a:prstGeom>
          <a:noFill/>
        </p:spPr>
        <p:txBody>
          <a:bodyPr wrap="none" rtlCol="0">
            <a:spAutoFit/>
          </a:bodyPr>
          <a:lstStyle/>
          <a:p>
            <a:r>
              <a:rPr lang="de-DE" sz="1200" dirty="0"/>
              <a:t>ist Eigentümer von</a:t>
            </a:r>
          </a:p>
        </p:txBody>
      </p:sp>
      <p:sp>
        <p:nvSpPr>
          <p:cNvPr id="19" name="Rechteck 18">
            <a:extLst>
              <a:ext uri="{FF2B5EF4-FFF2-40B4-BE49-F238E27FC236}">
                <a16:creationId xmlns:a16="http://schemas.microsoft.com/office/drawing/2014/main" id="{6BFBB9B2-CC1F-8241-10E7-A52C122DD78A}"/>
              </a:ext>
            </a:extLst>
          </p:cNvPr>
          <p:cNvSpPr/>
          <p:nvPr/>
        </p:nvSpPr>
        <p:spPr>
          <a:xfrm>
            <a:off x="2072319" y="2658070"/>
            <a:ext cx="1178465" cy="1351255"/>
          </a:xfrm>
          <a:prstGeom prst="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0" name="Textfeld 19">
            <a:extLst>
              <a:ext uri="{FF2B5EF4-FFF2-40B4-BE49-F238E27FC236}">
                <a16:creationId xmlns:a16="http://schemas.microsoft.com/office/drawing/2014/main" id="{4CE1FCF6-0EED-527D-3ADA-7652F210B0DC}"/>
              </a:ext>
            </a:extLst>
          </p:cNvPr>
          <p:cNvSpPr txBox="1"/>
          <p:nvPr/>
        </p:nvSpPr>
        <p:spPr>
          <a:xfrm>
            <a:off x="2126777" y="2389367"/>
            <a:ext cx="1416926" cy="307777"/>
          </a:xfrm>
          <a:prstGeom prst="rect">
            <a:avLst/>
          </a:prstGeom>
          <a:noFill/>
        </p:spPr>
        <p:txBody>
          <a:bodyPr wrap="none" rtlCol="0">
            <a:spAutoFit/>
          </a:bodyPr>
          <a:lstStyle/>
          <a:p>
            <a:r>
              <a:rPr lang="de-DE" sz="1400" b="1" dirty="0">
                <a:solidFill>
                  <a:schemeClr val="bg2">
                    <a:lumMod val="75000"/>
                  </a:schemeClr>
                </a:solidFill>
              </a:rPr>
              <a:t>Tabelle „Person“</a:t>
            </a:r>
          </a:p>
        </p:txBody>
      </p:sp>
      <p:sp>
        <p:nvSpPr>
          <p:cNvPr id="21" name="Textfeld 20">
            <a:extLst>
              <a:ext uri="{FF2B5EF4-FFF2-40B4-BE49-F238E27FC236}">
                <a16:creationId xmlns:a16="http://schemas.microsoft.com/office/drawing/2014/main" id="{4908D0E7-488F-8BDD-9C66-11F82D287408}"/>
              </a:ext>
            </a:extLst>
          </p:cNvPr>
          <p:cNvSpPr txBox="1"/>
          <p:nvPr/>
        </p:nvSpPr>
        <p:spPr>
          <a:xfrm>
            <a:off x="6573845" y="2391420"/>
            <a:ext cx="1275286" cy="307777"/>
          </a:xfrm>
          <a:prstGeom prst="rect">
            <a:avLst/>
          </a:prstGeom>
          <a:noFill/>
        </p:spPr>
        <p:txBody>
          <a:bodyPr wrap="none" rtlCol="0">
            <a:spAutoFit/>
          </a:bodyPr>
          <a:lstStyle/>
          <a:p>
            <a:r>
              <a:rPr lang="de-DE" sz="1400" b="1" dirty="0">
                <a:solidFill>
                  <a:schemeClr val="bg2">
                    <a:lumMod val="75000"/>
                  </a:schemeClr>
                </a:solidFill>
              </a:rPr>
              <a:t>Tabelle „Auto“</a:t>
            </a:r>
          </a:p>
        </p:txBody>
      </p:sp>
      <p:sp>
        <p:nvSpPr>
          <p:cNvPr id="22" name="Textfeld 21">
            <a:extLst>
              <a:ext uri="{FF2B5EF4-FFF2-40B4-BE49-F238E27FC236}">
                <a16:creationId xmlns:a16="http://schemas.microsoft.com/office/drawing/2014/main" id="{AA94324D-6DB1-769B-4CFA-A3145946006F}"/>
              </a:ext>
            </a:extLst>
          </p:cNvPr>
          <p:cNvSpPr txBox="1"/>
          <p:nvPr/>
        </p:nvSpPr>
        <p:spPr>
          <a:xfrm>
            <a:off x="2152406" y="3982235"/>
            <a:ext cx="1098378" cy="261610"/>
          </a:xfrm>
          <a:prstGeom prst="rect">
            <a:avLst/>
          </a:prstGeom>
          <a:noFill/>
        </p:spPr>
        <p:txBody>
          <a:bodyPr wrap="none" rtlCol="0">
            <a:spAutoFit/>
          </a:bodyPr>
          <a:lstStyle/>
          <a:p>
            <a:r>
              <a:rPr lang="de-DE" sz="1100" b="1" dirty="0"/>
              <a:t>Primärschlüssel</a:t>
            </a:r>
          </a:p>
        </p:txBody>
      </p:sp>
      <p:sp>
        <p:nvSpPr>
          <p:cNvPr id="23" name="Textfeld 22">
            <a:extLst>
              <a:ext uri="{FF2B5EF4-FFF2-40B4-BE49-F238E27FC236}">
                <a16:creationId xmlns:a16="http://schemas.microsoft.com/office/drawing/2014/main" id="{F2324550-0A24-0462-3EC6-E9D4AC63687E}"/>
              </a:ext>
            </a:extLst>
          </p:cNvPr>
          <p:cNvSpPr txBox="1"/>
          <p:nvPr/>
        </p:nvSpPr>
        <p:spPr>
          <a:xfrm>
            <a:off x="7635884" y="4294058"/>
            <a:ext cx="1111202" cy="261610"/>
          </a:xfrm>
          <a:prstGeom prst="rect">
            <a:avLst/>
          </a:prstGeom>
          <a:noFill/>
        </p:spPr>
        <p:txBody>
          <a:bodyPr wrap="none" rtlCol="0">
            <a:spAutoFit/>
          </a:bodyPr>
          <a:lstStyle/>
          <a:p>
            <a:r>
              <a:rPr lang="de-DE" sz="1100" b="1" dirty="0">
                <a:solidFill>
                  <a:schemeClr val="accent2"/>
                </a:solidFill>
              </a:rPr>
              <a:t> Fremdschlüssel</a:t>
            </a:r>
          </a:p>
        </p:txBody>
      </p:sp>
      <p:sp>
        <p:nvSpPr>
          <p:cNvPr id="24" name="Rechteck 23">
            <a:extLst>
              <a:ext uri="{FF2B5EF4-FFF2-40B4-BE49-F238E27FC236}">
                <a16:creationId xmlns:a16="http://schemas.microsoft.com/office/drawing/2014/main" id="{B9E20F5D-940B-B321-DCB2-F8F70C2A97C4}"/>
              </a:ext>
            </a:extLst>
          </p:cNvPr>
          <p:cNvSpPr/>
          <p:nvPr/>
        </p:nvSpPr>
        <p:spPr>
          <a:xfrm>
            <a:off x="7750267" y="2658070"/>
            <a:ext cx="850377" cy="1645920"/>
          </a:xfrm>
          <a:prstGeom prst="rect">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471597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P spid="20" grpId="0"/>
      <p:bldP spid="21" grpId="0"/>
      <p:bldP spid="22" grpId="0"/>
      <p:bldP spid="23" grpId="0"/>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150705" cy="720725"/>
          </a:xfrm>
        </p:spPr>
        <p:txBody>
          <a:bodyPr>
            <a:normAutofit/>
          </a:bodyPr>
          <a:lstStyle/>
          <a:p>
            <a:r>
              <a:rPr lang="de-DE" dirty="0">
                <a:latin typeface="Source Sans Pro" panose="020B0503030403020204" pitchFamily="34" charset="0"/>
              </a:rPr>
              <a:t>Fremdschlüssel </a:t>
            </a:r>
            <a:r>
              <a:rPr lang="de-DE" b="0" dirty="0">
                <a:latin typeface="Source Sans Pro" panose="020B0503030403020204" pitchFamily="34" charset="0"/>
              </a:rPr>
              <a:t>(bei 1:1-Beziehungen) </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255106" y="1497137"/>
            <a:ext cx="10828551" cy="161582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Hier kann frei entschieden werden, ob man den </a:t>
            </a:r>
            <a:r>
              <a:rPr kumimoji="0" lang="de-DE" sz="2000" b="0" i="0" u="none" strike="noStrike" kern="1200" cap="none" spc="0" normalizeH="0" baseline="0" noProof="0" dirty="0">
                <a:ln>
                  <a:noFill/>
                </a:ln>
                <a:solidFill>
                  <a:srgbClr val="FF0000"/>
                </a:solidFill>
                <a:effectLst/>
                <a:uLnTx/>
                <a:uFillTx/>
                <a:latin typeface="Source Sans Pro" panose="020B0503030403020204" pitchFamily="34" charset="0"/>
                <a:ea typeface="+mn-ea"/>
                <a:cs typeface="+mn-cs"/>
              </a:rPr>
              <a:t>Fremdschlüssel</a:t>
            </a:r>
            <a:r>
              <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in der einen oder anderen Tabelle setzt. </a:t>
            </a:r>
          </a:p>
          <a:p>
            <a:pPr marR="0" lvl="0" algn="l" defTabSz="914400" rtl="0" eaLnBrk="1" fontAlgn="auto" latinLnBrk="0" hangingPunct="1">
              <a:lnSpc>
                <a:spcPct val="100000"/>
              </a:lnSpc>
              <a:spcBef>
                <a:spcPts val="0"/>
              </a:spcBef>
              <a:spcAft>
                <a:spcPts val="0"/>
              </a:spcAft>
              <a:buClrTx/>
              <a:buSzTx/>
              <a:tabLst/>
              <a:defRPr/>
            </a:pPr>
            <a:endParaRPr kumimoji="0" lang="de-DE" sz="7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a:solidFill>
                  <a:srgbClr val="0071B2"/>
                </a:solidFill>
                <a:latin typeface="Source Sans Pro" panose="020B0503030403020204" pitchFamily="34" charset="0"/>
              </a:rPr>
              <a:t>Die beiden folgenden Alternativen sind daher gleichwertig:</a:t>
            </a:r>
            <a:endParaRPr kumimoji="0" lang="de-DE" sz="12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graphicFrame>
        <p:nvGraphicFramePr>
          <p:cNvPr id="2" name="Tabelle 1">
            <a:extLst>
              <a:ext uri="{FF2B5EF4-FFF2-40B4-BE49-F238E27FC236}">
                <a16:creationId xmlns:a16="http://schemas.microsoft.com/office/drawing/2014/main" id="{E47BA788-BC56-9412-BB13-47092339025A}"/>
              </a:ext>
            </a:extLst>
          </p:cNvPr>
          <p:cNvGraphicFramePr>
            <a:graphicFrameLocks noGrp="1"/>
          </p:cNvGraphicFramePr>
          <p:nvPr>
            <p:extLst>
              <p:ext uri="{D42A27DB-BD31-4B8C-83A1-F6EECF244321}">
                <p14:modId xmlns:p14="http://schemas.microsoft.com/office/powerpoint/2010/main" val="4155872162"/>
              </p:ext>
            </p:extLst>
          </p:nvPr>
        </p:nvGraphicFramePr>
        <p:xfrm>
          <a:off x="363294" y="3591391"/>
          <a:ext cx="1957896" cy="1854200"/>
        </p:xfrm>
        <a:graphic>
          <a:graphicData uri="http://schemas.openxmlformats.org/drawingml/2006/table">
            <a:tbl>
              <a:tblPr firstRow="1" bandRow="1">
                <a:tableStyleId>{5C22544A-7EE6-4342-B048-85BDC9FD1C3A}</a:tableStyleId>
              </a:tblPr>
              <a:tblGrid>
                <a:gridCol w="1957896">
                  <a:extLst>
                    <a:ext uri="{9D8B030D-6E8A-4147-A177-3AD203B41FA5}">
                      <a16:colId xmlns:a16="http://schemas.microsoft.com/office/drawing/2014/main" val="4014580829"/>
                    </a:ext>
                  </a:extLst>
                </a:gridCol>
              </a:tblGrid>
              <a:tr h="370840">
                <a:tc>
                  <a:txBody>
                    <a:bodyPr/>
                    <a:lstStyle/>
                    <a:p>
                      <a:r>
                        <a:rPr lang="de-DE" dirty="0" err="1"/>
                        <a:t>Person_ID</a:t>
                      </a:r>
                      <a:endParaRPr lang="de-DE" dirty="0"/>
                    </a:p>
                  </a:txBody>
                  <a:tcPr/>
                </a:tc>
                <a:extLst>
                  <a:ext uri="{0D108BD9-81ED-4DB2-BD59-A6C34878D82A}">
                    <a16:rowId xmlns:a16="http://schemas.microsoft.com/office/drawing/2014/main" val="4235911520"/>
                  </a:ext>
                </a:extLst>
              </a:tr>
              <a:tr h="370840">
                <a:tc>
                  <a:txBody>
                    <a:bodyPr/>
                    <a:lstStyle/>
                    <a:p>
                      <a:r>
                        <a:rPr lang="de-DE" sz="1600" dirty="0" err="1">
                          <a:solidFill>
                            <a:srgbClr val="FF0000"/>
                          </a:solidFill>
                        </a:rPr>
                        <a:t>Personalausweis_ID</a:t>
                      </a:r>
                      <a:endParaRPr lang="de-DE" sz="1600" dirty="0">
                        <a:solidFill>
                          <a:srgbClr val="FF0000"/>
                        </a:solidFill>
                      </a:endParaRPr>
                    </a:p>
                  </a:txBody>
                  <a:tcPr/>
                </a:tc>
                <a:extLst>
                  <a:ext uri="{0D108BD9-81ED-4DB2-BD59-A6C34878D82A}">
                    <a16:rowId xmlns:a16="http://schemas.microsoft.com/office/drawing/2014/main" val="496895441"/>
                  </a:ext>
                </a:extLst>
              </a:tr>
              <a:tr h="370840">
                <a:tc>
                  <a:txBody>
                    <a:bodyPr/>
                    <a:lstStyle/>
                    <a:p>
                      <a:r>
                        <a:rPr lang="de-DE" dirty="0"/>
                        <a:t>Vorname</a:t>
                      </a:r>
                    </a:p>
                  </a:txBody>
                  <a:tcPr/>
                </a:tc>
                <a:extLst>
                  <a:ext uri="{0D108BD9-81ED-4DB2-BD59-A6C34878D82A}">
                    <a16:rowId xmlns:a16="http://schemas.microsoft.com/office/drawing/2014/main" val="1684581590"/>
                  </a:ext>
                </a:extLst>
              </a:tr>
              <a:tr h="370840">
                <a:tc>
                  <a:txBody>
                    <a:bodyPr/>
                    <a:lstStyle/>
                    <a:p>
                      <a:r>
                        <a:rPr lang="de-DE" dirty="0"/>
                        <a:t>Nachname</a:t>
                      </a:r>
                    </a:p>
                  </a:txBody>
                  <a:tcPr/>
                </a:tc>
                <a:extLst>
                  <a:ext uri="{0D108BD9-81ED-4DB2-BD59-A6C34878D82A}">
                    <a16:rowId xmlns:a16="http://schemas.microsoft.com/office/drawing/2014/main" val="528400265"/>
                  </a:ext>
                </a:extLst>
              </a:tr>
              <a:tr h="370840">
                <a:tc>
                  <a:txBody>
                    <a:bodyPr/>
                    <a:lstStyle/>
                    <a:p>
                      <a:r>
                        <a:rPr lang="de-DE" dirty="0"/>
                        <a:t>Körpergröße in cm</a:t>
                      </a:r>
                    </a:p>
                  </a:txBody>
                  <a:tcPr/>
                </a:tc>
                <a:extLst>
                  <a:ext uri="{0D108BD9-81ED-4DB2-BD59-A6C34878D82A}">
                    <a16:rowId xmlns:a16="http://schemas.microsoft.com/office/drawing/2014/main" val="3316462644"/>
                  </a:ext>
                </a:extLst>
              </a:tr>
            </a:tbl>
          </a:graphicData>
        </a:graphic>
      </p:graphicFrame>
      <p:sp>
        <p:nvSpPr>
          <p:cNvPr id="3" name="Textfeld 2">
            <a:extLst>
              <a:ext uri="{FF2B5EF4-FFF2-40B4-BE49-F238E27FC236}">
                <a16:creationId xmlns:a16="http://schemas.microsoft.com/office/drawing/2014/main" id="{89685DA6-2659-862F-C3D9-334615C2C741}"/>
              </a:ext>
            </a:extLst>
          </p:cNvPr>
          <p:cNvSpPr txBox="1"/>
          <p:nvPr/>
        </p:nvSpPr>
        <p:spPr>
          <a:xfrm>
            <a:off x="269152" y="3222059"/>
            <a:ext cx="8236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Person</a:t>
            </a:r>
          </a:p>
        </p:txBody>
      </p:sp>
      <p:graphicFrame>
        <p:nvGraphicFramePr>
          <p:cNvPr id="7" name="Tabelle 6">
            <a:extLst>
              <a:ext uri="{FF2B5EF4-FFF2-40B4-BE49-F238E27FC236}">
                <a16:creationId xmlns:a16="http://schemas.microsoft.com/office/drawing/2014/main" id="{428828B7-0197-99F3-9488-BE7ACD39144B}"/>
              </a:ext>
            </a:extLst>
          </p:cNvPr>
          <p:cNvGraphicFramePr>
            <a:graphicFrameLocks noGrp="1"/>
          </p:cNvGraphicFramePr>
          <p:nvPr>
            <p:extLst>
              <p:ext uri="{D42A27DB-BD31-4B8C-83A1-F6EECF244321}">
                <p14:modId xmlns:p14="http://schemas.microsoft.com/office/powerpoint/2010/main" val="1685640951"/>
              </p:ext>
            </p:extLst>
          </p:nvPr>
        </p:nvGraphicFramePr>
        <p:xfrm>
          <a:off x="3718369" y="3591391"/>
          <a:ext cx="2121345" cy="1112520"/>
        </p:xfrm>
        <a:graphic>
          <a:graphicData uri="http://schemas.openxmlformats.org/drawingml/2006/table">
            <a:tbl>
              <a:tblPr firstRow="1" bandRow="1">
                <a:tableStyleId>{5C22544A-7EE6-4342-B048-85BDC9FD1C3A}</a:tableStyleId>
              </a:tblPr>
              <a:tblGrid>
                <a:gridCol w="2121345">
                  <a:extLst>
                    <a:ext uri="{9D8B030D-6E8A-4147-A177-3AD203B41FA5}">
                      <a16:colId xmlns:a16="http://schemas.microsoft.com/office/drawing/2014/main" val="4014580829"/>
                    </a:ext>
                  </a:extLst>
                </a:gridCol>
              </a:tblGrid>
              <a:tr h="370840">
                <a:tc>
                  <a:txBody>
                    <a:bodyPr/>
                    <a:lstStyle/>
                    <a:p>
                      <a:r>
                        <a:rPr lang="de-DE" dirty="0" err="1"/>
                        <a:t>Personalausweis_ID</a:t>
                      </a:r>
                      <a:endParaRPr lang="de-DE" dirty="0"/>
                    </a:p>
                  </a:txBody>
                  <a:tcPr/>
                </a:tc>
                <a:extLst>
                  <a:ext uri="{0D108BD9-81ED-4DB2-BD59-A6C34878D82A}">
                    <a16:rowId xmlns:a16="http://schemas.microsoft.com/office/drawing/2014/main" val="4235911520"/>
                  </a:ext>
                </a:extLst>
              </a:tr>
              <a:tr h="370840">
                <a:tc>
                  <a:txBody>
                    <a:bodyPr/>
                    <a:lstStyle/>
                    <a:p>
                      <a:r>
                        <a:rPr lang="de-DE" dirty="0"/>
                        <a:t>Ausstellungsdatum</a:t>
                      </a:r>
                    </a:p>
                  </a:txBody>
                  <a:tcPr/>
                </a:tc>
                <a:extLst>
                  <a:ext uri="{0D108BD9-81ED-4DB2-BD59-A6C34878D82A}">
                    <a16:rowId xmlns:a16="http://schemas.microsoft.com/office/drawing/2014/main" val="1684581590"/>
                  </a:ext>
                </a:extLst>
              </a:tr>
              <a:tr h="370840">
                <a:tc>
                  <a:txBody>
                    <a:bodyPr/>
                    <a:lstStyle/>
                    <a:p>
                      <a:r>
                        <a:rPr lang="de-DE" dirty="0"/>
                        <a:t>Ausstellungsort</a:t>
                      </a:r>
                    </a:p>
                  </a:txBody>
                  <a:tcPr/>
                </a:tc>
                <a:extLst>
                  <a:ext uri="{0D108BD9-81ED-4DB2-BD59-A6C34878D82A}">
                    <a16:rowId xmlns:a16="http://schemas.microsoft.com/office/drawing/2014/main" val="528400265"/>
                  </a:ext>
                </a:extLst>
              </a:tr>
            </a:tbl>
          </a:graphicData>
        </a:graphic>
      </p:graphicFrame>
      <p:sp>
        <p:nvSpPr>
          <p:cNvPr id="8" name="Textfeld 7">
            <a:extLst>
              <a:ext uri="{FF2B5EF4-FFF2-40B4-BE49-F238E27FC236}">
                <a16:creationId xmlns:a16="http://schemas.microsoft.com/office/drawing/2014/main" id="{D800E5C4-F0CD-F93A-8FCC-CC9EFCA2C8DF}"/>
              </a:ext>
            </a:extLst>
          </p:cNvPr>
          <p:cNvSpPr txBox="1"/>
          <p:nvPr/>
        </p:nvSpPr>
        <p:spPr>
          <a:xfrm>
            <a:off x="3631209" y="3221630"/>
            <a:ext cx="172938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Personalausweis</a:t>
            </a:r>
          </a:p>
        </p:txBody>
      </p:sp>
      <p:cxnSp>
        <p:nvCxnSpPr>
          <p:cNvPr id="9" name="Gerader Verbinder 8">
            <a:extLst>
              <a:ext uri="{FF2B5EF4-FFF2-40B4-BE49-F238E27FC236}">
                <a16:creationId xmlns:a16="http://schemas.microsoft.com/office/drawing/2014/main" id="{3D9D7761-54E6-AAF0-3436-C991E03D5393}"/>
              </a:ext>
            </a:extLst>
          </p:cNvPr>
          <p:cNvCxnSpPr>
            <a:cxnSpLocks/>
          </p:cNvCxnSpPr>
          <p:nvPr/>
        </p:nvCxnSpPr>
        <p:spPr>
          <a:xfrm>
            <a:off x="2321190" y="3948629"/>
            <a:ext cx="1397179"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2A3D7436-58C0-F4A8-2CA1-CD36C65B8009}"/>
              </a:ext>
            </a:extLst>
          </p:cNvPr>
          <p:cNvSpPr txBox="1"/>
          <p:nvPr/>
        </p:nvSpPr>
        <p:spPr>
          <a:xfrm>
            <a:off x="2330410" y="3671630"/>
            <a:ext cx="1437152"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solidFill>
                  <a:srgbClr val="0071B2"/>
                </a:solidFill>
                <a:latin typeface="Calibri" panose="020F0502020204030204"/>
              </a:rPr>
              <a:t> i</a:t>
            </a:r>
            <a:r>
              <a:rPr kumimoji="0" lang="de-DE" sz="1200" b="0" i="0" u="none" strike="noStrike" kern="1200" cap="none" spc="0" normalizeH="0" baseline="0" noProof="0" dirty="0" err="1">
                <a:ln>
                  <a:noFill/>
                </a:ln>
                <a:solidFill>
                  <a:srgbClr val="0071B2"/>
                </a:solidFill>
                <a:effectLst/>
                <a:uLnTx/>
                <a:uFillTx/>
                <a:latin typeface="Calibri" panose="020F0502020204030204"/>
                <a:ea typeface="+mn-ea"/>
                <a:cs typeface="+mn-cs"/>
              </a:rPr>
              <a:t>st</a:t>
            </a:r>
            <a:r>
              <a:rPr kumimoji="0" lang="de-DE" sz="1200" b="0" i="0" u="none" strike="noStrike" kern="1200" cap="none" spc="0" normalizeH="0" baseline="0" noProof="0" dirty="0">
                <a:ln>
                  <a:noFill/>
                </a:ln>
                <a:solidFill>
                  <a:srgbClr val="0071B2"/>
                </a:solidFill>
                <a:effectLst/>
                <a:uLnTx/>
                <a:uFillTx/>
                <a:latin typeface="Calibri" panose="020F0502020204030204"/>
                <a:ea typeface="+mn-ea"/>
                <a:cs typeface="+mn-cs"/>
              </a:rPr>
              <a:t> Eigentümer von</a:t>
            </a:r>
          </a:p>
        </p:txBody>
      </p:sp>
      <p:sp>
        <p:nvSpPr>
          <p:cNvPr id="13" name="Textfeld 12">
            <a:extLst>
              <a:ext uri="{FF2B5EF4-FFF2-40B4-BE49-F238E27FC236}">
                <a16:creationId xmlns:a16="http://schemas.microsoft.com/office/drawing/2014/main" id="{6A5486DE-F43B-5007-CF26-902EF30A6C0E}"/>
              </a:ext>
            </a:extLst>
          </p:cNvPr>
          <p:cNvSpPr txBox="1"/>
          <p:nvPr/>
        </p:nvSpPr>
        <p:spPr>
          <a:xfrm>
            <a:off x="2257507" y="3930128"/>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0070C0"/>
                </a:solidFill>
                <a:effectLst/>
                <a:uLnTx/>
                <a:uFillTx/>
                <a:latin typeface="Calibri" panose="020F0502020204030204"/>
                <a:ea typeface="+mn-ea"/>
                <a:cs typeface="+mn-cs"/>
              </a:rPr>
              <a:t>1</a:t>
            </a:r>
          </a:p>
        </p:txBody>
      </p:sp>
      <p:sp>
        <p:nvSpPr>
          <p:cNvPr id="14" name="Textfeld 13">
            <a:extLst>
              <a:ext uri="{FF2B5EF4-FFF2-40B4-BE49-F238E27FC236}">
                <a16:creationId xmlns:a16="http://schemas.microsoft.com/office/drawing/2014/main" id="{3417382B-0EDC-7337-88CC-2B4440814CAA}"/>
              </a:ext>
            </a:extLst>
          </p:cNvPr>
          <p:cNvSpPr txBox="1"/>
          <p:nvPr/>
        </p:nvSpPr>
        <p:spPr>
          <a:xfrm>
            <a:off x="3489586" y="3916999"/>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0070C0"/>
                </a:solidFill>
                <a:effectLst/>
                <a:uLnTx/>
                <a:uFillTx/>
                <a:latin typeface="Calibri" panose="020F0502020204030204"/>
                <a:ea typeface="+mn-ea"/>
                <a:cs typeface="+mn-cs"/>
              </a:rPr>
              <a:t>1</a:t>
            </a:r>
          </a:p>
        </p:txBody>
      </p:sp>
      <p:sp>
        <p:nvSpPr>
          <p:cNvPr id="17" name="Rechteck 16">
            <a:extLst>
              <a:ext uri="{FF2B5EF4-FFF2-40B4-BE49-F238E27FC236}">
                <a16:creationId xmlns:a16="http://schemas.microsoft.com/office/drawing/2014/main" id="{BA218E7A-F0E9-06C9-2730-1D7A04085EF3}"/>
              </a:ext>
            </a:extLst>
          </p:cNvPr>
          <p:cNvSpPr/>
          <p:nvPr/>
        </p:nvSpPr>
        <p:spPr>
          <a:xfrm>
            <a:off x="137163" y="2984186"/>
            <a:ext cx="5942664" cy="24886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Textfeld 17">
            <a:extLst>
              <a:ext uri="{FF2B5EF4-FFF2-40B4-BE49-F238E27FC236}">
                <a16:creationId xmlns:a16="http://schemas.microsoft.com/office/drawing/2014/main" id="{071DB554-5B73-8C99-14FB-888A19D81182}"/>
              </a:ext>
            </a:extLst>
          </p:cNvPr>
          <p:cNvSpPr txBox="1"/>
          <p:nvPr/>
        </p:nvSpPr>
        <p:spPr>
          <a:xfrm>
            <a:off x="86214" y="2639290"/>
            <a:ext cx="1418337" cy="369332"/>
          </a:xfrm>
          <a:prstGeom prst="rect">
            <a:avLst/>
          </a:prstGeom>
          <a:noFill/>
        </p:spPr>
        <p:txBody>
          <a:bodyPr wrap="none" rtlCol="0">
            <a:spAutoFit/>
          </a:bodyPr>
          <a:lstStyle/>
          <a:p>
            <a:r>
              <a:rPr lang="de-DE" b="1" dirty="0"/>
              <a:t>Alternative 1</a:t>
            </a:r>
          </a:p>
        </p:txBody>
      </p:sp>
      <p:graphicFrame>
        <p:nvGraphicFramePr>
          <p:cNvPr id="19" name="Tabelle 18">
            <a:extLst>
              <a:ext uri="{FF2B5EF4-FFF2-40B4-BE49-F238E27FC236}">
                <a16:creationId xmlns:a16="http://schemas.microsoft.com/office/drawing/2014/main" id="{6D5BFA64-20A5-D7FC-2483-4D8D333D446E}"/>
              </a:ext>
            </a:extLst>
          </p:cNvPr>
          <p:cNvGraphicFramePr>
            <a:graphicFrameLocks noGrp="1"/>
          </p:cNvGraphicFramePr>
          <p:nvPr>
            <p:extLst>
              <p:ext uri="{D42A27DB-BD31-4B8C-83A1-F6EECF244321}">
                <p14:modId xmlns:p14="http://schemas.microsoft.com/office/powerpoint/2010/main" val="2498744561"/>
              </p:ext>
            </p:extLst>
          </p:nvPr>
        </p:nvGraphicFramePr>
        <p:xfrm>
          <a:off x="6369641" y="3591391"/>
          <a:ext cx="1957896" cy="1483360"/>
        </p:xfrm>
        <a:graphic>
          <a:graphicData uri="http://schemas.openxmlformats.org/drawingml/2006/table">
            <a:tbl>
              <a:tblPr firstRow="1" bandRow="1">
                <a:tableStyleId>{5C22544A-7EE6-4342-B048-85BDC9FD1C3A}</a:tableStyleId>
              </a:tblPr>
              <a:tblGrid>
                <a:gridCol w="1957896">
                  <a:extLst>
                    <a:ext uri="{9D8B030D-6E8A-4147-A177-3AD203B41FA5}">
                      <a16:colId xmlns:a16="http://schemas.microsoft.com/office/drawing/2014/main" val="4014580829"/>
                    </a:ext>
                  </a:extLst>
                </a:gridCol>
              </a:tblGrid>
              <a:tr h="370840">
                <a:tc>
                  <a:txBody>
                    <a:bodyPr/>
                    <a:lstStyle/>
                    <a:p>
                      <a:r>
                        <a:rPr lang="de-DE" dirty="0" err="1"/>
                        <a:t>Person_ID</a:t>
                      </a:r>
                      <a:endParaRPr lang="de-DE" dirty="0"/>
                    </a:p>
                  </a:txBody>
                  <a:tcPr/>
                </a:tc>
                <a:extLst>
                  <a:ext uri="{0D108BD9-81ED-4DB2-BD59-A6C34878D82A}">
                    <a16:rowId xmlns:a16="http://schemas.microsoft.com/office/drawing/2014/main" val="4235911520"/>
                  </a:ext>
                </a:extLst>
              </a:tr>
              <a:tr h="370840">
                <a:tc>
                  <a:txBody>
                    <a:bodyPr/>
                    <a:lstStyle/>
                    <a:p>
                      <a:r>
                        <a:rPr lang="de-DE" dirty="0"/>
                        <a:t>Vorname</a:t>
                      </a:r>
                    </a:p>
                  </a:txBody>
                  <a:tcPr/>
                </a:tc>
                <a:extLst>
                  <a:ext uri="{0D108BD9-81ED-4DB2-BD59-A6C34878D82A}">
                    <a16:rowId xmlns:a16="http://schemas.microsoft.com/office/drawing/2014/main" val="1684581590"/>
                  </a:ext>
                </a:extLst>
              </a:tr>
              <a:tr h="370840">
                <a:tc>
                  <a:txBody>
                    <a:bodyPr/>
                    <a:lstStyle/>
                    <a:p>
                      <a:r>
                        <a:rPr lang="de-DE" dirty="0"/>
                        <a:t>Nachname</a:t>
                      </a:r>
                    </a:p>
                  </a:txBody>
                  <a:tcPr/>
                </a:tc>
                <a:extLst>
                  <a:ext uri="{0D108BD9-81ED-4DB2-BD59-A6C34878D82A}">
                    <a16:rowId xmlns:a16="http://schemas.microsoft.com/office/drawing/2014/main" val="528400265"/>
                  </a:ext>
                </a:extLst>
              </a:tr>
              <a:tr h="370840">
                <a:tc>
                  <a:txBody>
                    <a:bodyPr/>
                    <a:lstStyle/>
                    <a:p>
                      <a:r>
                        <a:rPr lang="de-DE" dirty="0"/>
                        <a:t>Körpergröße in cm</a:t>
                      </a:r>
                    </a:p>
                  </a:txBody>
                  <a:tcPr/>
                </a:tc>
                <a:extLst>
                  <a:ext uri="{0D108BD9-81ED-4DB2-BD59-A6C34878D82A}">
                    <a16:rowId xmlns:a16="http://schemas.microsoft.com/office/drawing/2014/main" val="3316462644"/>
                  </a:ext>
                </a:extLst>
              </a:tr>
            </a:tbl>
          </a:graphicData>
        </a:graphic>
      </p:graphicFrame>
      <p:sp>
        <p:nvSpPr>
          <p:cNvPr id="20" name="Textfeld 19">
            <a:extLst>
              <a:ext uri="{FF2B5EF4-FFF2-40B4-BE49-F238E27FC236}">
                <a16:creationId xmlns:a16="http://schemas.microsoft.com/office/drawing/2014/main" id="{7ABBABF4-9EC6-B6F9-4F94-FFC0419731CC}"/>
              </a:ext>
            </a:extLst>
          </p:cNvPr>
          <p:cNvSpPr txBox="1"/>
          <p:nvPr/>
        </p:nvSpPr>
        <p:spPr>
          <a:xfrm>
            <a:off x="6275499" y="3222059"/>
            <a:ext cx="8236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Person</a:t>
            </a:r>
          </a:p>
        </p:txBody>
      </p:sp>
      <p:graphicFrame>
        <p:nvGraphicFramePr>
          <p:cNvPr id="21" name="Tabelle 20">
            <a:extLst>
              <a:ext uri="{FF2B5EF4-FFF2-40B4-BE49-F238E27FC236}">
                <a16:creationId xmlns:a16="http://schemas.microsoft.com/office/drawing/2014/main" id="{6D951E56-2081-6240-E99B-FA2D8F9483BE}"/>
              </a:ext>
            </a:extLst>
          </p:cNvPr>
          <p:cNvGraphicFramePr>
            <a:graphicFrameLocks noGrp="1"/>
          </p:cNvGraphicFramePr>
          <p:nvPr>
            <p:extLst>
              <p:ext uri="{D42A27DB-BD31-4B8C-83A1-F6EECF244321}">
                <p14:modId xmlns:p14="http://schemas.microsoft.com/office/powerpoint/2010/main" val="820311605"/>
              </p:ext>
            </p:extLst>
          </p:nvPr>
        </p:nvGraphicFramePr>
        <p:xfrm>
          <a:off x="9724716" y="3591391"/>
          <a:ext cx="2121345" cy="1483360"/>
        </p:xfrm>
        <a:graphic>
          <a:graphicData uri="http://schemas.openxmlformats.org/drawingml/2006/table">
            <a:tbl>
              <a:tblPr firstRow="1" bandRow="1">
                <a:tableStyleId>{5C22544A-7EE6-4342-B048-85BDC9FD1C3A}</a:tableStyleId>
              </a:tblPr>
              <a:tblGrid>
                <a:gridCol w="2121345">
                  <a:extLst>
                    <a:ext uri="{9D8B030D-6E8A-4147-A177-3AD203B41FA5}">
                      <a16:colId xmlns:a16="http://schemas.microsoft.com/office/drawing/2014/main" val="4014580829"/>
                    </a:ext>
                  </a:extLst>
                </a:gridCol>
              </a:tblGrid>
              <a:tr h="370840">
                <a:tc>
                  <a:txBody>
                    <a:bodyPr/>
                    <a:lstStyle/>
                    <a:p>
                      <a:r>
                        <a:rPr lang="de-DE" dirty="0" err="1"/>
                        <a:t>Personalausweis_ID</a:t>
                      </a:r>
                      <a:endParaRPr lang="de-DE" dirty="0"/>
                    </a:p>
                  </a:txBody>
                  <a:tcPr/>
                </a:tc>
                <a:extLst>
                  <a:ext uri="{0D108BD9-81ED-4DB2-BD59-A6C34878D82A}">
                    <a16:rowId xmlns:a16="http://schemas.microsoft.com/office/drawing/2014/main" val="4235911520"/>
                  </a:ext>
                </a:extLst>
              </a:tr>
              <a:tr h="370840">
                <a:tc>
                  <a:txBody>
                    <a:bodyPr/>
                    <a:lstStyle/>
                    <a:p>
                      <a:r>
                        <a:rPr lang="de-DE" dirty="0" err="1">
                          <a:solidFill>
                            <a:srgbClr val="FF0000"/>
                          </a:solidFill>
                        </a:rPr>
                        <a:t>Person_ID</a:t>
                      </a:r>
                      <a:endParaRPr lang="de-DE" dirty="0">
                        <a:solidFill>
                          <a:srgbClr val="FF0000"/>
                        </a:solidFill>
                      </a:endParaRPr>
                    </a:p>
                  </a:txBody>
                  <a:tcPr/>
                </a:tc>
                <a:extLst>
                  <a:ext uri="{0D108BD9-81ED-4DB2-BD59-A6C34878D82A}">
                    <a16:rowId xmlns:a16="http://schemas.microsoft.com/office/drawing/2014/main" val="702099329"/>
                  </a:ext>
                </a:extLst>
              </a:tr>
              <a:tr h="370840">
                <a:tc>
                  <a:txBody>
                    <a:bodyPr/>
                    <a:lstStyle/>
                    <a:p>
                      <a:r>
                        <a:rPr lang="de-DE" dirty="0"/>
                        <a:t>Ausstellungsdatum</a:t>
                      </a:r>
                    </a:p>
                  </a:txBody>
                  <a:tcPr/>
                </a:tc>
                <a:extLst>
                  <a:ext uri="{0D108BD9-81ED-4DB2-BD59-A6C34878D82A}">
                    <a16:rowId xmlns:a16="http://schemas.microsoft.com/office/drawing/2014/main" val="1684581590"/>
                  </a:ext>
                </a:extLst>
              </a:tr>
              <a:tr h="370840">
                <a:tc>
                  <a:txBody>
                    <a:bodyPr/>
                    <a:lstStyle/>
                    <a:p>
                      <a:r>
                        <a:rPr lang="de-DE" dirty="0"/>
                        <a:t>Ausstellungsort</a:t>
                      </a:r>
                    </a:p>
                  </a:txBody>
                  <a:tcPr/>
                </a:tc>
                <a:extLst>
                  <a:ext uri="{0D108BD9-81ED-4DB2-BD59-A6C34878D82A}">
                    <a16:rowId xmlns:a16="http://schemas.microsoft.com/office/drawing/2014/main" val="528400265"/>
                  </a:ext>
                </a:extLst>
              </a:tr>
            </a:tbl>
          </a:graphicData>
        </a:graphic>
      </p:graphicFrame>
      <p:sp>
        <p:nvSpPr>
          <p:cNvPr id="22" name="Textfeld 21">
            <a:extLst>
              <a:ext uri="{FF2B5EF4-FFF2-40B4-BE49-F238E27FC236}">
                <a16:creationId xmlns:a16="http://schemas.microsoft.com/office/drawing/2014/main" id="{EC03E055-A699-EF08-45C8-6C1DCD2362F0}"/>
              </a:ext>
            </a:extLst>
          </p:cNvPr>
          <p:cNvSpPr txBox="1"/>
          <p:nvPr/>
        </p:nvSpPr>
        <p:spPr>
          <a:xfrm>
            <a:off x="9637556" y="3221630"/>
            <a:ext cx="172938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Personalausweis</a:t>
            </a:r>
          </a:p>
        </p:txBody>
      </p:sp>
      <p:cxnSp>
        <p:nvCxnSpPr>
          <p:cNvPr id="23" name="Gerader Verbinder 22">
            <a:extLst>
              <a:ext uri="{FF2B5EF4-FFF2-40B4-BE49-F238E27FC236}">
                <a16:creationId xmlns:a16="http://schemas.microsoft.com/office/drawing/2014/main" id="{77FC2FA4-1B06-CC39-6001-A955754752FF}"/>
              </a:ext>
            </a:extLst>
          </p:cNvPr>
          <p:cNvCxnSpPr>
            <a:cxnSpLocks/>
          </p:cNvCxnSpPr>
          <p:nvPr/>
        </p:nvCxnSpPr>
        <p:spPr>
          <a:xfrm>
            <a:off x="8327537" y="3948629"/>
            <a:ext cx="1397179"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feld 23">
            <a:extLst>
              <a:ext uri="{FF2B5EF4-FFF2-40B4-BE49-F238E27FC236}">
                <a16:creationId xmlns:a16="http://schemas.microsoft.com/office/drawing/2014/main" id="{A32C29EE-DCF9-030E-EB02-8D3D2EEDB1DD}"/>
              </a:ext>
            </a:extLst>
          </p:cNvPr>
          <p:cNvSpPr txBox="1"/>
          <p:nvPr/>
        </p:nvSpPr>
        <p:spPr>
          <a:xfrm>
            <a:off x="8378486" y="3671630"/>
            <a:ext cx="135223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dirty="0">
                <a:solidFill>
                  <a:srgbClr val="0071B2"/>
                </a:solidFill>
                <a:latin typeface="Calibri" panose="020F0502020204030204"/>
              </a:rPr>
              <a:t>i</a:t>
            </a:r>
            <a:r>
              <a:rPr kumimoji="0" lang="de-DE" sz="1200" b="0" i="0" u="none" strike="noStrike" kern="1200" cap="none" spc="0" normalizeH="0" baseline="0" noProof="0" dirty="0" err="1">
                <a:ln>
                  <a:noFill/>
                </a:ln>
                <a:solidFill>
                  <a:srgbClr val="0071B2"/>
                </a:solidFill>
                <a:effectLst/>
                <a:uLnTx/>
                <a:uFillTx/>
                <a:latin typeface="Calibri" panose="020F0502020204030204"/>
                <a:ea typeface="+mn-ea"/>
                <a:cs typeface="+mn-cs"/>
              </a:rPr>
              <a:t>st</a:t>
            </a:r>
            <a:r>
              <a:rPr kumimoji="0" lang="de-DE" sz="1200" b="0" i="0" u="none" strike="noStrike" kern="1200" cap="none" spc="0" normalizeH="0" baseline="0" noProof="0" dirty="0">
                <a:ln>
                  <a:noFill/>
                </a:ln>
                <a:solidFill>
                  <a:srgbClr val="0071B2"/>
                </a:solidFill>
                <a:effectLst/>
                <a:uLnTx/>
                <a:uFillTx/>
                <a:latin typeface="Calibri" panose="020F0502020204030204"/>
                <a:ea typeface="+mn-ea"/>
                <a:cs typeface="+mn-cs"/>
              </a:rPr>
              <a:t> Eigentümer von</a:t>
            </a:r>
          </a:p>
        </p:txBody>
      </p:sp>
      <p:sp>
        <p:nvSpPr>
          <p:cNvPr id="25" name="Textfeld 24">
            <a:extLst>
              <a:ext uri="{FF2B5EF4-FFF2-40B4-BE49-F238E27FC236}">
                <a16:creationId xmlns:a16="http://schemas.microsoft.com/office/drawing/2014/main" id="{C6C11767-B116-DD98-1F57-B201696B4389}"/>
              </a:ext>
            </a:extLst>
          </p:cNvPr>
          <p:cNvSpPr txBox="1"/>
          <p:nvPr/>
        </p:nvSpPr>
        <p:spPr>
          <a:xfrm>
            <a:off x="8263854" y="3930128"/>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0070C0"/>
                </a:solidFill>
                <a:effectLst/>
                <a:uLnTx/>
                <a:uFillTx/>
                <a:latin typeface="Calibri" panose="020F0502020204030204"/>
                <a:ea typeface="+mn-ea"/>
                <a:cs typeface="+mn-cs"/>
              </a:rPr>
              <a:t>1</a:t>
            </a:r>
          </a:p>
        </p:txBody>
      </p:sp>
      <p:sp>
        <p:nvSpPr>
          <p:cNvPr id="26" name="Textfeld 25">
            <a:extLst>
              <a:ext uri="{FF2B5EF4-FFF2-40B4-BE49-F238E27FC236}">
                <a16:creationId xmlns:a16="http://schemas.microsoft.com/office/drawing/2014/main" id="{AB139CC4-0088-19E9-C39B-89D8973E4422}"/>
              </a:ext>
            </a:extLst>
          </p:cNvPr>
          <p:cNvSpPr txBox="1"/>
          <p:nvPr/>
        </p:nvSpPr>
        <p:spPr>
          <a:xfrm>
            <a:off x="9495933" y="3916999"/>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0070C0"/>
                </a:solidFill>
                <a:effectLst/>
                <a:uLnTx/>
                <a:uFillTx/>
                <a:latin typeface="Calibri" panose="020F0502020204030204"/>
                <a:ea typeface="+mn-ea"/>
                <a:cs typeface="+mn-cs"/>
              </a:rPr>
              <a:t>1</a:t>
            </a:r>
          </a:p>
        </p:txBody>
      </p:sp>
      <p:sp>
        <p:nvSpPr>
          <p:cNvPr id="27" name="Rechteck 26">
            <a:extLst>
              <a:ext uri="{FF2B5EF4-FFF2-40B4-BE49-F238E27FC236}">
                <a16:creationId xmlns:a16="http://schemas.microsoft.com/office/drawing/2014/main" id="{7ED5CF0C-3F6C-69DD-4DDD-DEF4D552658E}"/>
              </a:ext>
            </a:extLst>
          </p:cNvPr>
          <p:cNvSpPr/>
          <p:nvPr/>
        </p:nvSpPr>
        <p:spPr>
          <a:xfrm>
            <a:off x="6143510" y="2984186"/>
            <a:ext cx="5942664" cy="248866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Textfeld 27">
            <a:extLst>
              <a:ext uri="{FF2B5EF4-FFF2-40B4-BE49-F238E27FC236}">
                <a16:creationId xmlns:a16="http://schemas.microsoft.com/office/drawing/2014/main" id="{ABD78C65-9853-C0B5-C47D-378B53AC448F}"/>
              </a:ext>
            </a:extLst>
          </p:cNvPr>
          <p:cNvSpPr txBox="1"/>
          <p:nvPr/>
        </p:nvSpPr>
        <p:spPr>
          <a:xfrm>
            <a:off x="6092561" y="2639290"/>
            <a:ext cx="1418337" cy="369332"/>
          </a:xfrm>
          <a:prstGeom prst="rect">
            <a:avLst/>
          </a:prstGeom>
          <a:noFill/>
        </p:spPr>
        <p:txBody>
          <a:bodyPr wrap="none" rtlCol="0">
            <a:spAutoFit/>
          </a:bodyPr>
          <a:lstStyle/>
          <a:p>
            <a:r>
              <a:rPr lang="de-DE" b="1" dirty="0"/>
              <a:t>Alternative 2</a:t>
            </a:r>
          </a:p>
        </p:txBody>
      </p:sp>
    </p:spTree>
    <p:extLst>
      <p:ext uri="{BB962C8B-B14F-4D97-AF65-F5344CB8AC3E}">
        <p14:creationId xmlns:p14="http://schemas.microsoft.com/office/powerpoint/2010/main" val="171886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13" grpId="0"/>
      <p:bldP spid="14" grpId="0"/>
      <p:bldP spid="17" grpId="0" animBg="1"/>
      <p:bldP spid="18" grpId="0"/>
      <p:bldP spid="20" grpId="0"/>
      <p:bldP spid="22" grpId="0"/>
      <p:bldP spid="24" grpId="0"/>
      <p:bldP spid="25" grpId="0"/>
      <p:bldP spid="26" grpId="0"/>
      <p:bldP spid="27" grpId="0" animBg="1"/>
      <p:bldP spid="2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fontScale="90000"/>
          </a:bodyPr>
          <a:lstStyle/>
          <a:p>
            <a:r>
              <a:rPr lang="de-DE" dirty="0">
                <a:latin typeface="Source Sans Pro" panose="020B0503030403020204" pitchFamily="34" charset="0"/>
              </a:rPr>
              <a:t>Fremdschlüssel </a:t>
            </a:r>
            <a:r>
              <a:rPr lang="de-DE" b="0" dirty="0">
                <a:latin typeface="Source Sans Pro" panose="020B0503030403020204" pitchFamily="34" charset="0"/>
              </a:rPr>
              <a:t>(bei 1:n-Beziehungen) </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27912" y="1681039"/>
            <a:ext cx="10596558" cy="2062103"/>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Hier gibt es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keine</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Wahl!</a:t>
            </a: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Der </a:t>
            </a:r>
            <a:r>
              <a:rPr lang="de-DE" sz="2400" dirty="0">
                <a:solidFill>
                  <a:srgbClr val="FF0000"/>
                </a:solidFill>
                <a:latin typeface="Source Sans Pro" panose="020B0503030403020204" pitchFamily="34" charset="0"/>
              </a:rPr>
              <a:t>Fremdschlüssel</a:t>
            </a:r>
            <a:r>
              <a:rPr lang="de-DE" sz="2400" dirty="0">
                <a:solidFill>
                  <a:srgbClr val="0071B2"/>
                </a:solidFill>
                <a:latin typeface="Source Sans Pro" panose="020B0503030403020204" pitchFamily="34" charset="0"/>
              </a:rPr>
              <a:t> muss stets in der Tabelle mit Kardinalität </a:t>
            </a:r>
            <a:r>
              <a:rPr lang="de-DE" sz="2400" b="1" dirty="0">
                <a:solidFill>
                  <a:srgbClr val="0071B2"/>
                </a:solidFill>
                <a:latin typeface="Source Sans Pro" panose="020B0503030403020204" pitchFamily="34" charset="0"/>
              </a:rPr>
              <a:t>n</a:t>
            </a:r>
            <a:r>
              <a:rPr lang="de-DE" sz="2400" dirty="0">
                <a:solidFill>
                  <a:srgbClr val="0071B2"/>
                </a:solidFill>
                <a:latin typeface="Source Sans Pro" panose="020B0503030403020204" pitchFamily="34" charset="0"/>
              </a:rPr>
              <a:t> notiert werden.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Es </a:t>
            </a:r>
            <a:r>
              <a:rPr lang="de-DE" sz="2400" noProof="0" dirty="0">
                <a:solidFill>
                  <a:srgbClr val="0071B2"/>
                </a:solidFill>
                <a:latin typeface="Source Sans Pro" panose="020B0503030403020204" pitchFamily="34" charset="0"/>
              </a:rPr>
              <a:t>h</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andelt sich dabei um den Primärschlüssel der Tabelle mit Kardinalität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1</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t>
            </a: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graphicFrame>
        <p:nvGraphicFramePr>
          <p:cNvPr id="2" name="Tabelle 1">
            <a:extLst>
              <a:ext uri="{FF2B5EF4-FFF2-40B4-BE49-F238E27FC236}">
                <a16:creationId xmlns:a16="http://schemas.microsoft.com/office/drawing/2014/main" id="{E47BA788-BC56-9412-BB13-47092339025A}"/>
              </a:ext>
            </a:extLst>
          </p:cNvPr>
          <p:cNvGraphicFramePr>
            <a:graphicFrameLocks noGrp="1"/>
          </p:cNvGraphicFramePr>
          <p:nvPr/>
        </p:nvGraphicFramePr>
        <p:xfrm>
          <a:off x="2378843" y="3963750"/>
          <a:ext cx="1957896" cy="1483360"/>
        </p:xfrm>
        <a:graphic>
          <a:graphicData uri="http://schemas.openxmlformats.org/drawingml/2006/table">
            <a:tbl>
              <a:tblPr firstRow="1" bandRow="1">
                <a:tableStyleId>{5C22544A-7EE6-4342-B048-85BDC9FD1C3A}</a:tableStyleId>
              </a:tblPr>
              <a:tblGrid>
                <a:gridCol w="1957896">
                  <a:extLst>
                    <a:ext uri="{9D8B030D-6E8A-4147-A177-3AD203B41FA5}">
                      <a16:colId xmlns:a16="http://schemas.microsoft.com/office/drawing/2014/main" val="4014580829"/>
                    </a:ext>
                  </a:extLst>
                </a:gridCol>
              </a:tblGrid>
              <a:tr h="370840">
                <a:tc>
                  <a:txBody>
                    <a:bodyPr/>
                    <a:lstStyle/>
                    <a:p>
                      <a:r>
                        <a:rPr lang="de-DE" dirty="0" err="1"/>
                        <a:t>Person_ID</a:t>
                      </a:r>
                      <a:endParaRPr lang="de-DE" dirty="0"/>
                    </a:p>
                  </a:txBody>
                  <a:tcPr/>
                </a:tc>
                <a:extLst>
                  <a:ext uri="{0D108BD9-81ED-4DB2-BD59-A6C34878D82A}">
                    <a16:rowId xmlns:a16="http://schemas.microsoft.com/office/drawing/2014/main" val="4235911520"/>
                  </a:ext>
                </a:extLst>
              </a:tr>
              <a:tr h="370840">
                <a:tc>
                  <a:txBody>
                    <a:bodyPr/>
                    <a:lstStyle/>
                    <a:p>
                      <a:r>
                        <a:rPr lang="de-DE" dirty="0"/>
                        <a:t>Vorname</a:t>
                      </a:r>
                    </a:p>
                  </a:txBody>
                  <a:tcPr/>
                </a:tc>
                <a:extLst>
                  <a:ext uri="{0D108BD9-81ED-4DB2-BD59-A6C34878D82A}">
                    <a16:rowId xmlns:a16="http://schemas.microsoft.com/office/drawing/2014/main" val="1684581590"/>
                  </a:ext>
                </a:extLst>
              </a:tr>
              <a:tr h="370840">
                <a:tc>
                  <a:txBody>
                    <a:bodyPr/>
                    <a:lstStyle/>
                    <a:p>
                      <a:r>
                        <a:rPr lang="de-DE" dirty="0"/>
                        <a:t>Nachname</a:t>
                      </a:r>
                    </a:p>
                  </a:txBody>
                  <a:tcPr/>
                </a:tc>
                <a:extLst>
                  <a:ext uri="{0D108BD9-81ED-4DB2-BD59-A6C34878D82A}">
                    <a16:rowId xmlns:a16="http://schemas.microsoft.com/office/drawing/2014/main" val="528400265"/>
                  </a:ext>
                </a:extLst>
              </a:tr>
              <a:tr h="370840">
                <a:tc>
                  <a:txBody>
                    <a:bodyPr/>
                    <a:lstStyle/>
                    <a:p>
                      <a:r>
                        <a:rPr lang="de-DE" dirty="0"/>
                        <a:t>Körpergröße in cm</a:t>
                      </a:r>
                    </a:p>
                  </a:txBody>
                  <a:tcPr/>
                </a:tc>
                <a:extLst>
                  <a:ext uri="{0D108BD9-81ED-4DB2-BD59-A6C34878D82A}">
                    <a16:rowId xmlns:a16="http://schemas.microsoft.com/office/drawing/2014/main" val="3316462644"/>
                  </a:ext>
                </a:extLst>
              </a:tr>
            </a:tbl>
          </a:graphicData>
        </a:graphic>
      </p:graphicFrame>
      <p:sp>
        <p:nvSpPr>
          <p:cNvPr id="3" name="Textfeld 2">
            <a:extLst>
              <a:ext uri="{FF2B5EF4-FFF2-40B4-BE49-F238E27FC236}">
                <a16:creationId xmlns:a16="http://schemas.microsoft.com/office/drawing/2014/main" id="{89685DA6-2659-862F-C3D9-334615C2C741}"/>
              </a:ext>
            </a:extLst>
          </p:cNvPr>
          <p:cNvSpPr txBox="1"/>
          <p:nvPr/>
        </p:nvSpPr>
        <p:spPr>
          <a:xfrm>
            <a:off x="2284701" y="3594418"/>
            <a:ext cx="8236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Person</a:t>
            </a:r>
          </a:p>
        </p:txBody>
      </p:sp>
      <p:graphicFrame>
        <p:nvGraphicFramePr>
          <p:cNvPr id="7" name="Tabelle 6">
            <a:extLst>
              <a:ext uri="{FF2B5EF4-FFF2-40B4-BE49-F238E27FC236}">
                <a16:creationId xmlns:a16="http://schemas.microsoft.com/office/drawing/2014/main" id="{428828B7-0197-99F3-9488-BE7ACD39144B}"/>
              </a:ext>
            </a:extLst>
          </p:cNvPr>
          <p:cNvGraphicFramePr>
            <a:graphicFrameLocks noGrp="1"/>
          </p:cNvGraphicFramePr>
          <p:nvPr>
            <p:extLst>
              <p:ext uri="{D42A27DB-BD31-4B8C-83A1-F6EECF244321}">
                <p14:modId xmlns:p14="http://schemas.microsoft.com/office/powerpoint/2010/main" val="2005604689"/>
              </p:ext>
            </p:extLst>
          </p:nvPr>
        </p:nvGraphicFramePr>
        <p:xfrm>
          <a:off x="6548355" y="3963750"/>
          <a:ext cx="1180846" cy="1483360"/>
        </p:xfrm>
        <a:graphic>
          <a:graphicData uri="http://schemas.openxmlformats.org/drawingml/2006/table">
            <a:tbl>
              <a:tblPr firstRow="1" bandRow="1">
                <a:tableStyleId>{5C22544A-7EE6-4342-B048-85BDC9FD1C3A}</a:tableStyleId>
              </a:tblPr>
              <a:tblGrid>
                <a:gridCol w="1180846">
                  <a:extLst>
                    <a:ext uri="{9D8B030D-6E8A-4147-A177-3AD203B41FA5}">
                      <a16:colId xmlns:a16="http://schemas.microsoft.com/office/drawing/2014/main" val="4014580829"/>
                    </a:ext>
                  </a:extLst>
                </a:gridCol>
              </a:tblGrid>
              <a:tr h="370840">
                <a:tc>
                  <a:txBody>
                    <a:bodyPr/>
                    <a:lstStyle/>
                    <a:p>
                      <a:r>
                        <a:rPr lang="de-DE" dirty="0" err="1"/>
                        <a:t>Auto_ID</a:t>
                      </a:r>
                      <a:endParaRPr lang="de-DE" dirty="0"/>
                    </a:p>
                  </a:txBody>
                  <a:tcPr/>
                </a:tc>
                <a:extLst>
                  <a:ext uri="{0D108BD9-81ED-4DB2-BD59-A6C34878D82A}">
                    <a16:rowId xmlns:a16="http://schemas.microsoft.com/office/drawing/2014/main" val="4235911520"/>
                  </a:ext>
                </a:extLst>
              </a:tr>
              <a:tr h="370840">
                <a:tc>
                  <a:txBody>
                    <a:bodyPr/>
                    <a:lstStyle/>
                    <a:p>
                      <a:r>
                        <a:rPr lang="de-DE" dirty="0" err="1">
                          <a:solidFill>
                            <a:srgbClr val="FF0000"/>
                          </a:solidFill>
                        </a:rPr>
                        <a:t>Person_ID</a:t>
                      </a:r>
                      <a:endParaRPr lang="de-DE" dirty="0">
                        <a:solidFill>
                          <a:srgbClr val="FF0000"/>
                        </a:solidFill>
                      </a:endParaRPr>
                    </a:p>
                  </a:txBody>
                  <a:tcPr/>
                </a:tc>
                <a:extLst>
                  <a:ext uri="{0D108BD9-81ED-4DB2-BD59-A6C34878D82A}">
                    <a16:rowId xmlns:a16="http://schemas.microsoft.com/office/drawing/2014/main" val="2138014592"/>
                  </a:ext>
                </a:extLst>
              </a:tr>
              <a:tr h="370840">
                <a:tc>
                  <a:txBody>
                    <a:bodyPr/>
                    <a:lstStyle/>
                    <a:p>
                      <a:r>
                        <a:rPr lang="de-DE" dirty="0"/>
                        <a:t>Marke</a:t>
                      </a:r>
                    </a:p>
                  </a:txBody>
                  <a:tcPr/>
                </a:tc>
                <a:extLst>
                  <a:ext uri="{0D108BD9-81ED-4DB2-BD59-A6C34878D82A}">
                    <a16:rowId xmlns:a16="http://schemas.microsoft.com/office/drawing/2014/main" val="1684581590"/>
                  </a:ext>
                </a:extLst>
              </a:tr>
              <a:tr h="370840">
                <a:tc>
                  <a:txBody>
                    <a:bodyPr/>
                    <a:lstStyle/>
                    <a:p>
                      <a:r>
                        <a:rPr lang="de-DE" dirty="0"/>
                        <a:t>PS</a:t>
                      </a:r>
                    </a:p>
                  </a:txBody>
                  <a:tcPr/>
                </a:tc>
                <a:extLst>
                  <a:ext uri="{0D108BD9-81ED-4DB2-BD59-A6C34878D82A}">
                    <a16:rowId xmlns:a16="http://schemas.microsoft.com/office/drawing/2014/main" val="528400265"/>
                  </a:ext>
                </a:extLst>
              </a:tr>
            </a:tbl>
          </a:graphicData>
        </a:graphic>
      </p:graphicFrame>
      <p:sp>
        <p:nvSpPr>
          <p:cNvPr id="8" name="Textfeld 7">
            <a:extLst>
              <a:ext uri="{FF2B5EF4-FFF2-40B4-BE49-F238E27FC236}">
                <a16:creationId xmlns:a16="http://schemas.microsoft.com/office/drawing/2014/main" id="{D800E5C4-F0CD-F93A-8FCC-CC9EFCA2C8DF}"/>
              </a:ext>
            </a:extLst>
          </p:cNvPr>
          <p:cNvSpPr txBox="1"/>
          <p:nvPr/>
        </p:nvSpPr>
        <p:spPr>
          <a:xfrm>
            <a:off x="6461195" y="3593989"/>
            <a:ext cx="63607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Auto</a:t>
            </a:r>
          </a:p>
        </p:txBody>
      </p:sp>
      <p:cxnSp>
        <p:nvCxnSpPr>
          <p:cNvPr id="9" name="Gerader Verbinder 8">
            <a:extLst>
              <a:ext uri="{FF2B5EF4-FFF2-40B4-BE49-F238E27FC236}">
                <a16:creationId xmlns:a16="http://schemas.microsoft.com/office/drawing/2014/main" id="{3D9D7761-54E6-AAF0-3436-C991E03D5393}"/>
              </a:ext>
            </a:extLst>
          </p:cNvPr>
          <p:cNvCxnSpPr/>
          <p:nvPr/>
        </p:nvCxnSpPr>
        <p:spPr>
          <a:xfrm>
            <a:off x="4336739" y="4320988"/>
            <a:ext cx="2211616"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2A3D7436-58C0-F4A8-2CA1-CD36C65B8009}"/>
              </a:ext>
            </a:extLst>
          </p:cNvPr>
          <p:cNvSpPr txBox="1"/>
          <p:nvPr/>
        </p:nvSpPr>
        <p:spPr>
          <a:xfrm>
            <a:off x="4813358" y="4043250"/>
            <a:ext cx="135223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0071B2"/>
                </a:solidFill>
                <a:effectLst/>
                <a:uLnTx/>
                <a:uFillTx/>
                <a:latin typeface="Calibri" panose="020F0502020204030204"/>
                <a:ea typeface="+mn-ea"/>
                <a:cs typeface="+mn-cs"/>
              </a:rPr>
              <a:t>ist Eigentümer von</a:t>
            </a:r>
          </a:p>
        </p:txBody>
      </p:sp>
      <p:sp>
        <p:nvSpPr>
          <p:cNvPr id="13" name="Textfeld 12">
            <a:extLst>
              <a:ext uri="{FF2B5EF4-FFF2-40B4-BE49-F238E27FC236}">
                <a16:creationId xmlns:a16="http://schemas.microsoft.com/office/drawing/2014/main" id="{6A5486DE-F43B-5007-CF26-902EF30A6C0E}"/>
              </a:ext>
            </a:extLst>
          </p:cNvPr>
          <p:cNvSpPr txBox="1"/>
          <p:nvPr/>
        </p:nvSpPr>
        <p:spPr>
          <a:xfrm>
            <a:off x="4273056" y="4302487"/>
            <a:ext cx="30168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0070C0"/>
                </a:solidFill>
                <a:effectLst/>
                <a:uLnTx/>
                <a:uFillTx/>
                <a:latin typeface="Calibri" panose="020F0502020204030204"/>
                <a:ea typeface="+mn-ea"/>
                <a:cs typeface="+mn-cs"/>
              </a:rPr>
              <a:t>1</a:t>
            </a:r>
          </a:p>
        </p:txBody>
      </p:sp>
      <p:sp>
        <p:nvSpPr>
          <p:cNvPr id="14" name="Textfeld 13">
            <a:extLst>
              <a:ext uri="{FF2B5EF4-FFF2-40B4-BE49-F238E27FC236}">
                <a16:creationId xmlns:a16="http://schemas.microsoft.com/office/drawing/2014/main" id="{3417382B-0EDC-7337-88CC-2B4440814CAA}"/>
              </a:ext>
            </a:extLst>
          </p:cNvPr>
          <p:cNvSpPr txBox="1"/>
          <p:nvPr/>
        </p:nvSpPr>
        <p:spPr>
          <a:xfrm>
            <a:off x="6319572" y="4289358"/>
            <a:ext cx="3080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0070C0"/>
                </a:solidFill>
                <a:effectLst/>
                <a:uLnTx/>
                <a:uFillTx/>
                <a:latin typeface="Calibri" panose="020F0502020204030204"/>
                <a:ea typeface="+mn-ea"/>
                <a:cs typeface="+mn-cs"/>
              </a:rPr>
              <a:t>n</a:t>
            </a:r>
          </a:p>
        </p:txBody>
      </p:sp>
    </p:spTree>
    <p:extLst>
      <p:ext uri="{BB962C8B-B14F-4D97-AF65-F5344CB8AC3E}">
        <p14:creationId xmlns:p14="http://schemas.microsoft.com/office/powerpoint/2010/main" val="2915218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13"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8605943" cy="720725"/>
          </a:xfrm>
        </p:spPr>
        <p:txBody>
          <a:bodyPr>
            <a:normAutofit fontScale="90000"/>
          </a:bodyPr>
          <a:lstStyle/>
          <a:p>
            <a:r>
              <a:rPr lang="de-DE" dirty="0">
                <a:latin typeface="Source Sans Pro" panose="020B0503030403020204" pitchFamily="34" charset="0"/>
              </a:rPr>
              <a:t>Fremdschlüssel </a:t>
            </a:r>
            <a:r>
              <a:rPr lang="de-DE" b="0" dirty="0">
                <a:latin typeface="Source Sans Pro" panose="020B0503030403020204" pitchFamily="34" charset="0"/>
              </a:rPr>
              <a:t>(bei m:n-Beziehungen) </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420610" y="2110629"/>
            <a:ext cx="11495753" cy="1200329"/>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Wir benötigen eine Hilfstabelle.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Diese nimmt die beiden Primärschlüssel der Ausgangstabellen als </a:t>
            </a:r>
            <a:r>
              <a:rPr lang="de-DE" sz="2400" dirty="0">
                <a:solidFill>
                  <a:srgbClr val="FF0000"/>
                </a:solidFill>
                <a:latin typeface="Source Sans Pro" panose="020B0503030403020204" pitchFamily="34" charset="0"/>
              </a:rPr>
              <a:t>Fremdschlüssel</a:t>
            </a:r>
            <a:r>
              <a:rPr lang="de-DE" sz="2400" dirty="0">
                <a:solidFill>
                  <a:srgbClr val="0071B2"/>
                </a:solidFill>
                <a:latin typeface="Source Sans Pro" panose="020B0503030403020204" pitchFamily="34" charset="0"/>
              </a:rPr>
              <a:t> auf:</a:t>
            </a:r>
            <a:endPar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graphicFrame>
        <p:nvGraphicFramePr>
          <p:cNvPr id="2" name="Tabelle 1">
            <a:extLst>
              <a:ext uri="{FF2B5EF4-FFF2-40B4-BE49-F238E27FC236}">
                <a16:creationId xmlns:a16="http://schemas.microsoft.com/office/drawing/2014/main" id="{E47BA788-BC56-9412-BB13-47092339025A}"/>
              </a:ext>
            </a:extLst>
          </p:cNvPr>
          <p:cNvGraphicFramePr>
            <a:graphicFrameLocks noGrp="1"/>
          </p:cNvGraphicFramePr>
          <p:nvPr>
            <p:extLst>
              <p:ext uri="{D42A27DB-BD31-4B8C-83A1-F6EECF244321}">
                <p14:modId xmlns:p14="http://schemas.microsoft.com/office/powerpoint/2010/main" val="252931785"/>
              </p:ext>
            </p:extLst>
          </p:nvPr>
        </p:nvGraphicFramePr>
        <p:xfrm>
          <a:off x="1954580" y="3847375"/>
          <a:ext cx="1957896" cy="1483360"/>
        </p:xfrm>
        <a:graphic>
          <a:graphicData uri="http://schemas.openxmlformats.org/drawingml/2006/table">
            <a:tbl>
              <a:tblPr firstRow="1" bandRow="1">
                <a:tableStyleId>{5C22544A-7EE6-4342-B048-85BDC9FD1C3A}</a:tableStyleId>
              </a:tblPr>
              <a:tblGrid>
                <a:gridCol w="1957896">
                  <a:extLst>
                    <a:ext uri="{9D8B030D-6E8A-4147-A177-3AD203B41FA5}">
                      <a16:colId xmlns:a16="http://schemas.microsoft.com/office/drawing/2014/main" val="4014580829"/>
                    </a:ext>
                  </a:extLst>
                </a:gridCol>
              </a:tblGrid>
              <a:tr h="370840">
                <a:tc>
                  <a:txBody>
                    <a:bodyPr/>
                    <a:lstStyle/>
                    <a:p>
                      <a:r>
                        <a:rPr lang="de-DE" dirty="0" err="1"/>
                        <a:t>Person_ID</a:t>
                      </a:r>
                      <a:endParaRPr lang="de-DE" dirty="0"/>
                    </a:p>
                  </a:txBody>
                  <a:tcPr/>
                </a:tc>
                <a:extLst>
                  <a:ext uri="{0D108BD9-81ED-4DB2-BD59-A6C34878D82A}">
                    <a16:rowId xmlns:a16="http://schemas.microsoft.com/office/drawing/2014/main" val="4235911520"/>
                  </a:ext>
                </a:extLst>
              </a:tr>
              <a:tr h="370840">
                <a:tc>
                  <a:txBody>
                    <a:bodyPr/>
                    <a:lstStyle/>
                    <a:p>
                      <a:r>
                        <a:rPr lang="de-DE" dirty="0"/>
                        <a:t>Vorname</a:t>
                      </a:r>
                    </a:p>
                  </a:txBody>
                  <a:tcPr/>
                </a:tc>
                <a:extLst>
                  <a:ext uri="{0D108BD9-81ED-4DB2-BD59-A6C34878D82A}">
                    <a16:rowId xmlns:a16="http://schemas.microsoft.com/office/drawing/2014/main" val="1684581590"/>
                  </a:ext>
                </a:extLst>
              </a:tr>
              <a:tr h="370840">
                <a:tc>
                  <a:txBody>
                    <a:bodyPr/>
                    <a:lstStyle/>
                    <a:p>
                      <a:r>
                        <a:rPr lang="de-DE" dirty="0"/>
                        <a:t>Nachname</a:t>
                      </a:r>
                    </a:p>
                  </a:txBody>
                  <a:tcPr/>
                </a:tc>
                <a:extLst>
                  <a:ext uri="{0D108BD9-81ED-4DB2-BD59-A6C34878D82A}">
                    <a16:rowId xmlns:a16="http://schemas.microsoft.com/office/drawing/2014/main" val="528400265"/>
                  </a:ext>
                </a:extLst>
              </a:tr>
              <a:tr h="370840">
                <a:tc>
                  <a:txBody>
                    <a:bodyPr/>
                    <a:lstStyle/>
                    <a:p>
                      <a:r>
                        <a:rPr lang="de-DE" dirty="0"/>
                        <a:t>Körpergröße in cm</a:t>
                      </a:r>
                    </a:p>
                  </a:txBody>
                  <a:tcPr/>
                </a:tc>
                <a:extLst>
                  <a:ext uri="{0D108BD9-81ED-4DB2-BD59-A6C34878D82A}">
                    <a16:rowId xmlns:a16="http://schemas.microsoft.com/office/drawing/2014/main" val="3316462644"/>
                  </a:ext>
                </a:extLst>
              </a:tr>
            </a:tbl>
          </a:graphicData>
        </a:graphic>
      </p:graphicFrame>
      <p:sp>
        <p:nvSpPr>
          <p:cNvPr id="3" name="Textfeld 2">
            <a:extLst>
              <a:ext uri="{FF2B5EF4-FFF2-40B4-BE49-F238E27FC236}">
                <a16:creationId xmlns:a16="http://schemas.microsoft.com/office/drawing/2014/main" id="{89685DA6-2659-862F-C3D9-334615C2C741}"/>
              </a:ext>
            </a:extLst>
          </p:cNvPr>
          <p:cNvSpPr txBox="1"/>
          <p:nvPr/>
        </p:nvSpPr>
        <p:spPr>
          <a:xfrm>
            <a:off x="1860438" y="3478043"/>
            <a:ext cx="82368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Person</a:t>
            </a:r>
          </a:p>
        </p:txBody>
      </p:sp>
      <p:graphicFrame>
        <p:nvGraphicFramePr>
          <p:cNvPr id="7" name="Tabelle 6">
            <a:extLst>
              <a:ext uri="{FF2B5EF4-FFF2-40B4-BE49-F238E27FC236}">
                <a16:creationId xmlns:a16="http://schemas.microsoft.com/office/drawing/2014/main" id="{428828B7-0197-99F3-9488-BE7ACD39144B}"/>
              </a:ext>
            </a:extLst>
          </p:cNvPr>
          <p:cNvGraphicFramePr>
            <a:graphicFrameLocks noGrp="1"/>
          </p:cNvGraphicFramePr>
          <p:nvPr>
            <p:extLst>
              <p:ext uri="{D42A27DB-BD31-4B8C-83A1-F6EECF244321}">
                <p14:modId xmlns:p14="http://schemas.microsoft.com/office/powerpoint/2010/main" val="1439711774"/>
              </p:ext>
            </p:extLst>
          </p:nvPr>
        </p:nvGraphicFramePr>
        <p:xfrm>
          <a:off x="8528386" y="3847375"/>
          <a:ext cx="1162368" cy="1112520"/>
        </p:xfrm>
        <a:graphic>
          <a:graphicData uri="http://schemas.openxmlformats.org/drawingml/2006/table">
            <a:tbl>
              <a:tblPr firstRow="1" bandRow="1">
                <a:tableStyleId>{5C22544A-7EE6-4342-B048-85BDC9FD1C3A}</a:tableStyleId>
              </a:tblPr>
              <a:tblGrid>
                <a:gridCol w="1162368">
                  <a:extLst>
                    <a:ext uri="{9D8B030D-6E8A-4147-A177-3AD203B41FA5}">
                      <a16:colId xmlns:a16="http://schemas.microsoft.com/office/drawing/2014/main" val="4014580829"/>
                    </a:ext>
                  </a:extLst>
                </a:gridCol>
              </a:tblGrid>
              <a:tr h="370840">
                <a:tc>
                  <a:txBody>
                    <a:bodyPr/>
                    <a:lstStyle/>
                    <a:p>
                      <a:r>
                        <a:rPr lang="de-DE" dirty="0" err="1"/>
                        <a:t>Verein_ID</a:t>
                      </a:r>
                      <a:endParaRPr lang="de-DE" dirty="0"/>
                    </a:p>
                  </a:txBody>
                  <a:tcPr/>
                </a:tc>
                <a:extLst>
                  <a:ext uri="{0D108BD9-81ED-4DB2-BD59-A6C34878D82A}">
                    <a16:rowId xmlns:a16="http://schemas.microsoft.com/office/drawing/2014/main" val="4235911520"/>
                  </a:ext>
                </a:extLst>
              </a:tr>
              <a:tr h="370840">
                <a:tc>
                  <a:txBody>
                    <a:bodyPr/>
                    <a:lstStyle/>
                    <a:p>
                      <a:r>
                        <a:rPr lang="de-DE" dirty="0"/>
                        <a:t>Name</a:t>
                      </a:r>
                    </a:p>
                  </a:txBody>
                  <a:tcPr/>
                </a:tc>
                <a:extLst>
                  <a:ext uri="{0D108BD9-81ED-4DB2-BD59-A6C34878D82A}">
                    <a16:rowId xmlns:a16="http://schemas.microsoft.com/office/drawing/2014/main" val="1684581590"/>
                  </a:ext>
                </a:extLst>
              </a:tr>
              <a:tr h="370840">
                <a:tc>
                  <a:txBody>
                    <a:bodyPr/>
                    <a:lstStyle/>
                    <a:p>
                      <a:r>
                        <a:rPr lang="de-DE" dirty="0"/>
                        <a:t>Adresse</a:t>
                      </a:r>
                    </a:p>
                  </a:txBody>
                  <a:tcPr/>
                </a:tc>
                <a:extLst>
                  <a:ext uri="{0D108BD9-81ED-4DB2-BD59-A6C34878D82A}">
                    <a16:rowId xmlns:a16="http://schemas.microsoft.com/office/drawing/2014/main" val="528400265"/>
                  </a:ext>
                </a:extLst>
              </a:tr>
            </a:tbl>
          </a:graphicData>
        </a:graphic>
      </p:graphicFrame>
      <p:sp>
        <p:nvSpPr>
          <p:cNvPr id="8" name="Textfeld 7">
            <a:extLst>
              <a:ext uri="{FF2B5EF4-FFF2-40B4-BE49-F238E27FC236}">
                <a16:creationId xmlns:a16="http://schemas.microsoft.com/office/drawing/2014/main" id="{D800E5C4-F0CD-F93A-8FCC-CC9EFCA2C8DF}"/>
              </a:ext>
            </a:extLst>
          </p:cNvPr>
          <p:cNvSpPr txBox="1"/>
          <p:nvPr/>
        </p:nvSpPr>
        <p:spPr>
          <a:xfrm>
            <a:off x="8377543" y="3435624"/>
            <a:ext cx="787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Verein</a:t>
            </a:r>
          </a:p>
        </p:txBody>
      </p:sp>
      <p:cxnSp>
        <p:nvCxnSpPr>
          <p:cNvPr id="9" name="Gerader Verbinder 8">
            <a:extLst>
              <a:ext uri="{FF2B5EF4-FFF2-40B4-BE49-F238E27FC236}">
                <a16:creationId xmlns:a16="http://schemas.microsoft.com/office/drawing/2014/main" id="{3D9D7761-54E6-AAF0-3436-C991E03D5393}"/>
              </a:ext>
            </a:extLst>
          </p:cNvPr>
          <p:cNvCxnSpPr>
            <a:cxnSpLocks/>
          </p:cNvCxnSpPr>
          <p:nvPr/>
        </p:nvCxnSpPr>
        <p:spPr>
          <a:xfrm flipV="1">
            <a:off x="3912476" y="4203874"/>
            <a:ext cx="4615910" cy="739"/>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2A3D7436-58C0-F4A8-2CA1-CD36C65B8009}"/>
              </a:ext>
            </a:extLst>
          </p:cNvPr>
          <p:cNvSpPr txBox="1"/>
          <p:nvPr/>
        </p:nvSpPr>
        <p:spPr>
          <a:xfrm>
            <a:off x="4085352" y="3926875"/>
            <a:ext cx="11481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0071B2"/>
                </a:solidFill>
                <a:effectLst/>
                <a:uLnTx/>
                <a:uFillTx/>
                <a:latin typeface="Calibri" panose="020F0502020204030204"/>
                <a:ea typeface="+mn-ea"/>
                <a:cs typeface="+mn-cs"/>
              </a:rPr>
              <a:t>ist Mitglied von</a:t>
            </a:r>
          </a:p>
        </p:txBody>
      </p:sp>
      <p:sp>
        <p:nvSpPr>
          <p:cNvPr id="13" name="Textfeld 12">
            <a:extLst>
              <a:ext uri="{FF2B5EF4-FFF2-40B4-BE49-F238E27FC236}">
                <a16:creationId xmlns:a16="http://schemas.microsoft.com/office/drawing/2014/main" id="{6A5486DE-F43B-5007-CF26-902EF30A6C0E}"/>
              </a:ext>
            </a:extLst>
          </p:cNvPr>
          <p:cNvSpPr txBox="1"/>
          <p:nvPr/>
        </p:nvSpPr>
        <p:spPr>
          <a:xfrm>
            <a:off x="3848793" y="4159369"/>
            <a:ext cx="37221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0070C0"/>
                </a:solidFill>
                <a:effectLst/>
                <a:uLnTx/>
                <a:uFillTx/>
                <a:latin typeface="Calibri" panose="020F0502020204030204"/>
                <a:ea typeface="+mn-ea"/>
                <a:cs typeface="+mn-cs"/>
              </a:rPr>
              <a:t>m</a:t>
            </a:r>
          </a:p>
        </p:txBody>
      </p:sp>
      <p:sp>
        <p:nvSpPr>
          <p:cNvPr id="14" name="Textfeld 13">
            <a:extLst>
              <a:ext uri="{FF2B5EF4-FFF2-40B4-BE49-F238E27FC236}">
                <a16:creationId xmlns:a16="http://schemas.microsoft.com/office/drawing/2014/main" id="{3417382B-0EDC-7337-88CC-2B4440814CAA}"/>
              </a:ext>
            </a:extLst>
          </p:cNvPr>
          <p:cNvSpPr txBox="1"/>
          <p:nvPr/>
        </p:nvSpPr>
        <p:spPr>
          <a:xfrm>
            <a:off x="8220288" y="4109071"/>
            <a:ext cx="30809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0070C0"/>
                </a:solidFill>
                <a:effectLst/>
                <a:uLnTx/>
                <a:uFillTx/>
                <a:latin typeface="Calibri" panose="020F0502020204030204"/>
                <a:ea typeface="+mn-ea"/>
                <a:cs typeface="+mn-cs"/>
              </a:rPr>
              <a:t>n</a:t>
            </a:r>
          </a:p>
        </p:txBody>
      </p:sp>
      <p:sp>
        <p:nvSpPr>
          <p:cNvPr id="18" name="Textfeld 17">
            <a:extLst>
              <a:ext uri="{FF2B5EF4-FFF2-40B4-BE49-F238E27FC236}">
                <a16:creationId xmlns:a16="http://schemas.microsoft.com/office/drawing/2014/main" id="{CDF2D5B2-3638-AB85-937E-FA07162B41F7}"/>
              </a:ext>
            </a:extLst>
          </p:cNvPr>
          <p:cNvSpPr txBox="1"/>
          <p:nvPr/>
        </p:nvSpPr>
        <p:spPr>
          <a:xfrm>
            <a:off x="7234489" y="3926875"/>
            <a:ext cx="11481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0071B2"/>
                </a:solidFill>
                <a:effectLst/>
                <a:uLnTx/>
                <a:uFillTx/>
                <a:latin typeface="Calibri" panose="020F0502020204030204"/>
                <a:ea typeface="+mn-ea"/>
                <a:cs typeface="+mn-cs"/>
              </a:rPr>
              <a:t>ist Mitglied von</a:t>
            </a:r>
          </a:p>
        </p:txBody>
      </p:sp>
      <p:graphicFrame>
        <p:nvGraphicFramePr>
          <p:cNvPr id="19" name="Tabelle 18">
            <a:extLst>
              <a:ext uri="{FF2B5EF4-FFF2-40B4-BE49-F238E27FC236}">
                <a16:creationId xmlns:a16="http://schemas.microsoft.com/office/drawing/2014/main" id="{8631C00B-FD3D-1D1D-48A0-F1373372BFDA}"/>
              </a:ext>
            </a:extLst>
          </p:cNvPr>
          <p:cNvGraphicFramePr>
            <a:graphicFrameLocks noGrp="1"/>
          </p:cNvGraphicFramePr>
          <p:nvPr>
            <p:extLst>
              <p:ext uri="{D42A27DB-BD31-4B8C-83A1-F6EECF244321}">
                <p14:modId xmlns:p14="http://schemas.microsoft.com/office/powerpoint/2010/main" val="1221307817"/>
              </p:ext>
            </p:extLst>
          </p:nvPr>
        </p:nvGraphicFramePr>
        <p:xfrm>
          <a:off x="5648250" y="3847375"/>
          <a:ext cx="1200341" cy="741680"/>
        </p:xfrm>
        <a:graphic>
          <a:graphicData uri="http://schemas.openxmlformats.org/drawingml/2006/table">
            <a:tbl>
              <a:tblPr firstRow="1" bandRow="1">
                <a:tableStyleId>{5C22544A-7EE6-4342-B048-85BDC9FD1C3A}</a:tableStyleId>
              </a:tblPr>
              <a:tblGrid>
                <a:gridCol w="1200341">
                  <a:extLst>
                    <a:ext uri="{9D8B030D-6E8A-4147-A177-3AD203B41FA5}">
                      <a16:colId xmlns:a16="http://schemas.microsoft.com/office/drawing/2014/main" val="249882321"/>
                    </a:ext>
                  </a:extLst>
                </a:gridCol>
              </a:tblGrid>
              <a:tr h="370840">
                <a:tc>
                  <a:txBody>
                    <a:bodyPr/>
                    <a:lstStyle/>
                    <a:p>
                      <a:r>
                        <a:rPr lang="de-DE" dirty="0" err="1">
                          <a:solidFill>
                            <a:srgbClr val="FF0000"/>
                          </a:solidFill>
                        </a:rPr>
                        <a:t>Person_ID</a:t>
                      </a:r>
                      <a:endParaRPr lang="de-DE" dirty="0">
                        <a:solidFill>
                          <a:srgbClr val="FF0000"/>
                        </a:solidFill>
                      </a:endParaRPr>
                    </a:p>
                  </a:txBody>
                  <a:tcPr/>
                </a:tc>
                <a:extLst>
                  <a:ext uri="{0D108BD9-81ED-4DB2-BD59-A6C34878D82A}">
                    <a16:rowId xmlns:a16="http://schemas.microsoft.com/office/drawing/2014/main" val="3326372123"/>
                  </a:ext>
                </a:extLst>
              </a:tr>
              <a:tr h="370840">
                <a:tc>
                  <a:txBody>
                    <a:bodyPr/>
                    <a:lstStyle/>
                    <a:p>
                      <a:r>
                        <a:rPr lang="de-DE" dirty="0" err="1">
                          <a:solidFill>
                            <a:srgbClr val="FF0000"/>
                          </a:solidFill>
                        </a:rPr>
                        <a:t>Verein_ID</a:t>
                      </a:r>
                      <a:endParaRPr lang="de-DE" dirty="0">
                        <a:solidFill>
                          <a:srgbClr val="FF0000"/>
                        </a:solidFill>
                      </a:endParaRPr>
                    </a:p>
                  </a:txBody>
                  <a:tcPr/>
                </a:tc>
                <a:extLst>
                  <a:ext uri="{0D108BD9-81ED-4DB2-BD59-A6C34878D82A}">
                    <a16:rowId xmlns:a16="http://schemas.microsoft.com/office/drawing/2014/main" val="3778830818"/>
                  </a:ext>
                </a:extLst>
              </a:tr>
            </a:tbl>
          </a:graphicData>
        </a:graphic>
      </p:graphicFrame>
      <p:sp>
        <p:nvSpPr>
          <p:cNvPr id="20" name="Textfeld 19">
            <a:extLst>
              <a:ext uri="{FF2B5EF4-FFF2-40B4-BE49-F238E27FC236}">
                <a16:creationId xmlns:a16="http://schemas.microsoft.com/office/drawing/2014/main" id="{6221D1C9-8E1C-497E-73DB-035CC2AEBBEB}"/>
              </a:ext>
            </a:extLst>
          </p:cNvPr>
          <p:cNvSpPr txBox="1"/>
          <p:nvPr/>
        </p:nvSpPr>
        <p:spPr>
          <a:xfrm>
            <a:off x="5477535" y="3483044"/>
            <a:ext cx="154176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err="1">
                <a:ln>
                  <a:noFill/>
                </a:ln>
                <a:solidFill>
                  <a:srgbClr val="0071B2"/>
                </a:solidFill>
                <a:effectLst/>
                <a:uLnTx/>
                <a:uFillTx/>
                <a:latin typeface="Calibri" panose="020F0502020204030204"/>
                <a:ea typeface="+mn-ea"/>
                <a:cs typeface="+mn-cs"/>
              </a:rPr>
              <a:t>Person_Verein</a:t>
            </a: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30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13" grpId="0"/>
      <p:bldP spid="14" grpId="0"/>
      <p:bldP spid="18"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8532196" cy="720725"/>
          </a:xfrm>
        </p:spPr>
        <p:txBody>
          <a:bodyPr>
            <a:normAutofit/>
          </a:bodyPr>
          <a:lstStyle/>
          <a:p>
            <a:r>
              <a:rPr lang="de-DE" dirty="0">
                <a:latin typeface="Source Sans Pro" panose="020B0503030403020204" pitchFamily="34" charset="0"/>
              </a:rPr>
              <a:t>Normalisierung</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914020" y="1985963"/>
            <a:ext cx="10602234" cy="2677656"/>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Bei der Modellierung einer Datenbank werden üblicherweise eine Reihe von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Qualitätsmerkmalen</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 angestrebt. Meistens handelt es sich um 3 Merkmale.</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Falls eine Datenbank diese 3 Qualitätsmerkmale erfüllt, so spricht man davon, dass diese in der </a:t>
            </a:r>
            <a:r>
              <a:rPr lang="de-DE" sz="2400" b="1" dirty="0">
                <a:solidFill>
                  <a:srgbClr val="0071B2"/>
                </a:solidFill>
                <a:latin typeface="Source Sans Pro" panose="020B0503030403020204" pitchFamily="34" charset="0"/>
              </a:rPr>
              <a:t>3. Normalform</a:t>
            </a:r>
            <a:r>
              <a:rPr lang="de-DE" sz="2400" dirty="0">
                <a:solidFill>
                  <a:srgbClr val="0071B2"/>
                </a:solidFill>
                <a:latin typeface="Source Sans Pro" panose="020B0503030403020204" pitchFamily="34" charset="0"/>
              </a:rPr>
              <a:t> vorliegt.</a:t>
            </a: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Wir erläutern diese Merkmale mittels der folgenden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Beispiele</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rPr>
              <a:t>:</a:t>
            </a:r>
            <a:endParaRPr kumimoji="0" lang="de-DE" sz="1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Tree>
    <p:extLst>
      <p:ext uri="{BB962C8B-B14F-4D97-AF65-F5344CB8AC3E}">
        <p14:creationId xmlns:p14="http://schemas.microsoft.com/office/powerpoint/2010/main" val="67198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1167486" cy="720725"/>
          </a:xfrm>
        </p:spPr>
        <p:txBody>
          <a:bodyPr>
            <a:normAutofit fontScale="90000"/>
          </a:bodyPr>
          <a:lstStyle/>
          <a:p>
            <a:r>
              <a:rPr lang="de-DE" dirty="0">
                <a:latin typeface="Source Sans Pro" panose="020B0503030403020204" pitchFamily="34" charset="0"/>
              </a:rPr>
              <a:t>1. Atomisierung </a:t>
            </a:r>
            <a:r>
              <a:rPr lang="de-DE" sz="2000" b="0" dirty="0">
                <a:latin typeface="Source Sans Pro" panose="020B0503030403020204" pitchFamily="34" charset="0"/>
              </a:rPr>
              <a:t>(zusammengesetzte Informationen in </a:t>
            </a:r>
            <a:r>
              <a:rPr lang="de-DE" sz="2000" dirty="0">
                <a:latin typeface="Source Sans Pro" panose="020B0503030403020204" pitchFamily="34" charset="0"/>
              </a:rPr>
              <a:t>einzelne Informationen </a:t>
            </a:r>
            <a:r>
              <a:rPr lang="de-DE" sz="2000" b="0" dirty="0">
                <a:latin typeface="Source Sans Pro" panose="020B0503030403020204" pitchFamily="34" charset="0"/>
              </a:rPr>
              <a:t>aufspalten)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graphicFrame>
        <p:nvGraphicFramePr>
          <p:cNvPr id="2" name="Tabelle 1"/>
          <p:cNvGraphicFramePr>
            <a:graphicFrameLocks noGrp="1"/>
          </p:cNvGraphicFramePr>
          <p:nvPr>
            <p:extLst>
              <p:ext uri="{D42A27DB-BD31-4B8C-83A1-F6EECF244321}">
                <p14:modId xmlns:p14="http://schemas.microsoft.com/office/powerpoint/2010/main" val="1632634052"/>
              </p:ext>
            </p:extLst>
          </p:nvPr>
        </p:nvGraphicFramePr>
        <p:xfrm>
          <a:off x="1994097" y="1515744"/>
          <a:ext cx="8225220" cy="1483360"/>
        </p:xfrm>
        <a:graphic>
          <a:graphicData uri="http://schemas.openxmlformats.org/drawingml/2006/table">
            <a:tbl>
              <a:tblPr firstRow="1" bandRow="1">
                <a:tableStyleId>{5C22544A-7EE6-4342-B048-85BDC9FD1C3A}</a:tableStyleId>
              </a:tblPr>
              <a:tblGrid>
                <a:gridCol w="1200341">
                  <a:extLst>
                    <a:ext uri="{9D8B030D-6E8A-4147-A177-3AD203B41FA5}">
                      <a16:colId xmlns:a16="http://schemas.microsoft.com/office/drawing/2014/main" val="1237261657"/>
                    </a:ext>
                  </a:extLst>
                </a:gridCol>
                <a:gridCol w="1946085">
                  <a:extLst>
                    <a:ext uri="{9D8B030D-6E8A-4147-A177-3AD203B41FA5}">
                      <a16:colId xmlns:a16="http://schemas.microsoft.com/office/drawing/2014/main" val="4025604237"/>
                    </a:ext>
                  </a:extLst>
                </a:gridCol>
                <a:gridCol w="3342767">
                  <a:extLst>
                    <a:ext uri="{9D8B030D-6E8A-4147-A177-3AD203B41FA5}">
                      <a16:colId xmlns:a16="http://schemas.microsoft.com/office/drawing/2014/main" val="2213990225"/>
                    </a:ext>
                  </a:extLst>
                </a:gridCol>
                <a:gridCol w="1736027">
                  <a:extLst>
                    <a:ext uri="{9D8B030D-6E8A-4147-A177-3AD203B41FA5}">
                      <a16:colId xmlns:a16="http://schemas.microsoft.com/office/drawing/2014/main" val="2742739604"/>
                    </a:ext>
                  </a:extLst>
                </a:gridCol>
              </a:tblGrid>
              <a:tr h="370840">
                <a:tc>
                  <a:txBody>
                    <a:bodyPr/>
                    <a:lstStyle/>
                    <a:p>
                      <a:r>
                        <a:rPr lang="de-DE" dirty="0"/>
                        <a:t>Person_ID</a:t>
                      </a:r>
                    </a:p>
                  </a:txBody>
                  <a:tcPr/>
                </a:tc>
                <a:tc>
                  <a:txBody>
                    <a:bodyPr/>
                    <a:lstStyle/>
                    <a:p>
                      <a:r>
                        <a:rPr lang="de-DE" dirty="0">
                          <a:solidFill>
                            <a:srgbClr val="00B050"/>
                          </a:solidFill>
                        </a:rPr>
                        <a:t>Name</a:t>
                      </a:r>
                    </a:p>
                  </a:txBody>
                  <a:tcPr/>
                </a:tc>
                <a:tc>
                  <a:txBody>
                    <a:bodyPr/>
                    <a:lstStyle/>
                    <a:p>
                      <a:r>
                        <a:rPr lang="de-DE" dirty="0">
                          <a:solidFill>
                            <a:srgbClr val="FF0000"/>
                          </a:solidFill>
                        </a:rPr>
                        <a:t>Adresse</a:t>
                      </a:r>
                    </a:p>
                  </a:txBody>
                  <a:tcPr/>
                </a:tc>
                <a:tc>
                  <a:txBody>
                    <a:bodyPr/>
                    <a:lstStyle/>
                    <a:p>
                      <a:r>
                        <a:rPr lang="de-DE" dirty="0">
                          <a:solidFill>
                            <a:srgbClr val="FFC000"/>
                          </a:solidFill>
                        </a:rPr>
                        <a:t>Telefonnummer</a:t>
                      </a:r>
                    </a:p>
                  </a:txBody>
                  <a:tcPr/>
                </a:tc>
                <a:extLst>
                  <a:ext uri="{0D108BD9-81ED-4DB2-BD59-A6C34878D82A}">
                    <a16:rowId xmlns:a16="http://schemas.microsoft.com/office/drawing/2014/main" val="2568598433"/>
                  </a:ext>
                </a:extLst>
              </a:tr>
              <a:tr h="370840">
                <a:tc>
                  <a:txBody>
                    <a:bodyPr/>
                    <a:lstStyle/>
                    <a:p>
                      <a:r>
                        <a:rPr lang="de-DE" dirty="0"/>
                        <a:t>1</a:t>
                      </a:r>
                    </a:p>
                  </a:txBody>
                  <a:tcPr/>
                </a:tc>
                <a:tc>
                  <a:txBody>
                    <a:bodyPr/>
                    <a:lstStyle/>
                    <a:p>
                      <a:r>
                        <a:rPr lang="de-DE" dirty="0"/>
                        <a:t>Petra Bayram</a:t>
                      </a:r>
                    </a:p>
                  </a:txBody>
                  <a:tcPr/>
                </a:tc>
                <a:tc>
                  <a:txBody>
                    <a:bodyPr/>
                    <a:lstStyle/>
                    <a:p>
                      <a:r>
                        <a:rPr lang="de-DE" dirty="0"/>
                        <a:t>20095 Hamburg (Kölner Straße 1)</a:t>
                      </a:r>
                    </a:p>
                  </a:txBody>
                  <a:tcPr/>
                </a:tc>
                <a:tc>
                  <a:txBody>
                    <a:bodyPr/>
                    <a:lstStyle/>
                    <a:p>
                      <a:r>
                        <a:rPr lang="de-DE" dirty="0"/>
                        <a:t>040 / 123456</a:t>
                      </a:r>
                    </a:p>
                  </a:txBody>
                  <a:tcPr/>
                </a:tc>
                <a:extLst>
                  <a:ext uri="{0D108BD9-81ED-4DB2-BD59-A6C34878D82A}">
                    <a16:rowId xmlns:a16="http://schemas.microsoft.com/office/drawing/2014/main" val="1855174005"/>
                  </a:ext>
                </a:extLst>
              </a:tr>
              <a:tr h="370840">
                <a:tc>
                  <a:txBody>
                    <a:bodyPr/>
                    <a:lstStyle/>
                    <a:p>
                      <a:r>
                        <a:rPr lang="de-DE" dirty="0"/>
                        <a:t>2</a:t>
                      </a:r>
                    </a:p>
                  </a:txBody>
                  <a:tcPr/>
                </a:tc>
                <a:tc>
                  <a:txBody>
                    <a:bodyPr/>
                    <a:lstStyle/>
                    <a:p>
                      <a:r>
                        <a:rPr lang="de-DE" dirty="0"/>
                        <a:t>Schmidt, Claudia</a:t>
                      </a:r>
                    </a:p>
                  </a:txBody>
                  <a:tcPr/>
                </a:tc>
                <a:tc>
                  <a:txBody>
                    <a:bodyPr/>
                    <a:lstStyle/>
                    <a:p>
                      <a:r>
                        <a:rPr lang="de-DE" dirty="0"/>
                        <a:t>Baumweg 2, 10115 Berlin</a:t>
                      </a:r>
                    </a:p>
                  </a:txBody>
                  <a:tcPr/>
                </a:tc>
                <a:tc>
                  <a:txBody>
                    <a:bodyPr/>
                    <a:lstStyle/>
                    <a:p>
                      <a:r>
                        <a:rPr lang="de-DE" dirty="0"/>
                        <a:t>030 -</a:t>
                      </a:r>
                      <a:r>
                        <a:rPr lang="de-DE" baseline="0" dirty="0"/>
                        <a:t> 654321</a:t>
                      </a:r>
                      <a:endParaRPr lang="de-DE" dirty="0"/>
                    </a:p>
                  </a:txBody>
                  <a:tcPr/>
                </a:tc>
                <a:extLst>
                  <a:ext uri="{0D108BD9-81ED-4DB2-BD59-A6C34878D82A}">
                    <a16:rowId xmlns:a16="http://schemas.microsoft.com/office/drawing/2014/main" val="806125352"/>
                  </a:ext>
                </a:extLst>
              </a:tr>
              <a:tr h="370840">
                <a:tc>
                  <a:txBody>
                    <a:bodyPr/>
                    <a:lstStyle/>
                    <a:p>
                      <a:r>
                        <a:rPr lang="de-DE" dirty="0"/>
                        <a:t>3</a:t>
                      </a:r>
                    </a:p>
                  </a:txBody>
                  <a:tcPr/>
                </a:tc>
                <a:tc>
                  <a:txBody>
                    <a:bodyPr/>
                    <a:lstStyle/>
                    <a:p>
                      <a:r>
                        <a:rPr lang="de-DE" dirty="0"/>
                        <a:t>Hans Dieter Hüsch</a:t>
                      </a:r>
                    </a:p>
                  </a:txBody>
                  <a:tcPr/>
                </a:tc>
                <a:tc>
                  <a:txBody>
                    <a:bodyPr/>
                    <a:lstStyle/>
                    <a:p>
                      <a:r>
                        <a:rPr lang="de-DE" dirty="0"/>
                        <a:t>Dorfweg</a:t>
                      </a:r>
                      <a:r>
                        <a:rPr lang="de-DE" baseline="0" dirty="0"/>
                        <a:t> 7, 67433 Neustadt</a:t>
                      </a:r>
                      <a:endParaRPr lang="de-DE" dirty="0"/>
                    </a:p>
                  </a:txBody>
                  <a:tcPr/>
                </a:tc>
                <a:tc>
                  <a:txBody>
                    <a:bodyPr/>
                    <a:lstStyle/>
                    <a:p>
                      <a:r>
                        <a:rPr lang="de-DE" dirty="0"/>
                        <a:t>09161 1234</a:t>
                      </a:r>
                    </a:p>
                  </a:txBody>
                  <a:tcPr/>
                </a:tc>
                <a:extLst>
                  <a:ext uri="{0D108BD9-81ED-4DB2-BD59-A6C34878D82A}">
                    <a16:rowId xmlns:a16="http://schemas.microsoft.com/office/drawing/2014/main" val="207051978"/>
                  </a:ext>
                </a:extLst>
              </a:tr>
            </a:tbl>
          </a:graphicData>
        </a:graphic>
      </p:graphicFrame>
      <p:graphicFrame>
        <p:nvGraphicFramePr>
          <p:cNvPr id="3" name="Tabelle 2"/>
          <p:cNvGraphicFramePr>
            <a:graphicFrameLocks noGrp="1"/>
          </p:cNvGraphicFramePr>
          <p:nvPr>
            <p:extLst>
              <p:ext uri="{D42A27DB-BD31-4B8C-83A1-F6EECF244321}">
                <p14:modId xmlns:p14="http://schemas.microsoft.com/office/powerpoint/2010/main" val="4264414852"/>
              </p:ext>
            </p:extLst>
          </p:nvPr>
        </p:nvGraphicFramePr>
        <p:xfrm>
          <a:off x="684608" y="4106962"/>
          <a:ext cx="11173095" cy="1483360"/>
        </p:xfrm>
        <a:graphic>
          <a:graphicData uri="http://schemas.openxmlformats.org/drawingml/2006/table">
            <a:tbl>
              <a:tblPr firstRow="1" bandRow="1">
                <a:tableStyleId>{5C22544A-7EE6-4342-B048-85BDC9FD1C3A}</a:tableStyleId>
              </a:tblPr>
              <a:tblGrid>
                <a:gridCol w="1200341">
                  <a:extLst>
                    <a:ext uri="{9D8B030D-6E8A-4147-A177-3AD203B41FA5}">
                      <a16:colId xmlns:a16="http://schemas.microsoft.com/office/drawing/2014/main" val="2402864130"/>
                    </a:ext>
                  </a:extLst>
                </a:gridCol>
                <a:gridCol w="1323785">
                  <a:extLst>
                    <a:ext uri="{9D8B030D-6E8A-4147-A177-3AD203B41FA5}">
                      <a16:colId xmlns:a16="http://schemas.microsoft.com/office/drawing/2014/main" val="334824726"/>
                    </a:ext>
                  </a:extLst>
                </a:gridCol>
                <a:gridCol w="1251268">
                  <a:extLst>
                    <a:ext uri="{9D8B030D-6E8A-4147-A177-3AD203B41FA5}">
                      <a16:colId xmlns:a16="http://schemas.microsoft.com/office/drawing/2014/main" val="2643484310"/>
                    </a:ext>
                  </a:extLst>
                </a:gridCol>
                <a:gridCol w="1490091">
                  <a:extLst>
                    <a:ext uri="{9D8B030D-6E8A-4147-A177-3AD203B41FA5}">
                      <a16:colId xmlns:a16="http://schemas.microsoft.com/office/drawing/2014/main" val="2687828491"/>
                    </a:ext>
                  </a:extLst>
                </a:gridCol>
                <a:gridCol w="1516380">
                  <a:extLst>
                    <a:ext uri="{9D8B030D-6E8A-4147-A177-3AD203B41FA5}">
                      <a16:colId xmlns:a16="http://schemas.microsoft.com/office/drawing/2014/main" val="3592334232"/>
                    </a:ext>
                  </a:extLst>
                </a:gridCol>
                <a:gridCol w="903111">
                  <a:extLst>
                    <a:ext uri="{9D8B030D-6E8A-4147-A177-3AD203B41FA5}">
                      <a16:colId xmlns:a16="http://schemas.microsoft.com/office/drawing/2014/main" val="431005451"/>
                    </a:ext>
                  </a:extLst>
                </a:gridCol>
                <a:gridCol w="1095756">
                  <a:extLst>
                    <a:ext uri="{9D8B030D-6E8A-4147-A177-3AD203B41FA5}">
                      <a16:colId xmlns:a16="http://schemas.microsoft.com/office/drawing/2014/main" val="3151851681"/>
                    </a:ext>
                  </a:extLst>
                </a:gridCol>
                <a:gridCol w="1022033">
                  <a:extLst>
                    <a:ext uri="{9D8B030D-6E8A-4147-A177-3AD203B41FA5}">
                      <a16:colId xmlns:a16="http://schemas.microsoft.com/office/drawing/2014/main" val="1488852422"/>
                    </a:ext>
                  </a:extLst>
                </a:gridCol>
                <a:gridCol w="1370330">
                  <a:extLst>
                    <a:ext uri="{9D8B030D-6E8A-4147-A177-3AD203B41FA5}">
                      <a16:colId xmlns:a16="http://schemas.microsoft.com/office/drawing/2014/main" val="3174405846"/>
                    </a:ext>
                  </a:extLst>
                </a:gridCol>
              </a:tblGrid>
              <a:tr h="370840">
                <a:tc>
                  <a:txBody>
                    <a:bodyPr/>
                    <a:lstStyle/>
                    <a:p>
                      <a:r>
                        <a:rPr lang="de-DE" dirty="0"/>
                        <a:t>Person_ID</a:t>
                      </a:r>
                    </a:p>
                  </a:txBody>
                  <a:tcPr/>
                </a:tc>
                <a:tc>
                  <a:txBody>
                    <a:bodyPr/>
                    <a:lstStyle/>
                    <a:p>
                      <a:r>
                        <a:rPr lang="de-DE" dirty="0">
                          <a:solidFill>
                            <a:srgbClr val="00B050"/>
                          </a:solidFill>
                        </a:rPr>
                        <a:t>Vorname</a:t>
                      </a:r>
                    </a:p>
                  </a:txBody>
                  <a:tcPr/>
                </a:tc>
                <a:tc>
                  <a:txBody>
                    <a:bodyPr/>
                    <a:lstStyle/>
                    <a:p>
                      <a:r>
                        <a:rPr lang="de-DE" dirty="0">
                          <a:solidFill>
                            <a:srgbClr val="00B050"/>
                          </a:solidFill>
                        </a:rPr>
                        <a:t>Nachname</a:t>
                      </a:r>
                    </a:p>
                  </a:txBody>
                  <a:tcPr/>
                </a:tc>
                <a:tc>
                  <a:txBody>
                    <a:bodyPr/>
                    <a:lstStyle/>
                    <a:p>
                      <a:r>
                        <a:rPr lang="de-DE" dirty="0">
                          <a:solidFill>
                            <a:srgbClr val="FF0000"/>
                          </a:solidFill>
                        </a:rPr>
                        <a:t>Straße</a:t>
                      </a:r>
                    </a:p>
                  </a:txBody>
                  <a:tcPr/>
                </a:tc>
                <a:tc>
                  <a:txBody>
                    <a:bodyPr/>
                    <a:lstStyle/>
                    <a:p>
                      <a:r>
                        <a:rPr lang="de-DE" dirty="0">
                          <a:solidFill>
                            <a:srgbClr val="FF0000"/>
                          </a:solidFill>
                        </a:rPr>
                        <a:t>Hausnummer</a:t>
                      </a:r>
                    </a:p>
                  </a:txBody>
                  <a:tcPr/>
                </a:tc>
                <a:tc>
                  <a:txBody>
                    <a:bodyPr/>
                    <a:lstStyle/>
                    <a:p>
                      <a:r>
                        <a:rPr lang="de-DE" dirty="0">
                          <a:solidFill>
                            <a:srgbClr val="FF0000"/>
                          </a:solidFill>
                        </a:rPr>
                        <a:t>PLZ</a:t>
                      </a:r>
                    </a:p>
                  </a:txBody>
                  <a:tcPr/>
                </a:tc>
                <a:tc>
                  <a:txBody>
                    <a:bodyPr/>
                    <a:lstStyle/>
                    <a:p>
                      <a:r>
                        <a:rPr lang="de-DE" dirty="0">
                          <a:solidFill>
                            <a:srgbClr val="FF0000"/>
                          </a:solidFill>
                        </a:rPr>
                        <a:t>Stadt</a:t>
                      </a:r>
                    </a:p>
                  </a:txBody>
                  <a:tcPr/>
                </a:tc>
                <a:tc>
                  <a:txBody>
                    <a:bodyPr/>
                    <a:lstStyle/>
                    <a:p>
                      <a:r>
                        <a:rPr lang="de-DE" dirty="0">
                          <a:solidFill>
                            <a:srgbClr val="FFC000"/>
                          </a:solidFill>
                        </a:rPr>
                        <a:t>Vorwahl</a:t>
                      </a:r>
                    </a:p>
                  </a:txBody>
                  <a:tcPr/>
                </a:tc>
                <a:tc>
                  <a:txBody>
                    <a:bodyPr/>
                    <a:lstStyle/>
                    <a:p>
                      <a:r>
                        <a:rPr lang="de-DE" dirty="0">
                          <a:solidFill>
                            <a:srgbClr val="FFC000"/>
                          </a:solidFill>
                        </a:rPr>
                        <a:t>Rufnummer</a:t>
                      </a:r>
                    </a:p>
                  </a:txBody>
                  <a:tcPr/>
                </a:tc>
                <a:extLst>
                  <a:ext uri="{0D108BD9-81ED-4DB2-BD59-A6C34878D82A}">
                    <a16:rowId xmlns:a16="http://schemas.microsoft.com/office/drawing/2014/main" val="167595443"/>
                  </a:ext>
                </a:extLst>
              </a:tr>
              <a:tr h="370840">
                <a:tc>
                  <a:txBody>
                    <a:bodyPr/>
                    <a:lstStyle/>
                    <a:p>
                      <a:r>
                        <a:rPr lang="de-DE" dirty="0"/>
                        <a:t>1</a:t>
                      </a:r>
                    </a:p>
                  </a:txBody>
                  <a:tcPr/>
                </a:tc>
                <a:tc>
                  <a:txBody>
                    <a:bodyPr/>
                    <a:lstStyle/>
                    <a:p>
                      <a:r>
                        <a:rPr lang="de-DE" dirty="0"/>
                        <a:t>Petra</a:t>
                      </a:r>
                    </a:p>
                  </a:txBody>
                  <a:tcPr/>
                </a:tc>
                <a:tc>
                  <a:txBody>
                    <a:bodyPr/>
                    <a:lstStyle/>
                    <a:p>
                      <a:r>
                        <a:rPr lang="de-DE" dirty="0"/>
                        <a:t>Bayram</a:t>
                      </a:r>
                    </a:p>
                  </a:txBody>
                  <a:tcPr/>
                </a:tc>
                <a:tc>
                  <a:txBody>
                    <a:bodyPr/>
                    <a:lstStyle/>
                    <a:p>
                      <a:r>
                        <a:rPr lang="de-DE" dirty="0"/>
                        <a:t>Kölner Straße</a:t>
                      </a:r>
                    </a:p>
                  </a:txBody>
                  <a:tcPr/>
                </a:tc>
                <a:tc>
                  <a:txBody>
                    <a:bodyPr/>
                    <a:lstStyle/>
                    <a:p>
                      <a:r>
                        <a:rPr lang="de-DE" dirty="0"/>
                        <a:t>1</a:t>
                      </a:r>
                    </a:p>
                  </a:txBody>
                  <a:tcPr/>
                </a:tc>
                <a:tc>
                  <a:txBody>
                    <a:bodyPr/>
                    <a:lstStyle/>
                    <a:p>
                      <a:r>
                        <a:rPr lang="de-DE" dirty="0"/>
                        <a:t>20095</a:t>
                      </a:r>
                    </a:p>
                  </a:txBody>
                  <a:tcPr/>
                </a:tc>
                <a:tc>
                  <a:txBody>
                    <a:bodyPr/>
                    <a:lstStyle/>
                    <a:p>
                      <a:r>
                        <a:rPr lang="de-DE" dirty="0"/>
                        <a:t>Hamburg</a:t>
                      </a:r>
                    </a:p>
                  </a:txBody>
                  <a:tcPr/>
                </a:tc>
                <a:tc>
                  <a:txBody>
                    <a:bodyPr/>
                    <a:lstStyle/>
                    <a:p>
                      <a:r>
                        <a:rPr lang="de-DE" dirty="0"/>
                        <a:t>040</a:t>
                      </a:r>
                    </a:p>
                  </a:txBody>
                  <a:tcPr/>
                </a:tc>
                <a:tc>
                  <a:txBody>
                    <a:bodyPr/>
                    <a:lstStyle/>
                    <a:p>
                      <a:r>
                        <a:rPr lang="de-DE" dirty="0"/>
                        <a:t>123456</a:t>
                      </a:r>
                    </a:p>
                  </a:txBody>
                  <a:tcPr/>
                </a:tc>
                <a:extLst>
                  <a:ext uri="{0D108BD9-81ED-4DB2-BD59-A6C34878D82A}">
                    <a16:rowId xmlns:a16="http://schemas.microsoft.com/office/drawing/2014/main" val="3160028121"/>
                  </a:ext>
                </a:extLst>
              </a:tr>
              <a:tr h="370840">
                <a:tc>
                  <a:txBody>
                    <a:bodyPr/>
                    <a:lstStyle/>
                    <a:p>
                      <a:r>
                        <a:rPr lang="de-DE" dirty="0"/>
                        <a:t>2</a:t>
                      </a:r>
                    </a:p>
                  </a:txBody>
                  <a:tcPr/>
                </a:tc>
                <a:tc>
                  <a:txBody>
                    <a:bodyPr/>
                    <a:lstStyle/>
                    <a:p>
                      <a:r>
                        <a:rPr lang="de-DE" dirty="0"/>
                        <a:t>Claudia</a:t>
                      </a:r>
                    </a:p>
                  </a:txBody>
                  <a:tcPr/>
                </a:tc>
                <a:tc>
                  <a:txBody>
                    <a:bodyPr/>
                    <a:lstStyle/>
                    <a:p>
                      <a:r>
                        <a:rPr lang="de-DE" dirty="0"/>
                        <a:t>Schmidt</a:t>
                      </a:r>
                    </a:p>
                  </a:txBody>
                  <a:tcPr/>
                </a:tc>
                <a:tc>
                  <a:txBody>
                    <a:bodyPr/>
                    <a:lstStyle/>
                    <a:p>
                      <a:r>
                        <a:rPr lang="de-DE" dirty="0"/>
                        <a:t>Baumweg</a:t>
                      </a:r>
                    </a:p>
                  </a:txBody>
                  <a:tcPr/>
                </a:tc>
                <a:tc>
                  <a:txBody>
                    <a:bodyPr/>
                    <a:lstStyle/>
                    <a:p>
                      <a:r>
                        <a:rPr lang="de-DE" dirty="0"/>
                        <a:t>2</a:t>
                      </a:r>
                    </a:p>
                  </a:txBody>
                  <a:tcPr/>
                </a:tc>
                <a:tc>
                  <a:txBody>
                    <a:bodyPr/>
                    <a:lstStyle/>
                    <a:p>
                      <a:r>
                        <a:rPr lang="de-DE" dirty="0"/>
                        <a:t>10115</a:t>
                      </a:r>
                    </a:p>
                  </a:txBody>
                  <a:tcPr/>
                </a:tc>
                <a:tc>
                  <a:txBody>
                    <a:bodyPr/>
                    <a:lstStyle/>
                    <a:p>
                      <a:r>
                        <a:rPr lang="de-DE" dirty="0"/>
                        <a:t>Berlin</a:t>
                      </a:r>
                    </a:p>
                  </a:txBody>
                  <a:tcPr/>
                </a:tc>
                <a:tc>
                  <a:txBody>
                    <a:bodyPr/>
                    <a:lstStyle/>
                    <a:p>
                      <a:r>
                        <a:rPr lang="de-DE" dirty="0"/>
                        <a:t>030</a:t>
                      </a:r>
                    </a:p>
                  </a:txBody>
                  <a:tcPr/>
                </a:tc>
                <a:tc>
                  <a:txBody>
                    <a:bodyPr/>
                    <a:lstStyle/>
                    <a:p>
                      <a:r>
                        <a:rPr lang="de-DE" dirty="0"/>
                        <a:t>654321</a:t>
                      </a:r>
                    </a:p>
                  </a:txBody>
                  <a:tcPr/>
                </a:tc>
                <a:extLst>
                  <a:ext uri="{0D108BD9-81ED-4DB2-BD59-A6C34878D82A}">
                    <a16:rowId xmlns:a16="http://schemas.microsoft.com/office/drawing/2014/main" val="532536434"/>
                  </a:ext>
                </a:extLst>
              </a:tr>
              <a:tr h="370840">
                <a:tc>
                  <a:txBody>
                    <a:bodyPr/>
                    <a:lstStyle/>
                    <a:p>
                      <a:r>
                        <a:rPr lang="de-DE" dirty="0"/>
                        <a:t>3</a:t>
                      </a:r>
                    </a:p>
                  </a:txBody>
                  <a:tcPr/>
                </a:tc>
                <a:tc>
                  <a:txBody>
                    <a:bodyPr/>
                    <a:lstStyle/>
                    <a:p>
                      <a:r>
                        <a:rPr lang="de-DE" dirty="0"/>
                        <a:t>Hans Dieter</a:t>
                      </a:r>
                    </a:p>
                  </a:txBody>
                  <a:tcPr/>
                </a:tc>
                <a:tc>
                  <a:txBody>
                    <a:bodyPr/>
                    <a:lstStyle/>
                    <a:p>
                      <a:r>
                        <a:rPr lang="de-DE" dirty="0"/>
                        <a:t>Hüsch</a:t>
                      </a:r>
                    </a:p>
                  </a:txBody>
                  <a:tcPr/>
                </a:tc>
                <a:tc>
                  <a:txBody>
                    <a:bodyPr/>
                    <a:lstStyle/>
                    <a:p>
                      <a:r>
                        <a:rPr lang="de-DE" dirty="0"/>
                        <a:t>Dorfweg</a:t>
                      </a:r>
                    </a:p>
                  </a:txBody>
                  <a:tcPr/>
                </a:tc>
                <a:tc>
                  <a:txBody>
                    <a:bodyPr/>
                    <a:lstStyle/>
                    <a:p>
                      <a:r>
                        <a:rPr lang="de-DE" dirty="0"/>
                        <a:t>7</a:t>
                      </a:r>
                    </a:p>
                  </a:txBody>
                  <a:tcPr/>
                </a:tc>
                <a:tc>
                  <a:txBody>
                    <a:bodyPr/>
                    <a:lstStyle/>
                    <a:p>
                      <a:r>
                        <a:rPr lang="de-DE" dirty="0"/>
                        <a:t>67433</a:t>
                      </a:r>
                    </a:p>
                  </a:txBody>
                  <a:tcPr/>
                </a:tc>
                <a:tc>
                  <a:txBody>
                    <a:bodyPr/>
                    <a:lstStyle/>
                    <a:p>
                      <a:r>
                        <a:rPr lang="de-DE" dirty="0"/>
                        <a:t>Neustadt</a:t>
                      </a:r>
                    </a:p>
                  </a:txBody>
                  <a:tcPr/>
                </a:tc>
                <a:tc>
                  <a:txBody>
                    <a:bodyPr/>
                    <a:lstStyle/>
                    <a:p>
                      <a:r>
                        <a:rPr lang="de-DE" dirty="0"/>
                        <a:t>09161</a:t>
                      </a:r>
                    </a:p>
                  </a:txBody>
                  <a:tcPr/>
                </a:tc>
                <a:tc>
                  <a:txBody>
                    <a:bodyPr/>
                    <a:lstStyle/>
                    <a:p>
                      <a:r>
                        <a:rPr lang="de-DE" dirty="0"/>
                        <a:t>1234</a:t>
                      </a:r>
                    </a:p>
                  </a:txBody>
                  <a:tcPr/>
                </a:tc>
                <a:extLst>
                  <a:ext uri="{0D108BD9-81ED-4DB2-BD59-A6C34878D82A}">
                    <a16:rowId xmlns:a16="http://schemas.microsoft.com/office/drawing/2014/main" val="3702171923"/>
                  </a:ext>
                </a:extLst>
              </a:tr>
            </a:tbl>
          </a:graphicData>
        </a:graphic>
      </p:graphicFrame>
      <p:sp>
        <p:nvSpPr>
          <p:cNvPr id="7" name="Pfeil nach unten 6"/>
          <p:cNvSpPr/>
          <p:nvPr/>
        </p:nvSpPr>
        <p:spPr>
          <a:xfrm>
            <a:off x="5948780" y="3143618"/>
            <a:ext cx="315855" cy="8478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sp>
        <p:nvSpPr>
          <p:cNvPr id="8" name="Textfeld 7"/>
          <p:cNvSpPr txBox="1"/>
          <p:nvPr/>
        </p:nvSpPr>
        <p:spPr>
          <a:xfrm>
            <a:off x="4419033" y="3301394"/>
            <a:ext cx="14365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Atomisierung</a:t>
            </a:r>
          </a:p>
        </p:txBody>
      </p:sp>
      <p:sp>
        <p:nvSpPr>
          <p:cNvPr id="13" name="Textfeld 12"/>
          <p:cNvSpPr txBox="1"/>
          <p:nvPr/>
        </p:nvSpPr>
        <p:spPr>
          <a:xfrm>
            <a:off x="6357835" y="3301394"/>
            <a:ext cx="143654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rPr>
              <a:t>Atomisierung</a:t>
            </a:r>
          </a:p>
        </p:txBody>
      </p:sp>
    </p:spTree>
    <p:extLst>
      <p:ext uri="{BB962C8B-B14F-4D97-AF65-F5344CB8AC3E}">
        <p14:creationId xmlns:p14="http://schemas.microsoft.com/office/powerpoint/2010/main" val="410532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261491" cy="720725"/>
          </a:xfrm>
        </p:spPr>
        <p:txBody>
          <a:bodyPr>
            <a:normAutofit fontScale="90000"/>
          </a:bodyPr>
          <a:lstStyle/>
          <a:p>
            <a:r>
              <a:rPr lang="de-DE" dirty="0">
                <a:latin typeface="Source Sans Pro" panose="020B0503030403020204" pitchFamily="34" charset="0"/>
              </a:rPr>
              <a:t>2. Surrogatschlüssel </a:t>
            </a:r>
            <a:r>
              <a:rPr lang="de-DE" sz="2700" b="0" dirty="0">
                <a:latin typeface="Source Sans Pro" panose="020B0503030403020204" pitchFamily="34" charset="0"/>
              </a:rPr>
              <a:t>(zusammengesetzte Primärschlüssel </a:t>
            </a:r>
            <a:r>
              <a:rPr lang="de-DE" sz="2700" dirty="0">
                <a:latin typeface="Source Sans Pro" panose="020B0503030403020204" pitchFamily="34" charset="0"/>
              </a:rPr>
              <a:t>vermeiden!</a:t>
            </a:r>
            <a:r>
              <a:rPr lang="de-DE" sz="2700" b="0" dirty="0">
                <a:latin typeface="Source Sans Pro" panose="020B0503030403020204" pitchFamily="34" charset="0"/>
              </a:rPr>
              <a:t>)</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3" name="Textfeld 2"/>
          <p:cNvSpPr txBox="1"/>
          <p:nvPr/>
        </p:nvSpPr>
        <p:spPr>
          <a:xfrm>
            <a:off x="184558" y="1233661"/>
            <a:ext cx="11794921" cy="646331"/>
          </a:xfrm>
          <a:prstGeom prst="rect">
            <a:avLst/>
          </a:prstGeom>
          <a:solidFill>
            <a:schemeClr val="bg2"/>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solidFill>
                <a:effectLst/>
                <a:uLnTx/>
                <a:uFillTx/>
                <a:latin typeface="Calibri" panose="020F0502020204030204"/>
                <a:ea typeface="+mn-ea"/>
                <a:cs typeface="+mn-cs"/>
              </a:rPr>
              <a:t>Vorbemerkung: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a:ln>
                  <a:noFill/>
                </a:ln>
                <a:solidFill>
                  <a:srgbClr val="0071B2"/>
                </a:solidFill>
                <a:effectLst/>
                <a:uLnTx/>
                <a:uFillTx/>
                <a:latin typeface="Calibri" panose="020F0502020204030204"/>
                <a:ea typeface="+mn-ea"/>
                <a:cs typeface="+mn-cs"/>
              </a:rPr>
              <a:t>Das folgende Beispiel verzichtet zunächst auf ein „ID-Attribut“ und bemüht sich stattdessen mit Hilfe ohnehin vorhandener Attribute einen (eindeutigen) </a:t>
            </a:r>
            <a:r>
              <a:rPr kumimoji="0" lang="de-DE" sz="1200" b="1" i="0" u="none" strike="noStrike" kern="1200" cap="none" spc="0" normalizeH="0" baseline="0" noProof="0" dirty="0">
                <a:ln>
                  <a:noFill/>
                </a:ln>
                <a:solidFill>
                  <a:srgbClr val="FE5000"/>
                </a:solidFill>
                <a:effectLst/>
                <a:uLnTx/>
                <a:uFillTx/>
                <a:latin typeface="Calibri" panose="020F0502020204030204"/>
                <a:ea typeface="+mn-ea"/>
                <a:cs typeface="+mn-cs"/>
              </a:rPr>
              <a:t>zusammengesetzten Primärschlüssel </a:t>
            </a:r>
            <a:r>
              <a:rPr kumimoji="0" lang="de-DE" sz="1200" b="0" i="0" u="none" strike="noStrike" kern="1200" cap="none" spc="0" normalizeH="0" baseline="0" noProof="0" dirty="0">
                <a:ln>
                  <a:noFill/>
                </a:ln>
                <a:solidFill>
                  <a:srgbClr val="0071B2"/>
                </a:solidFill>
                <a:effectLst/>
                <a:uLnTx/>
                <a:uFillTx/>
                <a:latin typeface="Calibri" panose="020F0502020204030204"/>
                <a:ea typeface="+mn-ea"/>
                <a:cs typeface="+mn-cs"/>
              </a:rPr>
              <a:t>zu bilden. Dem Beispiel geschuldet wollen wir dabei ignorieren, dass eine Person über Geburtsdatum und Postleitzahl üblicherweise </a:t>
            </a:r>
            <a:r>
              <a:rPr kumimoji="0" lang="de-DE" sz="1200" b="0" i="0" u="sng" strike="noStrike" kern="1200" cap="none" spc="0" normalizeH="0" baseline="0" noProof="0" dirty="0">
                <a:ln>
                  <a:noFill/>
                </a:ln>
                <a:solidFill>
                  <a:srgbClr val="0071B2"/>
                </a:solidFill>
                <a:effectLst/>
                <a:uLnTx/>
                <a:uFillTx/>
                <a:latin typeface="Calibri" panose="020F0502020204030204"/>
                <a:ea typeface="+mn-ea"/>
                <a:cs typeface="+mn-cs"/>
              </a:rPr>
              <a:t>nicht</a:t>
            </a:r>
            <a:r>
              <a:rPr kumimoji="0" lang="de-DE" sz="1200" b="0" i="0" u="none" strike="noStrike" kern="1200" cap="none" spc="0" normalizeH="0" baseline="0" noProof="0" dirty="0">
                <a:ln>
                  <a:noFill/>
                </a:ln>
                <a:solidFill>
                  <a:srgbClr val="0071B2"/>
                </a:solidFill>
                <a:effectLst/>
                <a:uLnTx/>
                <a:uFillTx/>
                <a:latin typeface="Calibri" panose="020F0502020204030204"/>
                <a:ea typeface="+mn-ea"/>
                <a:cs typeface="+mn-cs"/>
              </a:rPr>
              <a:t> eindeutig beschrieben ist: </a:t>
            </a:r>
          </a:p>
        </p:txBody>
      </p:sp>
      <p:graphicFrame>
        <p:nvGraphicFramePr>
          <p:cNvPr id="7" name="Tabelle 6"/>
          <p:cNvGraphicFramePr>
            <a:graphicFrameLocks noGrp="1"/>
          </p:cNvGraphicFramePr>
          <p:nvPr>
            <p:extLst>
              <p:ext uri="{D42A27DB-BD31-4B8C-83A1-F6EECF244321}">
                <p14:modId xmlns:p14="http://schemas.microsoft.com/office/powerpoint/2010/main" val="768269292"/>
              </p:ext>
            </p:extLst>
          </p:nvPr>
        </p:nvGraphicFramePr>
        <p:xfrm>
          <a:off x="1978893" y="2227713"/>
          <a:ext cx="8384457" cy="1483360"/>
        </p:xfrm>
        <a:graphic>
          <a:graphicData uri="http://schemas.openxmlformats.org/drawingml/2006/table">
            <a:tbl>
              <a:tblPr firstRow="1" bandRow="1">
                <a:tableStyleId>{5C22544A-7EE6-4342-B048-85BDC9FD1C3A}</a:tableStyleId>
              </a:tblPr>
              <a:tblGrid>
                <a:gridCol w="1611122">
                  <a:extLst>
                    <a:ext uri="{9D8B030D-6E8A-4147-A177-3AD203B41FA5}">
                      <a16:colId xmlns:a16="http://schemas.microsoft.com/office/drawing/2014/main" val="3136503513"/>
                    </a:ext>
                  </a:extLst>
                </a:gridCol>
                <a:gridCol w="1354667">
                  <a:extLst>
                    <a:ext uri="{9D8B030D-6E8A-4147-A177-3AD203B41FA5}">
                      <a16:colId xmlns:a16="http://schemas.microsoft.com/office/drawing/2014/main" val="3181503388"/>
                    </a:ext>
                  </a:extLst>
                </a:gridCol>
                <a:gridCol w="1354667">
                  <a:extLst>
                    <a:ext uri="{9D8B030D-6E8A-4147-A177-3AD203B41FA5}">
                      <a16:colId xmlns:a16="http://schemas.microsoft.com/office/drawing/2014/main" val="1627782536"/>
                    </a:ext>
                  </a:extLst>
                </a:gridCol>
                <a:gridCol w="1354667">
                  <a:extLst>
                    <a:ext uri="{9D8B030D-6E8A-4147-A177-3AD203B41FA5}">
                      <a16:colId xmlns:a16="http://schemas.microsoft.com/office/drawing/2014/main" val="513578318"/>
                    </a:ext>
                  </a:extLst>
                </a:gridCol>
                <a:gridCol w="1354667">
                  <a:extLst>
                    <a:ext uri="{9D8B030D-6E8A-4147-A177-3AD203B41FA5}">
                      <a16:colId xmlns:a16="http://schemas.microsoft.com/office/drawing/2014/main" val="2881246959"/>
                    </a:ext>
                  </a:extLst>
                </a:gridCol>
                <a:gridCol w="1354667">
                  <a:extLst>
                    <a:ext uri="{9D8B030D-6E8A-4147-A177-3AD203B41FA5}">
                      <a16:colId xmlns:a16="http://schemas.microsoft.com/office/drawing/2014/main" val="4173463824"/>
                    </a:ext>
                  </a:extLst>
                </a:gridCol>
              </a:tblGrid>
              <a:tr h="370840">
                <a:tc>
                  <a:txBody>
                    <a:bodyPr/>
                    <a:lstStyle/>
                    <a:p>
                      <a:r>
                        <a:rPr lang="de-DE" dirty="0"/>
                        <a:t>Geburtsdatum</a:t>
                      </a:r>
                    </a:p>
                  </a:txBody>
                  <a:tcPr/>
                </a:tc>
                <a:tc>
                  <a:txBody>
                    <a:bodyPr/>
                    <a:lstStyle/>
                    <a:p>
                      <a:r>
                        <a:rPr lang="de-DE" dirty="0"/>
                        <a:t>PLZ</a:t>
                      </a:r>
                    </a:p>
                  </a:txBody>
                  <a:tcPr/>
                </a:tc>
                <a:tc>
                  <a:txBody>
                    <a:bodyPr/>
                    <a:lstStyle/>
                    <a:p>
                      <a:r>
                        <a:rPr lang="de-DE" dirty="0"/>
                        <a:t>Vorname</a:t>
                      </a:r>
                    </a:p>
                  </a:txBody>
                  <a:tcPr/>
                </a:tc>
                <a:tc>
                  <a:txBody>
                    <a:bodyPr/>
                    <a:lstStyle/>
                    <a:p>
                      <a:r>
                        <a:rPr lang="de-DE" dirty="0"/>
                        <a:t>Nachname</a:t>
                      </a:r>
                    </a:p>
                  </a:txBody>
                  <a:tcPr/>
                </a:tc>
                <a:tc>
                  <a:txBody>
                    <a:bodyPr/>
                    <a:lstStyle/>
                    <a:p>
                      <a:r>
                        <a:rPr lang="de-DE" dirty="0"/>
                        <a:t>Vorwahl</a:t>
                      </a:r>
                    </a:p>
                  </a:txBody>
                  <a:tcPr/>
                </a:tc>
                <a:tc>
                  <a:txBody>
                    <a:bodyPr/>
                    <a:lstStyle/>
                    <a:p>
                      <a:r>
                        <a:rPr lang="de-DE" dirty="0"/>
                        <a:t>Rufnummer</a:t>
                      </a:r>
                    </a:p>
                  </a:txBody>
                  <a:tcPr/>
                </a:tc>
                <a:extLst>
                  <a:ext uri="{0D108BD9-81ED-4DB2-BD59-A6C34878D82A}">
                    <a16:rowId xmlns:a16="http://schemas.microsoft.com/office/drawing/2014/main" val="1690564022"/>
                  </a:ext>
                </a:extLst>
              </a:tr>
              <a:tr h="370840">
                <a:tc>
                  <a:txBody>
                    <a:bodyPr/>
                    <a:lstStyle/>
                    <a:p>
                      <a:r>
                        <a:rPr lang="de-DE" dirty="0"/>
                        <a:t>01.01.2001</a:t>
                      </a:r>
                    </a:p>
                  </a:txBody>
                  <a:tcPr/>
                </a:tc>
                <a:tc>
                  <a:txBody>
                    <a:bodyPr/>
                    <a:lstStyle/>
                    <a:p>
                      <a:r>
                        <a:rPr lang="de-DE" dirty="0"/>
                        <a:t>20095</a:t>
                      </a:r>
                    </a:p>
                  </a:txBody>
                  <a:tcPr/>
                </a:tc>
                <a:tc>
                  <a:txBody>
                    <a:bodyPr/>
                    <a:lstStyle/>
                    <a:p>
                      <a:r>
                        <a:rPr lang="de-DE" dirty="0"/>
                        <a:t>Petra</a:t>
                      </a:r>
                    </a:p>
                  </a:txBody>
                  <a:tcPr/>
                </a:tc>
                <a:tc>
                  <a:txBody>
                    <a:bodyPr/>
                    <a:lstStyle/>
                    <a:p>
                      <a:r>
                        <a:rPr lang="de-DE" dirty="0"/>
                        <a:t>Bayram</a:t>
                      </a:r>
                    </a:p>
                  </a:txBody>
                  <a:tcPr/>
                </a:tc>
                <a:tc>
                  <a:txBody>
                    <a:bodyPr/>
                    <a:lstStyle/>
                    <a:p>
                      <a:r>
                        <a:rPr lang="de-DE" dirty="0"/>
                        <a:t>040</a:t>
                      </a:r>
                    </a:p>
                  </a:txBody>
                  <a:tcPr/>
                </a:tc>
                <a:tc>
                  <a:txBody>
                    <a:bodyPr/>
                    <a:lstStyle/>
                    <a:p>
                      <a:r>
                        <a:rPr lang="de-DE" dirty="0"/>
                        <a:t>123456</a:t>
                      </a:r>
                    </a:p>
                  </a:txBody>
                  <a:tcPr/>
                </a:tc>
                <a:extLst>
                  <a:ext uri="{0D108BD9-81ED-4DB2-BD59-A6C34878D82A}">
                    <a16:rowId xmlns:a16="http://schemas.microsoft.com/office/drawing/2014/main" val="4153367732"/>
                  </a:ext>
                </a:extLst>
              </a:tr>
              <a:tr h="370840">
                <a:tc>
                  <a:txBody>
                    <a:bodyPr/>
                    <a:lstStyle/>
                    <a:p>
                      <a:r>
                        <a:rPr lang="de-DE" dirty="0"/>
                        <a:t>02.02.2002</a:t>
                      </a:r>
                    </a:p>
                  </a:txBody>
                  <a:tcPr/>
                </a:tc>
                <a:tc>
                  <a:txBody>
                    <a:bodyPr/>
                    <a:lstStyle/>
                    <a:p>
                      <a:r>
                        <a:rPr lang="de-DE" dirty="0"/>
                        <a:t>10115</a:t>
                      </a:r>
                    </a:p>
                  </a:txBody>
                  <a:tcPr/>
                </a:tc>
                <a:tc>
                  <a:txBody>
                    <a:bodyPr/>
                    <a:lstStyle/>
                    <a:p>
                      <a:r>
                        <a:rPr lang="de-DE" dirty="0"/>
                        <a:t>Claudia</a:t>
                      </a:r>
                    </a:p>
                  </a:txBody>
                  <a:tcPr/>
                </a:tc>
                <a:tc>
                  <a:txBody>
                    <a:bodyPr/>
                    <a:lstStyle/>
                    <a:p>
                      <a:r>
                        <a:rPr lang="de-DE" dirty="0"/>
                        <a:t>Schmidt</a:t>
                      </a:r>
                    </a:p>
                  </a:txBody>
                  <a:tcPr/>
                </a:tc>
                <a:tc>
                  <a:txBody>
                    <a:bodyPr/>
                    <a:lstStyle/>
                    <a:p>
                      <a:r>
                        <a:rPr lang="de-DE" dirty="0"/>
                        <a:t>030</a:t>
                      </a:r>
                    </a:p>
                  </a:txBody>
                  <a:tcPr/>
                </a:tc>
                <a:tc>
                  <a:txBody>
                    <a:bodyPr/>
                    <a:lstStyle/>
                    <a:p>
                      <a:r>
                        <a:rPr lang="de-DE" dirty="0"/>
                        <a:t>654321</a:t>
                      </a:r>
                    </a:p>
                  </a:txBody>
                  <a:tcPr/>
                </a:tc>
                <a:extLst>
                  <a:ext uri="{0D108BD9-81ED-4DB2-BD59-A6C34878D82A}">
                    <a16:rowId xmlns:a16="http://schemas.microsoft.com/office/drawing/2014/main" val="3258675601"/>
                  </a:ext>
                </a:extLst>
              </a:tr>
              <a:tr h="370840">
                <a:tc>
                  <a:txBody>
                    <a:bodyPr/>
                    <a:lstStyle/>
                    <a:p>
                      <a:r>
                        <a:rPr lang="de-DE" dirty="0"/>
                        <a:t>03.03.2003</a:t>
                      </a:r>
                    </a:p>
                  </a:txBody>
                  <a:tcPr/>
                </a:tc>
                <a:tc>
                  <a:txBody>
                    <a:bodyPr/>
                    <a:lstStyle/>
                    <a:p>
                      <a:r>
                        <a:rPr lang="de-DE" dirty="0"/>
                        <a:t>67433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Hans Dieter</a:t>
                      </a:r>
                    </a:p>
                  </a:txBody>
                  <a:tcPr/>
                </a:tc>
                <a:tc>
                  <a:txBody>
                    <a:bodyPr/>
                    <a:lstStyle/>
                    <a:p>
                      <a:r>
                        <a:rPr lang="de-DE" dirty="0"/>
                        <a:t>Hüsch</a:t>
                      </a:r>
                    </a:p>
                  </a:txBody>
                  <a:tcPr/>
                </a:tc>
                <a:tc>
                  <a:txBody>
                    <a:bodyPr/>
                    <a:lstStyle/>
                    <a:p>
                      <a:r>
                        <a:rPr lang="de-DE" dirty="0"/>
                        <a:t>09161</a:t>
                      </a:r>
                    </a:p>
                  </a:txBody>
                  <a:tcPr/>
                </a:tc>
                <a:tc>
                  <a:txBody>
                    <a:bodyPr/>
                    <a:lstStyle/>
                    <a:p>
                      <a:r>
                        <a:rPr lang="de-DE" dirty="0"/>
                        <a:t>1234</a:t>
                      </a:r>
                    </a:p>
                  </a:txBody>
                  <a:tcPr/>
                </a:tc>
                <a:extLst>
                  <a:ext uri="{0D108BD9-81ED-4DB2-BD59-A6C34878D82A}">
                    <a16:rowId xmlns:a16="http://schemas.microsoft.com/office/drawing/2014/main" val="3161235527"/>
                  </a:ext>
                </a:extLst>
              </a:tr>
            </a:tbl>
          </a:graphicData>
        </a:graphic>
      </p:graphicFrame>
      <p:sp>
        <p:nvSpPr>
          <p:cNvPr id="8" name="Rechteck 7"/>
          <p:cNvSpPr/>
          <p:nvPr/>
        </p:nvSpPr>
        <p:spPr>
          <a:xfrm>
            <a:off x="1978893" y="2227713"/>
            <a:ext cx="2966722" cy="148336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graphicFrame>
        <p:nvGraphicFramePr>
          <p:cNvPr id="2" name="Tabelle 1">
            <a:extLst>
              <a:ext uri="{FF2B5EF4-FFF2-40B4-BE49-F238E27FC236}">
                <a16:creationId xmlns:a16="http://schemas.microsoft.com/office/drawing/2014/main" id="{01620A33-0F4A-8347-1755-6CC56F081588}"/>
              </a:ext>
            </a:extLst>
          </p:cNvPr>
          <p:cNvGraphicFramePr>
            <a:graphicFrameLocks noGrp="1"/>
          </p:cNvGraphicFramePr>
          <p:nvPr>
            <p:extLst>
              <p:ext uri="{D42A27DB-BD31-4B8C-83A1-F6EECF244321}">
                <p14:modId xmlns:p14="http://schemas.microsoft.com/office/powerpoint/2010/main" val="2749078619"/>
              </p:ext>
            </p:extLst>
          </p:nvPr>
        </p:nvGraphicFramePr>
        <p:xfrm>
          <a:off x="1225824" y="4502430"/>
          <a:ext cx="9740351" cy="1483360"/>
        </p:xfrm>
        <a:graphic>
          <a:graphicData uri="http://schemas.openxmlformats.org/drawingml/2006/table">
            <a:tbl>
              <a:tblPr firstRow="1" bandRow="1">
                <a:tableStyleId>{5C22544A-7EE6-4342-B048-85BDC9FD1C3A}</a:tableStyleId>
              </a:tblPr>
              <a:tblGrid>
                <a:gridCol w="1569983">
                  <a:extLst>
                    <a:ext uri="{9D8B030D-6E8A-4147-A177-3AD203B41FA5}">
                      <a16:colId xmlns:a16="http://schemas.microsoft.com/office/drawing/2014/main" val="885058192"/>
                    </a:ext>
                  </a:extLst>
                </a:gridCol>
                <a:gridCol w="1569983">
                  <a:extLst>
                    <a:ext uri="{9D8B030D-6E8A-4147-A177-3AD203B41FA5}">
                      <a16:colId xmlns:a16="http://schemas.microsoft.com/office/drawing/2014/main" val="3136503513"/>
                    </a:ext>
                  </a:extLst>
                </a:gridCol>
                <a:gridCol w="1320077">
                  <a:extLst>
                    <a:ext uri="{9D8B030D-6E8A-4147-A177-3AD203B41FA5}">
                      <a16:colId xmlns:a16="http://schemas.microsoft.com/office/drawing/2014/main" val="3181503388"/>
                    </a:ext>
                  </a:extLst>
                </a:gridCol>
                <a:gridCol w="1320077">
                  <a:extLst>
                    <a:ext uri="{9D8B030D-6E8A-4147-A177-3AD203B41FA5}">
                      <a16:colId xmlns:a16="http://schemas.microsoft.com/office/drawing/2014/main" val="1627782536"/>
                    </a:ext>
                  </a:extLst>
                </a:gridCol>
                <a:gridCol w="1320077">
                  <a:extLst>
                    <a:ext uri="{9D8B030D-6E8A-4147-A177-3AD203B41FA5}">
                      <a16:colId xmlns:a16="http://schemas.microsoft.com/office/drawing/2014/main" val="513578318"/>
                    </a:ext>
                  </a:extLst>
                </a:gridCol>
                <a:gridCol w="1320077">
                  <a:extLst>
                    <a:ext uri="{9D8B030D-6E8A-4147-A177-3AD203B41FA5}">
                      <a16:colId xmlns:a16="http://schemas.microsoft.com/office/drawing/2014/main" val="2881246959"/>
                    </a:ext>
                  </a:extLst>
                </a:gridCol>
                <a:gridCol w="1320077">
                  <a:extLst>
                    <a:ext uri="{9D8B030D-6E8A-4147-A177-3AD203B41FA5}">
                      <a16:colId xmlns:a16="http://schemas.microsoft.com/office/drawing/2014/main" val="4173463824"/>
                    </a:ext>
                  </a:extLst>
                </a:gridCol>
              </a:tblGrid>
              <a:tr h="370840">
                <a:tc>
                  <a:txBody>
                    <a:bodyPr/>
                    <a:lstStyle/>
                    <a:p>
                      <a:r>
                        <a:rPr lang="de-DE" dirty="0">
                          <a:solidFill>
                            <a:schemeClr val="bg1"/>
                          </a:solidFill>
                        </a:rPr>
                        <a:t>Person_ID</a:t>
                      </a:r>
                    </a:p>
                  </a:txBody>
                  <a:tcPr/>
                </a:tc>
                <a:tc>
                  <a:txBody>
                    <a:bodyPr/>
                    <a:lstStyle/>
                    <a:p>
                      <a:r>
                        <a:rPr lang="de-DE" dirty="0"/>
                        <a:t>Geburtsdatum</a:t>
                      </a:r>
                    </a:p>
                  </a:txBody>
                  <a:tcPr/>
                </a:tc>
                <a:tc>
                  <a:txBody>
                    <a:bodyPr/>
                    <a:lstStyle/>
                    <a:p>
                      <a:r>
                        <a:rPr lang="de-DE" dirty="0">
                          <a:solidFill>
                            <a:schemeClr val="bg1"/>
                          </a:solidFill>
                        </a:rPr>
                        <a:t>PLZ</a:t>
                      </a:r>
                    </a:p>
                  </a:txBody>
                  <a:tcPr/>
                </a:tc>
                <a:tc>
                  <a:txBody>
                    <a:bodyPr/>
                    <a:lstStyle/>
                    <a:p>
                      <a:r>
                        <a:rPr lang="de-DE" dirty="0"/>
                        <a:t>Vorname</a:t>
                      </a:r>
                    </a:p>
                  </a:txBody>
                  <a:tcPr/>
                </a:tc>
                <a:tc>
                  <a:txBody>
                    <a:bodyPr/>
                    <a:lstStyle/>
                    <a:p>
                      <a:r>
                        <a:rPr lang="de-DE" dirty="0"/>
                        <a:t>Nachname</a:t>
                      </a:r>
                    </a:p>
                  </a:txBody>
                  <a:tcPr/>
                </a:tc>
                <a:tc>
                  <a:txBody>
                    <a:bodyPr/>
                    <a:lstStyle/>
                    <a:p>
                      <a:r>
                        <a:rPr lang="de-DE" dirty="0">
                          <a:solidFill>
                            <a:schemeClr val="bg1"/>
                          </a:solidFill>
                        </a:rPr>
                        <a:t>Vorwahl</a:t>
                      </a:r>
                    </a:p>
                  </a:txBody>
                  <a:tcPr/>
                </a:tc>
                <a:tc>
                  <a:txBody>
                    <a:bodyPr/>
                    <a:lstStyle/>
                    <a:p>
                      <a:r>
                        <a:rPr lang="de-DE" dirty="0"/>
                        <a:t>Rufnummer</a:t>
                      </a:r>
                    </a:p>
                  </a:txBody>
                  <a:tcPr/>
                </a:tc>
                <a:extLst>
                  <a:ext uri="{0D108BD9-81ED-4DB2-BD59-A6C34878D82A}">
                    <a16:rowId xmlns:a16="http://schemas.microsoft.com/office/drawing/2014/main" val="1690564022"/>
                  </a:ext>
                </a:extLst>
              </a:tr>
              <a:tr h="370840">
                <a:tc>
                  <a:txBody>
                    <a:bodyPr/>
                    <a:lstStyle/>
                    <a:p>
                      <a:r>
                        <a:rPr lang="de-DE" dirty="0"/>
                        <a:t>1</a:t>
                      </a:r>
                    </a:p>
                  </a:txBody>
                  <a:tcPr/>
                </a:tc>
                <a:tc>
                  <a:txBody>
                    <a:bodyPr/>
                    <a:lstStyle/>
                    <a:p>
                      <a:r>
                        <a:rPr lang="de-DE" dirty="0"/>
                        <a:t>01.01.2001</a:t>
                      </a:r>
                    </a:p>
                  </a:txBody>
                  <a:tcPr/>
                </a:tc>
                <a:tc>
                  <a:txBody>
                    <a:bodyPr/>
                    <a:lstStyle/>
                    <a:p>
                      <a:r>
                        <a:rPr lang="de-DE" dirty="0"/>
                        <a:t>20095</a:t>
                      </a:r>
                    </a:p>
                  </a:txBody>
                  <a:tcPr/>
                </a:tc>
                <a:tc>
                  <a:txBody>
                    <a:bodyPr/>
                    <a:lstStyle/>
                    <a:p>
                      <a:r>
                        <a:rPr lang="de-DE" dirty="0"/>
                        <a:t>Petra</a:t>
                      </a:r>
                    </a:p>
                  </a:txBody>
                  <a:tcPr/>
                </a:tc>
                <a:tc>
                  <a:txBody>
                    <a:bodyPr/>
                    <a:lstStyle/>
                    <a:p>
                      <a:r>
                        <a:rPr lang="de-DE" dirty="0"/>
                        <a:t>Bayram</a:t>
                      </a:r>
                    </a:p>
                  </a:txBody>
                  <a:tcPr/>
                </a:tc>
                <a:tc>
                  <a:txBody>
                    <a:bodyPr/>
                    <a:lstStyle/>
                    <a:p>
                      <a:r>
                        <a:rPr lang="de-DE" dirty="0"/>
                        <a:t>040</a:t>
                      </a:r>
                    </a:p>
                  </a:txBody>
                  <a:tcPr/>
                </a:tc>
                <a:tc>
                  <a:txBody>
                    <a:bodyPr/>
                    <a:lstStyle/>
                    <a:p>
                      <a:r>
                        <a:rPr lang="de-DE" dirty="0"/>
                        <a:t>123456</a:t>
                      </a:r>
                    </a:p>
                  </a:txBody>
                  <a:tcPr/>
                </a:tc>
                <a:extLst>
                  <a:ext uri="{0D108BD9-81ED-4DB2-BD59-A6C34878D82A}">
                    <a16:rowId xmlns:a16="http://schemas.microsoft.com/office/drawing/2014/main" val="4153367732"/>
                  </a:ext>
                </a:extLst>
              </a:tr>
              <a:tr h="370840">
                <a:tc>
                  <a:txBody>
                    <a:bodyPr/>
                    <a:lstStyle/>
                    <a:p>
                      <a:r>
                        <a:rPr lang="de-DE" dirty="0"/>
                        <a:t>2</a:t>
                      </a:r>
                    </a:p>
                  </a:txBody>
                  <a:tcPr/>
                </a:tc>
                <a:tc>
                  <a:txBody>
                    <a:bodyPr/>
                    <a:lstStyle/>
                    <a:p>
                      <a:r>
                        <a:rPr lang="de-DE" dirty="0"/>
                        <a:t>02.02.2002</a:t>
                      </a:r>
                    </a:p>
                  </a:txBody>
                  <a:tcPr/>
                </a:tc>
                <a:tc>
                  <a:txBody>
                    <a:bodyPr/>
                    <a:lstStyle/>
                    <a:p>
                      <a:r>
                        <a:rPr lang="de-DE" dirty="0"/>
                        <a:t>10115</a:t>
                      </a:r>
                    </a:p>
                  </a:txBody>
                  <a:tcPr/>
                </a:tc>
                <a:tc>
                  <a:txBody>
                    <a:bodyPr/>
                    <a:lstStyle/>
                    <a:p>
                      <a:r>
                        <a:rPr lang="de-DE" dirty="0"/>
                        <a:t>Claudia</a:t>
                      </a:r>
                    </a:p>
                  </a:txBody>
                  <a:tcPr/>
                </a:tc>
                <a:tc>
                  <a:txBody>
                    <a:bodyPr/>
                    <a:lstStyle/>
                    <a:p>
                      <a:r>
                        <a:rPr lang="de-DE" dirty="0"/>
                        <a:t>Schmidt</a:t>
                      </a:r>
                    </a:p>
                  </a:txBody>
                  <a:tcPr/>
                </a:tc>
                <a:tc>
                  <a:txBody>
                    <a:bodyPr/>
                    <a:lstStyle/>
                    <a:p>
                      <a:r>
                        <a:rPr lang="de-DE" dirty="0"/>
                        <a:t>030</a:t>
                      </a:r>
                    </a:p>
                  </a:txBody>
                  <a:tcPr/>
                </a:tc>
                <a:tc>
                  <a:txBody>
                    <a:bodyPr/>
                    <a:lstStyle/>
                    <a:p>
                      <a:r>
                        <a:rPr lang="de-DE" dirty="0"/>
                        <a:t>654321</a:t>
                      </a:r>
                    </a:p>
                  </a:txBody>
                  <a:tcPr/>
                </a:tc>
                <a:extLst>
                  <a:ext uri="{0D108BD9-81ED-4DB2-BD59-A6C34878D82A}">
                    <a16:rowId xmlns:a16="http://schemas.microsoft.com/office/drawing/2014/main" val="3258675601"/>
                  </a:ext>
                </a:extLst>
              </a:tr>
              <a:tr h="370840">
                <a:tc>
                  <a:txBody>
                    <a:bodyPr/>
                    <a:lstStyle/>
                    <a:p>
                      <a:r>
                        <a:rPr lang="de-DE" dirty="0"/>
                        <a:t>3</a:t>
                      </a:r>
                    </a:p>
                  </a:txBody>
                  <a:tcPr/>
                </a:tc>
                <a:tc>
                  <a:txBody>
                    <a:bodyPr/>
                    <a:lstStyle/>
                    <a:p>
                      <a:r>
                        <a:rPr lang="de-DE" dirty="0"/>
                        <a:t>03.03.2003</a:t>
                      </a:r>
                    </a:p>
                  </a:txBody>
                  <a:tcPr/>
                </a:tc>
                <a:tc>
                  <a:txBody>
                    <a:bodyPr/>
                    <a:lstStyle/>
                    <a:p>
                      <a:r>
                        <a:rPr lang="de-DE" dirty="0"/>
                        <a:t>67433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Hans Dieter</a:t>
                      </a:r>
                    </a:p>
                  </a:txBody>
                  <a:tcPr/>
                </a:tc>
                <a:tc>
                  <a:txBody>
                    <a:bodyPr/>
                    <a:lstStyle/>
                    <a:p>
                      <a:r>
                        <a:rPr lang="de-DE" dirty="0"/>
                        <a:t>Hüsch</a:t>
                      </a:r>
                    </a:p>
                  </a:txBody>
                  <a:tcPr/>
                </a:tc>
                <a:tc>
                  <a:txBody>
                    <a:bodyPr/>
                    <a:lstStyle/>
                    <a:p>
                      <a:r>
                        <a:rPr lang="de-DE" dirty="0"/>
                        <a:t>09161</a:t>
                      </a:r>
                    </a:p>
                  </a:txBody>
                  <a:tcPr/>
                </a:tc>
                <a:tc>
                  <a:txBody>
                    <a:bodyPr/>
                    <a:lstStyle/>
                    <a:p>
                      <a:r>
                        <a:rPr lang="de-DE" dirty="0"/>
                        <a:t>1234</a:t>
                      </a:r>
                    </a:p>
                  </a:txBody>
                  <a:tcPr/>
                </a:tc>
                <a:extLst>
                  <a:ext uri="{0D108BD9-81ED-4DB2-BD59-A6C34878D82A}">
                    <a16:rowId xmlns:a16="http://schemas.microsoft.com/office/drawing/2014/main" val="3161235527"/>
                  </a:ext>
                </a:extLst>
              </a:tr>
            </a:tbl>
          </a:graphicData>
        </a:graphic>
      </p:graphicFrame>
      <p:sp>
        <p:nvSpPr>
          <p:cNvPr id="6" name="Rechteck 5">
            <a:extLst>
              <a:ext uri="{FF2B5EF4-FFF2-40B4-BE49-F238E27FC236}">
                <a16:creationId xmlns:a16="http://schemas.microsoft.com/office/drawing/2014/main" id="{B7C262D3-FE78-8FD6-993E-8246AF42289C}"/>
              </a:ext>
            </a:extLst>
          </p:cNvPr>
          <p:cNvSpPr/>
          <p:nvPr/>
        </p:nvSpPr>
        <p:spPr>
          <a:xfrm>
            <a:off x="1225824" y="4502430"/>
            <a:ext cx="1569537" cy="1483360"/>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9" name="Pfeil: nach rechts 8">
            <a:extLst>
              <a:ext uri="{FF2B5EF4-FFF2-40B4-BE49-F238E27FC236}">
                <a16:creationId xmlns:a16="http://schemas.microsoft.com/office/drawing/2014/main" id="{B5445DA3-758E-CC7A-E3B3-EFBCF3C84EAD}"/>
              </a:ext>
            </a:extLst>
          </p:cNvPr>
          <p:cNvSpPr/>
          <p:nvPr/>
        </p:nvSpPr>
        <p:spPr>
          <a:xfrm rot="6851229">
            <a:off x="2223082" y="3951554"/>
            <a:ext cx="444617" cy="310393"/>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extfeld 9">
            <a:extLst>
              <a:ext uri="{FF2B5EF4-FFF2-40B4-BE49-F238E27FC236}">
                <a16:creationId xmlns:a16="http://schemas.microsoft.com/office/drawing/2014/main" id="{F33B7EED-9B1D-9868-AA0E-6809DCE39509}"/>
              </a:ext>
            </a:extLst>
          </p:cNvPr>
          <p:cNvSpPr txBox="1"/>
          <p:nvPr/>
        </p:nvSpPr>
        <p:spPr>
          <a:xfrm>
            <a:off x="2642243" y="3856097"/>
            <a:ext cx="6284093" cy="461665"/>
          </a:xfrm>
          <a:prstGeom prst="rect">
            <a:avLst/>
          </a:prstGeom>
          <a:noFill/>
        </p:spPr>
        <p:txBody>
          <a:bodyPr wrap="none" rtlCol="0">
            <a:spAutoFit/>
          </a:bodyPr>
          <a:lstStyle/>
          <a:p>
            <a:r>
              <a:rPr lang="de-DE" sz="1200" dirty="0">
                <a:solidFill>
                  <a:schemeClr val="accent2"/>
                </a:solidFill>
              </a:rPr>
              <a:t>(auf zusammengesetzte Primärschlüssel verzichten …</a:t>
            </a:r>
          </a:p>
          <a:p>
            <a:r>
              <a:rPr lang="de-DE" sz="1200" dirty="0">
                <a:solidFill>
                  <a:schemeClr val="accent2"/>
                </a:solidFill>
              </a:rPr>
              <a:t>  … und stattdessen einfach einen </a:t>
            </a:r>
            <a:r>
              <a:rPr lang="de-DE" sz="1200" b="1" dirty="0">
                <a:solidFill>
                  <a:schemeClr val="accent2"/>
                </a:solidFill>
              </a:rPr>
              <a:t>selbsterschaffenden „künstlichen“ Primärschlüssel </a:t>
            </a:r>
            <a:r>
              <a:rPr lang="de-DE" sz="1200" dirty="0">
                <a:solidFill>
                  <a:schemeClr val="accent2"/>
                </a:solidFill>
              </a:rPr>
              <a:t>hinzufügen!)</a:t>
            </a:r>
          </a:p>
        </p:txBody>
      </p:sp>
    </p:spTree>
    <p:extLst>
      <p:ext uri="{BB962C8B-B14F-4D97-AF65-F5344CB8AC3E}">
        <p14:creationId xmlns:p14="http://schemas.microsoft.com/office/powerpoint/2010/main" val="2111474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3" grpId="0" animBg="1"/>
      <p:bldP spid="8" grpId="0" animBg="1"/>
      <p:bldP spid="6" grpId="0" animBg="1"/>
      <p:bldP spid="9" grpId="0" animBg="1"/>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fontScale="90000"/>
          </a:bodyPr>
          <a:lstStyle/>
          <a:p>
            <a:r>
              <a:rPr lang="de-DE" dirty="0">
                <a:latin typeface="Source Sans Pro" panose="020B0503030403020204" pitchFamily="34" charset="0"/>
              </a:rPr>
              <a:t>3. Monothematik </a:t>
            </a:r>
            <a:r>
              <a:rPr lang="de-DE" sz="2700" b="0" dirty="0">
                <a:latin typeface="Source Sans Pro" panose="020B0503030403020204" pitchFamily="34" charset="0"/>
              </a:rPr>
              <a:t>(jede Entität sollte eine </a:t>
            </a:r>
            <a:r>
              <a:rPr lang="de-DE" sz="2700" dirty="0">
                <a:latin typeface="Source Sans Pro" panose="020B0503030403020204" pitchFamily="34" charset="0"/>
              </a:rPr>
              <a:t>eigene Tabelle </a:t>
            </a:r>
            <a:r>
              <a:rPr lang="de-DE" sz="2700" b="0" dirty="0">
                <a:latin typeface="Source Sans Pro" panose="020B0503030403020204" pitchFamily="34" charset="0"/>
              </a:rPr>
              <a:t>erhalten)</a:t>
            </a:r>
            <a:endParaRPr lang="de-DE" sz="27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15" name="Tabelle 14">
            <a:extLst>
              <a:ext uri="{FF2B5EF4-FFF2-40B4-BE49-F238E27FC236}">
                <a16:creationId xmlns:a16="http://schemas.microsoft.com/office/drawing/2014/main" id="{1C2892B0-8794-7CAE-1882-1496002C11EE}"/>
              </a:ext>
            </a:extLst>
          </p:cNvPr>
          <p:cNvGraphicFramePr>
            <a:graphicFrameLocks noGrp="1"/>
          </p:cNvGraphicFramePr>
          <p:nvPr>
            <p:extLst>
              <p:ext uri="{D42A27DB-BD31-4B8C-83A1-F6EECF244321}">
                <p14:modId xmlns:p14="http://schemas.microsoft.com/office/powerpoint/2010/main" val="413655793"/>
              </p:ext>
            </p:extLst>
          </p:nvPr>
        </p:nvGraphicFramePr>
        <p:xfrm>
          <a:off x="731707" y="1256562"/>
          <a:ext cx="6545962" cy="1854200"/>
        </p:xfrm>
        <a:graphic>
          <a:graphicData uri="http://schemas.openxmlformats.org/drawingml/2006/table">
            <a:tbl>
              <a:tblPr firstRow="1" bandRow="1">
                <a:tableStyleId>{5C22544A-7EE6-4342-B048-85BDC9FD1C3A}</a:tableStyleId>
              </a:tblPr>
              <a:tblGrid>
                <a:gridCol w="1309243">
                  <a:extLst>
                    <a:ext uri="{9D8B030D-6E8A-4147-A177-3AD203B41FA5}">
                      <a16:colId xmlns:a16="http://schemas.microsoft.com/office/drawing/2014/main" val="1906331604"/>
                    </a:ext>
                  </a:extLst>
                </a:gridCol>
                <a:gridCol w="1525143">
                  <a:extLst>
                    <a:ext uri="{9D8B030D-6E8A-4147-A177-3AD203B41FA5}">
                      <a16:colId xmlns:a16="http://schemas.microsoft.com/office/drawing/2014/main" val="816005280"/>
                    </a:ext>
                  </a:extLst>
                </a:gridCol>
                <a:gridCol w="1007428">
                  <a:extLst>
                    <a:ext uri="{9D8B030D-6E8A-4147-A177-3AD203B41FA5}">
                      <a16:colId xmlns:a16="http://schemas.microsoft.com/office/drawing/2014/main" val="2988062967"/>
                    </a:ext>
                  </a:extLst>
                </a:gridCol>
                <a:gridCol w="1692402">
                  <a:extLst>
                    <a:ext uri="{9D8B030D-6E8A-4147-A177-3AD203B41FA5}">
                      <a16:colId xmlns:a16="http://schemas.microsoft.com/office/drawing/2014/main" val="3516069443"/>
                    </a:ext>
                  </a:extLst>
                </a:gridCol>
                <a:gridCol w="1011746">
                  <a:extLst>
                    <a:ext uri="{9D8B030D-6E8A-4147-A177-3AD203B41FA5}">
                      <a16:colId xmlns:a16="http://schemas.microsoft.com/office/drawing/2014/main" val="2461930687"/>
                    </a:ext>
                  </a:extLst>
                </a:gridCol>
              </a:tblGrid>
              <a:tr h="370840">
                <a:tc>
                  <a:txBody>
                    <a:bodyPr/>
                    <a:lstStyle/>
                    <a:p>
                      <a:r>
                        <a:rPr lang="de-DE" dirty="0" err="1">
                          <a:solidFill>
                            <a:schemeClr val="accent2"/>
                          </a:solidFill>
                        </a:rPr>
                        <a:t>Produkt_ID</a:t>
                      </a:r>
                      <a:endParaRPr lang="de-DE" dirty="0">
                        <a:solidFill>
                          <a:schemeClr val="accent2"/>
                        </a:solidFill>
                      </a:endParaRPr>
                    </a:p>
                  </a:txBody>
                  <a:tcPr/>
                </a:tc>
                <a:tc>
                  <a:txBody>
                    <a:bodyPr/>
                    <a:lstStyle/>
                    <a:p>
                      <a:r>
                        <a:rPr lang="de-DE" dirty="0">
                          <a:solidFill>
                            <a:schemeClr val="accent2"/>
                          </a:solidFill>
                        </a:rPr>
                        <a:t>Produktname</a:t>
                      </a:r>
                    </a:p>
                  </a:txBody>
                  <a:tcPr/>
                </a:tc>
                <a:tc>
                  <a:txBody>
                    <a:bodyPr/>
                    <a:lstStyle/>
                    <a:p>
                      <a:r>
                        <a:rPr lang="de-DE" dirty="0">
                          <a:solidFill>
                            <a:schemeClr val="accent2"/>
                          </a:solidFill>
                        </a:rPr>
                        <a:t>Preis (€)</a:t>
                      </a:r>
                    </a:p>
                  </a:txBody>
                  <a:tcPr/>
                </a:tc>
                <a:tc>
                  <a:txBody>
                    <a:bodyPr/>
                    <a:lstStyle/>
                    <a:p>
                      <a:r>
                        <a:rPr lang="de-DE" dirty="0">
                          <a:solidFill>
                            <a:srgbClr val="FFC000"/>
                          </a:solidFill>
                        </a:rPr>
                        <a:t>Herstellername</a:t>
                      </a:r>
                    </a:p>
                  </a:txBody>
                  <a:tcPr/>
                </a:tc>
                <a:tc>
                  <a:txBody>
                    <a:bodyPr/>
                    <a:lstStyle/>
                    <a:p>
                      <a:r>
                        <a:rPr lang="de-DE" dirty="0">
                          <a:solidFill>
                            <a:srgbClr val="FFC000"/>
                          </a:solidFill>
                        </a:rPr>
                        <a:t>Ort</a:t>
                      </a:r>
                    </a:p>
                  </a:txBody>
                  <a:tcPr/>
                </a:tc>
                <a:extLst>
                  <a:ext uri="{0D108BD9-81ED-4DB2-BD59-A6C34878D82A}">
                    <a16:rowId xmlns:a16="http://schemas.microsoft.com/office/drawing/2014/main" val="411876603"/>
                  </a:ext>
                </a:extLst>
              </a:tr>
              <a:tr h="370840">
                <a:tc>
                  <a:txBody>
                    <a:bodyPr/>
                    <a:lstStyle/>
                    <a:p>
                      <a:r>
                        <a:rPr lang="de-DE" dirty="0"/>
                        <a:t>1</a:t>
                      </a:r>
                    </a:p>
                  </a:txBody>
                  <a:tcPr/>
                </a:tc>
                <a:tc>
                  <a:txBody>
                    <a:bodyPr/>
                    <a:lstStyle/>
                    <a:p>
                      <a:r>
                        <a:rPr lang="de-DE" dirty="0"/>
                        <a:t>Alpha 1.0</a:t>
                      </a:r>
                    </a:p>
                  </a:txBody>
                  <a:tcPr/>
                </a:tc>
                <a:tc>
                  <a:txBody>
                    <a:bodyPr/>
                    <a:lstStyle/>
                    <a:p>
                      <a:r>
                        <a:rPr lang="de-DE" dirty="0"/>
                        <a:t>9.95</a:t>
                      </a:r>
                    </a:p>
                  </a:txBody>
                  <a:tcPr/>
                </a:tc>
                <a:tc>
                  <a:txBody>
                    <a:bodyPr/>
                    <a:lstStyle/>
                    <a:p>
                      <a:r>
                        <a:rPr lang="de-DE" dirty="0"/>
                        <a:t>Adler</a:t>
                      </a:r>
                    </a:p>
                  </a:txBody>
                  <a:tcPr/>
                </a:tc>
                <a:tc>
                  <a:txBody>
                    <a:bodyPr/>
                    <a:lstStyle/>
                    <a:p>
                      <a:r>
                        <a:rPr lang="de-DE" dirty="0"/>
                        <a:t>Aachen</a:t>
                      </a:r>
                    </a:p>
                  </a:txBody>
                  <a:tcPr/>
                </a:tc>
                <a:extLst>
                  <a:ext uri="{0D108BD9-81ED-4DB2-BD59-A6C34878D82A}">
                    <a16:rowId xmlns:a16="http://schemas.microsoft.com/office/drawing/2014/main" val="3509205881"/>
                  </a:ext>
                </a:extLst>
              </a:tr>
              <a:tr h="370840">
                <a:tc>
                  <a:txBody>
                    <a:bodyPr/>
                    <a:lstStyle/>
                    <a:p>
                      <a:r>
                        <a:rPr lang="de-DE" dirty="0"/>
                        <a:t>2</a:t>
                      </a:r>
                    </a:p>
                  </a:txBody>
                  <a:tcPr/>
                </a:tc>
                <a:tc>
                  <a:txBody>
                    <a:bodyPr/>
                    <a:lstStyle/>
                    <a:p>
                      <a:r>
                        <a:rPr lang="de-DE" dirty="0"/>
                        <a:t>Beta 2.4</a:t>
                      </a:r>
                    </a:p>
                  </a:txBody>
                  <a:tcPr/>
                </a:tc>
                <a:tc>
                  <a:txBody>
                    <a:bodyPr/>
                    <a:lstStyle/>
                    <a:p>
                      <a:r>
                        <a:rPr lang="de-DE" dirty="0"/>
                        <a:t>1.25</a:t>
                      </a:r>
                    </a:p>
                  </a:txBody>
                  <a:tcPr/>
                </a:tc>
                <a:tc>
                  <a:txBody>
                    <a:bodyPr/>
                    <a:lstStyle/>
                    <a:p>
                      <a:r>
                        <a:rPr lang="de-DE" dirty="0"/>
                        <a:t>Baumann</a:t>
                      </a:r>
                    </a:p>
                  </a:txBody>
                  <a:tcPr/>
                </a:tc>
                <a:tc>
                  <a:txBody>
                    <a:bodyPr/>
                    <a:lstStyle/>
                    <a:p>
                      <a:r>
                        <a:rPr lang="de-DE" dirty="0"/>
                        <a:t>Berlin</a:t>
                      </a:r>
                    </a:p>
                  </a:txBody>
                  <a:tcPr/>
                </a:tc>
                <a:extLst>
                  <a:ext uri="{0D108BD9-81ED-4DB2-BD59-A6C34878D82A}">
                    <a16:rowId xmlns:a16="http://schemas.microsoft.com/office/drawing/2014/main" val="3546962463"/>
                  </a:ext>
                </a:extLst>
              </a:tr>
              <a:tr h="370840">
                <a:tc>
                  <a:txBody>
                    <a:bodyPr/>
                    <a:lstStyle/>
                    <a:p>
                      <a:r>
                        <a:rPr lang="de-DE" dirty="0"/>
                        <a:t>3</a:t>
                      </a:r>
                    </a:p>
                  </a:txBody>
                  <a:tcPr/>
                </a:tc>
                <a:tc>
                  <a:txBody>
                    <a:bodyPr/>
                    <a:lstStyle/>
                    <a:p>
                      <a:r>
                        <a:rPr lang="de-DE" dirty="0"/>
                        <a:t>Gamma 5.5</a:t>
                      </a:r>
                    </a:p>
                  </a:txBody>
                  <a:tcPr/>
                </a:tc>
                <a:tc>
                  <a:txBody>
                    <a:bodyPr/>
                    <a:lstStyle/>
                    <a:p>
                      <a:r>
                        <a:rPr lang="de-DE" dirty="0"/>
                        <a:t>125.00</a:t>
                      </a:r>
                    </a:p>
                  </a:txBody>
                  <a:tcPr/>
                </a:tc>
                <a:tc>
                  <a:txBody>
                    <a:bodyPr/>
                    <a:lstStyle/>
                    <a:p>
                      <a:r>
                        <a:rPr lang="de-DE" dirty="0"/>
                        <a:t>Adler</a:t>
                      </a:r>
                    </a:p>
                  </a:txBody>
                  <a:tcPr/>
                </a:tc>
                <a:tc>
                  <a:txBody>
                    <a:bodyPr/>
                    <a:lstStyle/>
                    <a:p>
                      <a:r>
                        <a:rPr lang="de-DE" dirty="0"/>
                        <a:t>Aachen</a:t>
                      </a:r>
                    </a:p>
                  </a:txBody>
                  <a:tcPr/>
                </a:tc>
                <a:extLst>
                  <a:ext uri="{0D108BD9-81ED-4DB2-BD59-A6C34878D82A}">
                    <a16:rowId xmlns:a16="http://schemas.microsoft.com/office/drawing/2014/main" val="2565039258"/>
                  </a:ext>
                </a:extLst>
              </a:tr>
              <a:tr h="370840">
                <a:tc>
                  <a:txBody>
                    <a:bodyPr/>
                    <a:lstStyle/>
                    <a:p>
                      <a:r>
                        <a:rPr lang="de-DE" dirty="0"/>
                        <a:t>4</a:t>
                      </a:r>
                    </a:p>
                  </a:txBody>
                  <a:tcPr/>
                </a:tc>
                <a:tc>
                  <a:txBody>
                    <a:bodyPr/>
                    <a:lstStyle/>
                    <a:p>
                      <a:r>
                        <a:rPr lang="de-DE" dirty="0"/>
                        <a:t>Delta 123</a:t>
                      </a:r>
                    </a:p>
                  </a:txBody>
                  <a:tcPr/>
                </a:tc>
                <a:tc>
                  <a:txBody>
                    <a:bodyPr/>
                    <a:lstStyle/>
                    <a:p>
                      <a:r>
                        <a:rPr lang="de-DE" dirty="0"/>
                        <a:t>15.32</a:t>
                      </a:r>
                    </a:p>
                  </a:txBody>
                  <a:tcPr/>
                </a:tc>
                <a:tc>
                  <a:txBody>
                    <a:bodyPr/>
                    <a:lstStyle/>
                    <a:p>
                      <a:r>
                        <a:rPr lang="de-DE" dirty="0"/>
                        <a:t>Dolle</a:t>
                      </a:r>
                    </a:p>
                  </a:txBody>
                  <a:tcPr/>
                </a:tc>
                <a:tc>
                  <a:txBody>
                    <a:bodyPr/>
                    <a:lstStyle/>
                    <a:p>
                      <a:r>
                        <a:rPr lang="de-DE" dirty="0"/>
                        <a:t>Dresden</a:t>
                      </a:r>
                    </a:p>
                  </a:txBody>
                  <a:tcPr/>
                </a:tc>
                <a:extLst>
                  <a:ext uri="{0D108BD9-81ED-4DB2-BD59-A6C34878D82A}">
                    <a16:rowId xmlns:a16="http://schemas.microsoft.com/office/drawing/2014/main" val="3932404682"/>
                  </a:ext>
                </a:extLst>
              </a:tr>
            </a:tbl>
          </a:graphicData>
        </a:graphic>
      </p:graphicFrame>
      <p:sp>
        <p:nvSpPr>
          <p:cNvPr id="16" name="Rechteck 15">
            <a:extLst>
              <a:ext uri="{FF2B5EF4-FFF2-40B4-BE49-F238E27FC236}">
                <a16:creationId xmlns:a16="http://schemas.microsoft.com/office/drawing/2014/main" id="{B6541125-DFA2-7C74-F17D-2781852F45D6}"/>
              </a:ext>
            </a:extLst>
          </p:cNvPr>
          <p:cNvSpPr/>
          <p:nvPr/>
        </p:nvSpPr>
        <p:spPr>
          <a:xfrm>
            <a:off x="4563611" y="1610686"/>
            <a:ext cx="2714058" cy="3691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40774DA8-54FB-A0CE-00A6-66BF22B8A696}"/>
              </a:ext>
            </a:extLst>
          </p:cNvPr>
          <p:cNvSpPr/>
          <p:nvPr/>
        </p:nvSpPr>
        <p:spPr>
          <a:xfrm>
            <a:off x="4563611" y="2362122"/>
            <a:ext cx="2714058" cy="3691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9" name="Gerade Verbindung mit Pfeil 18">
            <a:extLst>
              <a:ext uri="{FF2B5EF4-FFF2-40B4-BE49-F238E27FC236}">
                <a16:creationId xmlns:a16="http://schemas.microsoft.com/office/drawing/2014/main" id="{D9B94E68-2D44-24E3-E229-3ED5AD3585C1}"/>
              </a:ext>
            </a:extLst>
          </p:cNvPr>
          <p:cNvCxnSpPr>
            <a:cxnSpLocks/>
          </p:cNvCxnSpPr>
          <p:nvPr/>
        </p:nvCxnSpPr>
        <p:spPr>
          <a:xfrm flipH="1" flipV="1">
            <a:off x="7432646" y="1870745"/>
            <a:ext cx="536895" cy="21811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087EA54B-5724-F2E6-B6DE-3CC4CF56CA0B}"/>
              </a:ext>
            </a:extLst>
          </p:cNvPr>
          <p:cNvCxnSpPr>
            <a:cxnSpLocks/>
          </p:cNvCxnSpPr>
          <p:nvPr/>
        </p:nvCxnSpPr>
        <p:spPr>
          <a:xfrm flipH="1">
            <a:off x="7432646" y="2362122"/>
            <a:ext cx="536895" cy="18455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feld 23">
            <a:extLst>
              <a:ext uri="{FF2B5EF4-FFF2-40B4-BE49-F238E27FC236}">
                <a16:creationId xmlns:a16="http://schemas.microsoft.com/office/drawing/2014/main" id="{F871A1D5-B742-69E3-96C0-52B79FFEEBE8}"/>
              </a:ext>
            </a:extLst>
          </p:cNvPr>
          <p:cNvSpPr txBox="1"/>
          <p:nvPr/>
        </p:nvSpPr>
        <p:spPr>
          <a:xfrm>
            <a:off x="8036653" y="1998996"/>
            <a:ext cx="1188274" cy="369332"/>
          </a:xfrm>
          <a:prstGeom prst="rect">
            <a:avLst/>
          </a:prstGeom>
          <a:noFill/>
        </p:spPr>
        <p:txBody>
          <a:bodyPr wrap="none" rtlCol="0">
            <a:spAutoFit/>
          </a:bodyPr>
          <a:lstStyle/>
          <a:p>
            <a:r>
              <a:rPr lang="de-DE" b="1" dirty="0">
                <a:solidFill>
                  <a:srgbClr val="FF0000"/>
                </a:solidFill>
              </a:rPr>
              <a:t>redundant</a:t>
            </a:r>
          </a:p>
        </p:txBody>
      </p:sp>
      <p:sp>
        <p:nvSpPr>
          <p:cNvPr id="25" name="Pfeil: nach rechts 24">
            <a:extLst>
              <a:ext uri="{FF2B5EF4-FFF2-40B4-BE49-F238E27FC236}">
                <a16:creationId xmlns:a16="http://schemas.microsoft.com/office/drawing/2014/main" id="{EAFBB7DC-1EC6-4D3E-5154-E57669476A0F}"/>
              </a:ext>
            </a:extLst>
          </p:cNvPr>
          <p:cNvSpPr/>
          <p:nvPr/>
        </p:nvSpPr>
        <p:spPr>
          <a:xfrm rot="1879150">
            <a:off x="5773024" y="3354640"/>
            <a:ext cx="645952" cy="352338"/>
          </a:xfrm>
          <a:prstGeom prst="right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Pfeil: nach rechts 25">
            <a:extLst>
              <a:ext uri="{FF2B5EF4-FFF2-40B4-BE49-F238E27FC236}">
                <a16:creationId xmlns:a16="http://schemas.microsoft.com/office/drawing/2014/main" id="{322C2881-EA18-2EB7-6924-6C8ECCCF2669}"/>
              </a:ext>
            </a:extLst>
          </p:cNvPr>
          <p:cNvSpPr/>
          <p:nvPr/>
        </p:nvSpPr>
        <p:spPr>
          <a:xfrm rot="8456639">
            <a:off x="3564415" y="3413874"/>
            <a:ext cx="645952" cy="352338"/>
          </a:xfrm>
          <a:prstGeom prst="rightArrow">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feld 26">
            <a:extLst>
              <a:ext uri="{FF2B5EF4-FFF2-40B4-BE49-F238E27FC236}">
                <a16:creationId xmlns:a16="http://schemas.microsoft.com/office/drawing/2014/main" id="{28EB8C2C-648C-D229-EDA1-46330B7CA301}"/>
              </a:ext>
            </a:extLst>
          </p:cNvPr>
          <p:cNvSpPr txBox="1"/>
          <p:nvPr/>
        </p:nvSpPr>
        <p:spPr>
          <a:xfrm>
            <a:off x="4563611" y="3241585"/>
            <a:ext cx="846707" cy="369332"/>
          </a:xfrm>
          <a:prstGeom prst="rect">
            <a:avLst/>
          </a:prstGeom>
          <a:noFill/>
        </p:spPr>
        <p:txBody>
          <a:bodyPr wrap="none" rtlCol="0">
            <a:spAutoFit/>
          </a:bodyPr>
          <a:lstStyle/>
          <a:p>
            <a:r>
              <a:rPr lang="de-DE" b="1" dirty="0">
                <a:solidFill>
                  <a:srgbClr val="00B050"/>
                </a:solidFill>
              </a:rPr>
              <a:t>Lösung</a:t>
            </a:r>
          </a:p>
        </p:txBody>
      </p:sp>
      <p:graphicFrame>
        <p:nvGraphicFramePr>
          <p:cNvPr id="28" name="Tabelle 27">
            <a:extLst>
              <a:ext uri="{FF2B5EF4-FFF2-40B4-BE49-F238E27FC236}">
                <a16:creationId xmlns:a16="http://schemas.microsoft.com/office/drawing/2014/main" id="{64153858-D3D2-340B-B180-3304402B32F3}"/>
              </a:ext>
            </a:extLst>
          </p:cNvPr>
          <p:cNvGraphicFramePr>
            <a:graphicFrameLocks noGrp="1"/>
          </p:cNvGraphicFramePr>
          <p:nvPr>
            <p:extLst>
              <p:ext uri="{D42A27DB-BD31-4B8C-83A1-F6EECF244321}">
                <p14:modId xmlns:p14="http://schemas.microsoft.com/office/powerpoint/2010/main" val="745272643"/>
              </p:ext>
            </p:extLst>
          </p:nvPr>
        </p:nvGraphicFramePr>
        <p:xfrm>
          <a:off x="252608" y="3922249"/>
          <a:ext cx="5318316" cy="1854200"/>
        </p:xfrm>
        <a:graphic>
          <a:graphicData uri="http://schemas.openxmlformats.org/drawingml/2006/table">
            <a:tbl>
              <a:tblPr firstRow="1" bandRow="1">
                <a:tableStyleId>{5C22544A-7EE6-4342-B048-85BDC9FD1C3A}</a:tableStyleId>
              </a:tblPr>
              <a:tblGrid>
                <a:gridCol w="1309243">
                  <a:extLst>
                    <a:ext uri="{9D8B030D-6E8A-4147-A177-3AD203B41FA5}">
                      <a16:colId xmlns:a16="http://schemas.microsoft.com/office/drawing/2014/main" val="1906331604"/>
                    </a:ext>
                  </a:extLst>
                </a:gridCol>
                <a:gridCol w="1476502">
                  <a:extLst>
                    <a:ext uri="{9D8B030D-6E8A-4147-A177-3AD203B41FA5}">
                      <a16:colId xmlns:a16="http://schemas.microsoft.com/office/drawing/2014/main" val="1000045184"/>
                    </a:ext>
                  </a:extLst>
                </a:gridCol>
                <a:gridCol w="1525143">
                  <a:extLst>
                    <a:ext uri="{9D8B030D-6E8A-4147-A177-3AD203B41FA5}">
                      <a16:colId xmlns:a16="http://schemas.microsoft.com/office/drawing/2014/main" val="816005280"/>
                    </a:ext>
                  </a:extLst>
                </a:gridCol>
                <a:gridCol w="1007428">
                  <a:extLst>
                    <a:ext uri="{9D8B030D-6E8A-4147-A177-3AD203B41FA5}">
                      <a16:colId xmlns:a16="http://schemas.microsoft.com/office/drawing/2014/main" val="2988062967"/>
                    </a:ext>
                  </a:extLst>
                </a:gridCol>
              </a:tblGrid>
              <a:tr h="370840">
                <a:tc>
                  <a:txBody>
                    <a:bodyPr/>
                    <a:lstStyle/>
                    <a:p>
                      <a:r>
                        <a:rPr lang="de-DE" dirty="0" err="1">
                          <a:solidFill>
                            <a:schemeClr val="accent2"/>
                          </a:solidFill>
                        </a:rPr>
                        <a:t>Produkt_ID</a:t>
                      </a:r>
                      <a:endParaRPr lang="de-DE" dirty="0">
                        <a:solidFill>
                          <a:schemeClr val="accent2"/>
                        </a:solidFill>
                      </a:endParaRPr>
                    </a:p>
                  </a:txBody>
                  <a:tcPr/>
                </a:tc>
                <a:tc>
                  <a:txBody>
                    <a:bodyPr/>
                    <a:lstStyle/>
                    <a:p>
                      <a:r>
                        <a:rPr lang="de-DE" dirty="0" err="1">
                          <a:solidFill>
                            <a:srgbClr val="00B050"/>
                          </a:solidFill>
                        </a:rPr>
                        <a:t>Hersteller_ID</a:t>
                      </a:r>
                      <a:endParaRPr lang="de-DE" dirty="0">
                        <a:solidFill>
                          <a:srgbClr val="00B050"/>
                        </a:solidFill>
                      </a:endParaRPr>
                    </a:p>
                  </a:txBody>
                  <a:tcPr/>
                </a:tc>
                <a:tc>
                  <a:txBody>
                    <a:bodyPr/>
                    <a:lstStyle/>
                    <a:p>
                      <a:r>
                        <a:rPr lang="de-DE" dirty="0">
                          <a:solidFill>
                            <a:schemeClr val="accent2"/>
                          </a:solidFill>
                        </a:rPr>
                        <a:t>Produktname</a:t>
                      </a:r>
                    </a:p>
                  </a:txBody>
                  <a:tcPr/>
                </a:tc>
                <a:tc>
                  <a:txBody>
                    <a:bodyPr/>
                    <a:lstStyle/>
                    <a:p>
                      <a:r>
                        <a:rPr lang="de-DE" dirty="0">
                          <a:solidFill>
                            <a:schemeClr val="accent2"/>
                          </a:solidFill>
                        </a:rPr>
                        <a:t>Preis (€)</a:t>
                      </a:r>
                    </a:p>
                  </a:txBody>
                  <a:tcPr/>
                </a:tc>
                <a:extLst>
                  <a:ext uri="{0D108BD9-81ED-4DB2-BD59-A6C34878D82A}">
                    <a16:rowId xmlns:a16="http://schemas.microsoft.com/office/drawing/2014/main" val="411876603"/>
                  </a:ext>
                </a:extLst>
              </a:tr>
              <a:tr h="370840">
                <a:tc>
                  <a:txBody>
                    <a:bodyPr/>
                    <a:lstStyle/>
                    <a:p>
                      <a:r>
                        <a:rPr lang="de-DE" dirty="0"/>
                        <a:t>1</a:t>
                      </a:r>
                    </a:p>
                  </a:txBody>
                  <a:tcPr/>
                </a:tc>
                <a:tc>
                  <a:txBody>
                    <a:bodyPr/>
                    <a:lstStyle/>
                    <a:p>
                      <a:r>
                        <a:rPr lang="de-DE" dirty="0"/>
                        <a:t>1</a:t>
                      </a:r>
                    </a:p>
                  </a:txBody>
                  <a:tcPr/>
                </a:tc>
                <a:tc>
                  <a:txBody>
                    <a:bodyPr/>
                    <a:lstStyle/>
                    <a:p>
                      <a:r>
                        <a:rPr lang="de-DE" dirty="0"/>
                        <a:t>Alpha 1.0</a:t>
                      </a:r>
                    </a:p>
                  </a:txBody>
                  <a:tcPr/>
                </a:tc>
                <a:tc>
                  <a:txBody>
                    <a:bodyPr/>
                    <a:lstStyle/>
                    <a:p>
                      <a:r>
                        <a:rPr lang="de-DE" dirty="0"/>
                        <a:t>9.95</a:t>
                      </a:r>
                    </a:p>
                  </a:txBody>
                  <a:tcPr/>
                </a:tc>
                <a:extLst>
                  <a:ext uri="{0D108BD9-81ED-4DB2-BD59-A6C34878D82A}">
                    <a16:rowId xmlns:a16="http://schemas.microsoft.com/office/drawing/2014/main" val="3509205881"/>
                  </a:ext>
                </a:extLst>
              </a:tr>
              <a:tr h="370840">
                <a:tc>
                  <a:txBody>
                    <a:bodyPr/>
                    <a:lstStyle/>
                    <a:p>
                      <a:r>
                        <a:rPr lang="de-DE" dirty="0"/>
                        <a:t>2</a:t>
                      </a:r>
                    </a:p>
                  </a:txBody>
                  <a:tcPr/>
                </a:tc>
                <a:tc>
                  <a:txBody>
                    <a:bodyPr/>
                    <a:lstStyle/>
                    <a:p>
                      <a:r>
                        <a:rPr lang="de-DE" dirty="0"/>
                        <a:t>2</a:t>
                      </a:r>
                    </a:p>
                  </a:txBody>
                  <a:tcPr/>
                </a:tc>
                <a:tc>
                  <a:txBody>
                    <a:bodyPr/>
                    <a:lstStyle/>
                    <a:p>
                      <a:r>
                        <a:rPr lang="de-DE" dirty="0"/>
                        <a:t>Beta 2.4</a:t>
                      </a:r>
                    </a:p>
                  </a:txBody>
                  <a:tcPr/>
                </a:tc>
                <a:tc>
                  <a:txBody>
                    <a:bodyPr/>
                    <a:lstStyle/>
                    <a:p>
                      <a:r>
                        <a:rPr lang="de-DE" dirty="0"/>
                        <a:t>1.25</a:t>
                      </a:r>
                    </a:p>
                  </a:txBody>
                  <a:tcPr/>
                </a:tc>
                <a:extLst>
                  <a:ext uri="{0D108BD9-81ED-4DB2-BD59-A6C34878D82A}">
                    <a16:rowId xmlns:a16="http://schemas.microsoft.com/office/drawing/2014/main" val="3546962463"/>
                  </a:ext>
                </a:extLst>
              </a:tr>
              <a:tr h="370840">
                <a:tc>
                  <a:txBody>
                    <a:bodyPr/>
                    <a:lstStyle/>
                    <a:p>
                      <a:r>
                        <a:rPr lang="de-DE" dirty="0"/>
                        <a:t>3</a:t>
                      </a:r>
                    </a:p>
                  </a:txBody>
                  <a:tcPr/>
                </a:tc>
                <a:tc>
                  <a:txBody>
                    <a:bodyPr/>
                    <a:lstStyle/>
                    <a:p>
                      <a:r>
                        <a:rPr lang="de-DE" dirty="0"/>
                        <a:t>1</a:t>
                      </a:r>
                    </a:p>
                  </a:txBody>
                  <a:tcPr/>
                </a:tc>
                <a:tc>
                  <a:txBody>
                    <a:bodyPr/>
                    <a:lstStyle/>
                    <a:p>
                      <a:r>
                        <a:rPr lang="de-DE" dirty="0"/>
                        <a:t>Gamma 5.5</a:t>
                      </a:r>
                    </a:p>
                  </a:txBody>
                  <a:tcPr/>
                </a:tc>
                <a:tc>
                  <a:txBody>
                    <a:bodyPr/>
                    <a:lstStyle/>
                    <a:p>
                      <a:r>
                        <a:rPr lang="de-DE" dirty="0"/>
                        <a:t>125.00</a:t>
                      </a:r>
                    </a:p>
                  </a:txBody>
                  <a:tcPr/>
                </a:tc>
                <a:extLst>
                  <a:ext uri="{0D108BD9-81ED-4DB2-BD59-A6C34878D82A}">
                    <a16:rowId xmlns:a16="http://schemas.microsoft.com/office/drawing/2014/main" val="2565039258"/>
                  </a:ext>
                </a:extLst>
              </a:tr>
              <a:tr h="370840">
                <a:tc>
                  <a:txBody>
                    <a:bodyPr/>
                    <a:lstStyle/>
                    <a:p>
                      <a:r>
                        <a:rPr lang="de-DE" dirty="0"/>
                        <a:t>4</a:t>
                      </a:r>
                    </a:p>
                  </a:txBody>
                  <a:tcPr/>
                </a:tc>
                <a:tc>
                  <a:txBody>
                    <a:bodyPr/>
                    <a:lstStyle/>
                    <a:p>
                      <a:r>
                        <a:rPr lang="de-DE" dirty="0"/>
                        <a:t>3</a:t>
                      </a:r>
                    </a:p>
                  </a:txBody>
                  <a:tcPr/>
                </a:tc>
                <a:tc>
                  <a:txBody>
                    <a:bodyPr/>
                    <a:lstStyle/>
                    <a:p>
                      <a:r>
                        <a:rPr lang="de-DE" dirty="0"/>
                        <a:t>Delta 123</a:t>
                      </a:r>
                    </a:p>
                  </a:txBody>
                  <a:tcPr/>
                </a:tc>
                <a:tc>
                  <a:txBody>
                    <a:bodyPr/>
                    <a:lstStyle/>
                    <a:p>
                      <a:r>
                        <a:rPr lang="de-DE" dirty="0"/>
                        <a:t>15.32</a:t>
                      </a:r>
                    </a:p>
                  </a:txBody>
                  <a:tcPr/>
                </a:tc>
                <a:extLst>
                  <a:ext uri="{0D108BD9-81ED-4DB2-BD59-A6C34878D82A}">
                    <a16:rowId xmlns:a16="http://schemas.microsoft.com/office/drawing/2014/main" val="3932404682"/>
                  </a:ext>
                </a:extLst>
              </a:tr>
            </a:tbl>
          </a:graphicData>
        </a:graphic>
      </p:graphicFrame>
      <p:graphicFrame>
        <p:nvGraphicFramePr>
          <p:cNvPr id="29" name="Tabelle 28">
            <a:extLst>
              <a:ext uri="{FF2B5EF4-FFF2-40B4-BE49-F238E27FC236}">
                <a16:creationId xmlns:a16="http://schemas.microsoft.com/office/drawing/2014/main" id="{0CAE3E96-F3DA-389F-99BF-486DBF9663BB}"/>
              </a:ext>
            </a:extLst>
          </p:cNvPr>
          <p:cNvGraphicFramePr>
            <a:graphicFrameLocks noGrp="1"/>
          </p:cNvGraphicFramePr>
          <p:nvPr>
            <p:extLst>
              <p:ext uri="{D42A27DB-BD31-4B8C-83A1-F6EECF244321}">
                <p14:modId xmlns:p14="http://schemas.microsoft.com/office/powerpoint/2010/main" val="2406390796"/>
              </p:ext>
            </p:extLst>
          </p:nvPr>
        </p:nvGraphicFramePr>
        <p:xfrm>
          <a:off x="6417826" y="3988447"/>
          <a:ext cx="4180650" cy="1483360"/>
        </p:xfrm>
        <a:graphic>
          <a:graphicData uri="http://schemas.openxmlformats.org/drawingml/2006/table">
            <a:tbl>
              <a:tblPr firstRow="1" bandRow="1">
                <a:tableStyleId>{5C22544A-7EE6-4342-B048-85BDC9FD1C3A}</a:tableStyleId>
              </a:tblPr>
              <a:tblGrid>
                <a:gridCol w="1476502">
                  <a:extLst>
                    <a:ext uri="{9D8B030D-6E8A-4147-A177-3AD203B41FA5}">
                      <a16:colId xmlns:a16="http://schemas.microsoft.com/office/drawing/2014/main" val="2988062967"/>
                    </a:ext>
                  </a:extLst>
                </a:gridCol>
                <a:gridCol w="1692402">
                  <a:extLst>
                    <a:ext uri="{9D8B030D-6E8A-4147-A177-3AD203B41FA5}">
                      <a16:colId xmlns:a16="http://schemas.microsoft.com/office/drawing/2014/main" val="3516069443"/>
                    </a:ext>
                  </a:extLst>
                </a:gridCol>
                <a:gridCol w="1011746">
                  <a:extLst>
                    <a:ext uri="{9D8B030D-6E8A-4147-A177-3AD203B41FA5}">
                      <a16:colId xmlns:a16="http://schemas.microsoft.com/office/drawing/2014/main" val="2461930687"/>
                    </a:ext>
                  </a:extLst>
                </a:gridCol>
              </a:tblGrid>
              <a:tr h="370840">
                <a:tc>
                  <a:txBody>
                    <a:bodyPr/>
                    <a:lstStyle/>
                    <a:p>
                      <a:r>
                        <a:rPr lang="de-DE" dirty="0" err="1">
                          <a:solidFill>
                            <a:srgbClr val="00B050"/>
                          </a:solidFill>
                        </a:rPr>
                        <a:t>Hersteller_ID</a:t>
                      </a:r>
                      <a:endParaRPr lang="de-DE" dirty="0">
                        <a:solidFill>
                          <a:srgbClr val="00B050"/>
                        </a:solidFill>
                      </a:endParaRPr>
                    </a:p>
                  </a:txBody>
                  <a:tcPr/>
                </a:tc>
                <a:tc>
                  <a:txBody>
                    <a:bodyPr/>
                    <a:lstStyle/>
                    <a:p>
                      <a:r>
                        <a:rPr lang="de-DE" dirty="0">
                          <a:solidFill>
                            <a:srgbClr val="FFC000"/>
                          </a:solidFill>
                        </a:rPr>
                        <a:t>Herstellername</a:t>
                      </a:r>
                    </a:p>
                  </a:txBody>
                  <a:tcPr/>
                </a:tc>
                <a:tc>
                  <a:txBody>
                    <a:bodyPr/>
                    <a:lstStyle/>
                    <a:p>
                      <a:r>
                        <a:rPr lang="de-DE" dirty="0">
                          <a:solidFill>
                            <a:srgbClr val="FFC000"/>
                          </a:solidFill>
                        </a:rPr>
                        <a:t>Ort</a:t>
                      </a:r>
                    </a:p>
                  </a:txBody>
                  <a:tcPr/>
                </a:tc>
                <a:extLst>
                  <a:ext uri="{0D108BD9-81ED-4DB2-BD59-A6C34878D82A}">
                    <a16:rowId xmlns:a16="http://schemas.microsoft.com/office/drawing/2014/main" val="411876603"/>
                  </a:ext>
                </a:extLst>
              </a:tr>
              <a:tr h="370840">
                <a:tc>
                  <a:txBody>
                    <a:bodyPr/>
                    <a:lstStyle/>
                    <a:p>
                      <a:r>
                        <a:rPr lang="de-DE" dirty="0"/>
                        <a:t>1</a:t>
                      </a:r>
                    </a:p>
                  </a:txBody>
                  <a:tcPr/>
                </a:tc>
                <a:tc>
                  <a:txBody>
                    <a:bodyPr/>
                    <a:lstStyle/>
                    <a:p>
                      <a:r>
                        <a:rPr lang="de-DE" dirty="0"/>
                        <a:t>Adler</a:t>
                      </a:r>
                    </a:p>
                  </a:txBody>
                  <a:tcPr/>
                </a:tc>
                <a:tc>
                  <a:txBody>
                    <a:bodyPr/>
                    <a:lstStyle/>
                    <a:p>
                      <a:r>
                        <a:rPr lang="de-DE" dirty="0"/>
                        <a:t>Aachen</a:t>
                      </a:r>
                    </a:p>
                  </a:txBody>
                  <a:tcPr/>
                </a:tc>
                <a:extLst>
                  <a:ext uri="{0D108BD9-81ED-4DB2-BD59-A6C34878D82A}">
                    <a16:rowId xmlns:a16="http://schemas.microsoft.com/office/drawing/2014/main" val="3509205881"/>
                  </a:ext>
                </a:extLst>
              </a:tr>
              <a:tr h="370840">
                <a:tc>
                  <a:txBody>
                    <a:bodyPr/>
                    <a:lstStyle/>
                    <a:p>
                      <a:r>
                        <a:rPr lang="de-DE" dirty="0"/>
                        <a:t>2</a:t>
                      </a:r>
                    </a:p>
                  </a:txBody>
                  <a:tcPr/>
                </a:tc>
                <a:tc>
                  <a:txBody>
                    <a:bodyPr/>
                    <a:lstStyle/>
                    <a:p>
                      <a:r>
                        <a:rPr lang="de-DE" dirty="0"/>
                        <a:t>Baumann</a:t>
                      </a:r>
                    </a:p>
                  </a:txBody>
                  <a:tcPr/>
                </a:tc>
                <a:tc>
                  <a:txBody>
                    <a:bodyPr/>
                    <a:lstStyle/>
                    <a:p>
                      <a:r>
                        <a:rPr lang="de-DE" dirty="0"/>
                        <a:t>Berlin</a:t>
                      </a:r>
                    </a:p>
                  </a:txBody>
                  <a:tcPr/>
                </a:tc>
                <a:extLst>
                  <a:ext uri="{0D108BD9-81ED-4DB2-BD59-A6C34878D82A}">
                    <a16:rowId xmlns:a16="http://schemas.microsoft.com/office/drawing/2014/main" val="3546962463"/>
                  </a:ext>
                </a:extLst>
              </a:tr>
              <a:tr h="370840">
                <a:tc>
                  <a:txBody>
                    <a:bodyPr/>
                    <a:lstStyle/>
                    <a:p>
                      <a:r>
                        <a:rPr lang="de-DE" dirty="0"/>
                        <a:t>3</a:t>
                      </a:r>
                    </a:p>
                  </a:txBody>
                  <a:tcPr/>
                </a:tc>
                <a:tc>
                  <a:txBody>
                    <a:bodyPr/>
                    <a:lstStyle/>
                    <a:p>
                      <a:r>
                        <a:rPr lang="de-DE" dirty="0"/>
                        <a:t>Dolle</a:t>
                      </a:r>
                    </a:p>
                  </a:txBody>
                  <a:tcPr/>
                </a:tc>
                <a:tc>
                  <a:txBody>
                    <a:bodyPr/>
                    <a:lstStyle/>
                    <a:p>
                      <a:r>
                        <a:rPr lang="de-DE" dirty="0"/>
                        <a:t>Dresden</a:t>
                      </a:r>
                    </a:p>
                  </a:txBody>
                  <a:tcPr/>
                </a:tc>
                <a:extLst>
                  <a:ext uri="{0D108BD9-81ED-4DB2-BD59-A6C34878D82A}">
                    <a16:rowId xmlns:a16="http://schemas.microsoft.com/office/drawing/2014/main" val="3932404682"/>
                  </a:ext>
                </a:extLst>
              </a:tr>
            </a:tbl>
          </a:graphicData>
        </a:graphic>
      </p:graphicFrame>
      <p:sp>
        <p:nvSpPr>
          <p:cNvPr id="30" name="Rechteck 29">
            <a:extLst>
              <a:ext uri="{FF2B5EF4-FFF2-40B4-BE49-F238E27FC236}">
                <a16:creationId xmlns:a16="http://schemas.microsoft.com/office/drawing/2014/main" id="{3352636F-716D-6CCF-7BED-92318F8F52B6}"/>
              </a:ext>
            </a:extLst>
          </p:cNvPr>
          <p:cNvSpPr/>
          <p:nvPr/>
        </p:nvSpPr>
        <p:spPr>
          <a:xfrm>
            <a:off x="7884418" y="4343575"/>
            <a:ext cx="2714058" cy="3691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31" name="Gerade Verbindung mit Pfeil 30">
            <a:extLst>
              <a:ext uri="{FF2B5EF4-FFF2-40B4-BE49-F238E27FC236}">
                <a16:creationId xmlns:a16="http://schemas.microsoft.com/office/drawing/2014/main" id="{CDBA4DAA-6488-2151-6914-40C6B97C19C6}"/>
              </a:ext>
            </a:extLst>
          </p:cNvPr>
          <p:cNvCxnSpPr>
            <a:cxnSpLocks/>
          </p:cNvCxnSpPr>
          <p:nvPr/>
        </p:nvCxnSpPr>
        <p:spPr>
          <a:xfrm flipH="1">
            <a:off x="10688972" y="4540600"/>
            <a:ext cx="13000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Textfeld 32">
            <a:extLst>
              <a:ext uri="{FF2B5EF4-FFF2-40B4-BE49-F238E27FC236}">
                <a16:creationId xmlns:a16="http://schemas.microsoft.com/office/drawing/2014/main" id="{B0DAC8CB-0974-7AD9-BEBD-5E4672201638}"/>
              </a:ext>
            </a:extLst>
          </p:cNvPr>
          <p:cNvSpPr txBox="1"/>
          <p:nvPr/>
        </p:nvSpPr>
        <p:spPr>
          <a:xfrm>
            <a:off x="10818976" y="4389633"/>
            <a:ext cx="1214050" cy="276999"/>
          </a:xfrm>
          <a:prstGeom prst="rect">
            <a:avLst/>
          </a:prstGeom>
          <a:noFill/>
        </p:spPr>
        <p:txBody>
          <a:bodyPr wrap="none" rtlCol="0">
            <a:spAutoFit/>
          </a:bodyPr>
          <a:lstStyle/>
          <a:p>
            <a:r>
              <a:rPr lang="de-DE" sz="1200" b="1" u="sng" dirty="0">
                <a:solidFill>
                  <a:srgbClr val="FF0000"/>
                </a:solidFill>
              </a:rPr>
              <a:t>nicht</a:t>
            </a:r>
            <a:r>
              <a:rPr lang="de-DE" sz="1200" b="1" dirty="0">
                <a:solidFill>
                  <a:srgbClr val="FF0000"/>
                </a:solidFill>
              </a:rPr>
              <a:t> redundant</a:t>
            </a:r>
          </a:p>
        </p:txBody>
      </p:sp>
    </p:spTree>
    <p:extLst>
      <p:ext uri="{BB962C8B-B14F-4D97-AF65-F5344CB8AC3E}">
        <p14:creationId xmlns:p14="http://schemas.microsoft.com/office/powerpoint/2010/main" val="12193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4" grpId="0"/>
      <p:bldP spid="25" grpId="0" animBg="1"/>
      <p:bldP spid="26" grpId="0" animBg="1"/>
      <p:bldP spid="27" grpId="0"/>
      <p:bldP spid="30" grpId="0" animBg="1"/>
      <p:bldP spid="3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a:bodyPr>
          <a:lstStyle/>
          <a:p>
            <a:r>
              <a:rPr lang="de-DE" dirty="0">
                <a:latin typeface="Source Sans Pro" panose="020B0503030403020204" pitchFamily="34" charset="0"/>
              </a:rPr>
              <a:t>Beispiel </a:t>
            </a:r>
            <a:r>
              <a:rPr lang="de-DE" sz="2400" b="0" dirty="0">
                <a:latin typeface="Source Sans Pro" panose="020B0503030403020204" pitchFamily="34" charset="0"/>
              </a:rPr>
              <a:t>(Aufgabenstellung -&gt; Diagramm)</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3" name="Textfeld 2">
            <a:extLst>
              <a:ext uri="{FF2B5EF4-FFF2-40B4-BE49-F238E27FC236}">
                <a16:creationId xmlns:a16="http://schemas.microsoft.com/office/drawing/2014/main" id="{1F89B78D-09C9-F6D2-A7EB-16F712FC07F1}"/>
              </a:ext>
            </a:extLst>
          </p:cNvPr>
          <p:cNvSpPr txBox="1"/>
          <p:nvPr/>
        </p:nvSpPr>
        <p:spPr>
          <a:xfrm>
            <a:off x="268448" y="1208093"/>
            <a:ext cx="6073629" cy="1600438"/>
          </a:xfrm>
          <a:prstGeom prst="rect">
            <a:avLst/>
          </a:prstGeom>
          <a:noFill/>
          <a:ln>
            <a:solidFill>
              <a:srgbClr val="0070C0"/>
            </a:solidFill>
          </a:ln>
        </p:spPr>
        <p:txBody>
          <a:bodyPr wrap="square" rtlCol="0">
            <a:spAutoFit/>
          </a:bodyPr>
          <a:lstStyle/>
          <a:p>
            <a:r>
              <a:rPr lang="de-DE" sz="1400" b="1" dirty="0"/>
              <a:t>Aufgabenstellung</a:t>
            </a:r>
            <a:endParaRPr lang="de-DE" sz="1400" b="1" dirty="0">
              <a:solidFill>
                <a:srgbClr val="0070C0"/>
              </a:solidFill>
            </a:endParaRPr>
          </a:p>
          <a:p>
            <a:r>
              <a:rPr lang="de-DE" sz="1400" dirty="0">
                <a:solidFill>
                  <a:srgbClr val="0070C0"/>
                </a:solidFill>
              </a:rPr>
              <a:t>Von jedem Einkauf ist das Datum und Uhrzeit bekannt, an dem dieser stattfand,</a:t>
            </a:r>
          </a:p>
          <a:p>
            <a:r>
              <a:rPr lang="de-DE" sz="1400" dirty="0">
                <a:solidFill>
                  <a:srgbClr val="0070C0"/>
                </a:solidFill>
              </a:rPr>
              <a:t>ferner der Kunde, der diesen Einkauf tätigte sowie alle Produkte, die bei diesem Einkauf erworben wurden.</a:t>
            </a:r>
          </a:p>
          <a:p>
            <a:endParaRPr lang="de-DE" sz="1400" dirty="0">
              <a:solidFill>
                <a:srgbClr val="0070C0"/>
              </a:solidFill>
            </a:endParaRPr>
          </a:p>
          <a:p>
            <a:r>
              <a:rPr lang="de-DE" sz="1400" dirty="0">
                <a:solidFill>
                  <a:srgbClr val="0070C0"/>
                </a:solidFill>
              </a:rPr>
              <a:t>Von allen Kunden und Produkten ist der Name bekannt. </a:t>
            </a:r>
          </a:p>
          <a:p>
            <a:r>
              <a:rPr lang="de-DE" sz="1400" dirty="0">
                <a:solidFill>
                  <a:srgbClr val="0070C0"/>
                </a:solidFill>
              </a:rPr>
              <a:t>Von jedem Produkt ist zusätzlich auch der Preis bekannt.</a:t>
            </a:r>
          </a:p>
        </p:txBody>
      </p:sp>
    </p:spTree>
    <p:extLst>
      <p:ext uri="{BB962C8B-B14F-4D97-AF65-F5344CB8AC3E}">
        <p14:creationId xmlns:p14="http://schemas.microsoft.com/office/powerpoint/2010/main" val="354661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a:bodyPr>
          <a:lstStyle/>
          <a:p>
            <a:r>
              <a:rPr lang="de-DE" dirty="0">
                <a:solidFill>
                  <a:srgbClr val="FF0000"/>
                </a:solidFill>
                <a:latin typeface="Source Sans Pro" panose="020B0503030403020204" pitchFamily="34" charset="0"/>
              </a:rPr>
              <a:t>Entitäten</a:t>
            </a:r>
            <a:r>
              <a:rPr lang="de-DE" dirty="0">
                <a:latin typeface="Source Sans Pro" panose="020B0503030403020204" pitchFamily="34" charset="0"/>
              </a:rPr>
              <a:t> </a:t>
            </a:r>
            <a:r>
              <a:rPr lang="de-DE" sz="2400" b="0" dirty="0">
                <a:latin typeface="Source Sans Pro" panose="020B0503030403020204" pitchFamily="34" charset="0"/>
              </a:rPr>
              <a:t>(Tipp: Alle Begriffe, zu denen Attribute benannt werden)</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3" name="Tabelle 2">
            <a:extLst>
              <a:ext uri="{FF2B5EF4-FFF2-40B4-BE49-F238E27FC236}">
                <a16:creationId xmlns:a16="http://schemas.microsoft.com/office/drawing/2014/main" id="{89182AAA-455F-1A92-F130-9D177F24CAE5}"/>
              </a:ext>
            </a:extLst>
          </p:cNvPr>
          <p:cNvGraphicFramePr>
            <a:graphicFrameLocks noGrp="1"/>
          </p:cNvGraphicFramePr>
          <p:nvPr>
            <p:extLst>
              <p:ext uri="{D42A27DB-BD31-4B8C-83A1-F6EECF244321}">
                <p14:modId xmlns:p14="http://schemas.microsoft.com/office/powerpoint/2010/main" val="3027988278"/>
              </p:ext>
            </p:extLst>
          </p:nvPr>
        </p:nvGraphicFramePr>
        <p:xfrm>
          <a:off x="6424374" y="2552781"/>
          <a:ext cx="1281367" cy="148336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Einkauf_ID</a:t>
                      </a:r>
                      <a:endParaRPr lang="de-DE" dirty="0"/>
                    </a:p>
                  </a:txBody>
                  <a:tcPr/>
                </a:tc>
                <a:extLst>
                  <a:ext uri="{0D108BD9-81ED-4DB2-BD59-A6C34878D82A}">
                    <a16:rowId xmlns:a16="http://schemas.microsoft.com/office/drawing/2014/main" val="2818686444"/>
                  </a:ext>
                </a:extLst>
              </a:tr>
              <a:tr h="370840">
                <a:tc>
                  <a:txBody>
                    <a:bodyPr/>
                    <a:lstStyle/>
                    <a:p>
                      <a:endParaRPr lang="de-DE" dirty="0"/>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txBody>
                  <a:tcPr/>
                </a:tc>
                <a:extLst>
                  <a:ext uri="{0D108BD9-81ED-4DB2-BD59-A6C34878D82A}">
                    <a16:rowId xmlns:a16="http://schemas.microsoft.com/office/drawing/2014/main" val="433515461"/>
                  </a:ext>
                </a:extLst>
              </a:tr>
              <a:tr h="370840">
                <a:tc>
                  <a:txBody>
                    <a:bodyPr/>
                    <a:lstStyle/>
                    <a:p>
                      <a:endParaRPr lang="de-DE" dirty="0"/>
                    </a:p>
                  </a:txBody>
                  <a:tcPr/>
                </a:tc>
                <a:extLst>
                  <a:ext uri="{0D108BD9-81ED-4DB2-BD59-A6C34878D82A}">
                    <a16:rowId xmlns:a16="http://schemas.microsoft.com/office/drawing/2014/main" val="3244629399"/>
                  </a:ext>
                </a:extLst>
              </a:tr>
            </a:tbl>
          </a:graphicData>
        </a:graphic>
      </p:graphicFrame>
      <p:sp>
        <p:nvSpPr>
          <p:cNvPr id="6" name="Textfeld 5">
            <a:extLst>
              <a:ext uri="{FF2B5EF4-FFF2-40B4-BE49-F238E27FC236}">
                <a16:creationId xmlns:a16="http://schemas.microsoft.com/office/drawing/2014/main" id="{A6185724-F1A1-8643-A81D-43C02B9274F3}"/>
              </a:ext>
            </a:extLst>
          </p:cNvPr>
          <p:cNvSpPr txBox="1"/>
          <p:nvPr/>
        </p:nvSpPr>
        <p:spPr>
          <a:xfrm>
            <a:off x="6342077" y="2183449"/>
            <a:ext cx="874791" cy="369332"/>
          </a:xfrm>
          <a:prstGeom prst="rect">
            <a:avLst/>
          </a:prstGeom>
          <a:noFill/>
        </p:spPr>
        <p:txBody>
          <a:bodyPr wrap="none" rtlCol="0">
            <a:spAutoFit/>
          </a:bodyPr>
          <a:lstStyle/>
          <a:p>
            <a:r>
              <a:rPr lang="de-DE" dirty="0">
                <a:solidFill>
                  <a:srgbClr val="FF0000"/>
                </a:solidFill>
              </a:rPr>
              <a:t>Einkauf</a:t>
            </a:r>
          </a:p>
        </p:txBody>
      </p:sp>
      <p:graphicFrame>
        <p:nvGraphicFramePr>
          <p:cNvPr id="7" name="Tabelle 6">
            <a:extLst>
              <a:ext uri="{FF2B5EF4-FFF2-40B4-BE49-F238E27FC236}">
                <a16:creationId xmlns:a16="http://schemas.microsoft.com/office/drawing/2014/main" id="{9CB7FD5C-637F-3236-0EAA-2599556AB293}"/>
              </a:ext>
            </a:extLst>
          </p:cNvPr>
          <p:cNvGraphicFramePr>
            <a:graphicFrameLocks noGrp="1"/>
          </p:cNvGraphicFramePr>
          <p:nvPr>
            <p:extLst>
              <p:ext uri="{D42A27DB-BD31-4B8C-83A1-F6EECF244321}">
                <p14:modId xmlns:p14="http://schemas.microsoft.com/office/powerpoint/2010/main" val="968724952"/>
              </p:ext>
            </p:extLst>
          </p:nvPr>
        </p:nvGraphicFramePr>
        <p:xfrm>
          <a:off x="8304906" y="4839510"/>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Kunde_ID</a:t>
                      </a:r>
                      <a:endParaRPr lang="de-DE" dirty="0"/>
                    </a:p>
                  </a:txBody>
                  <a:tcPr/>
                </a:tc>
                <a:extLst>
                  <a:ext uri="{0D108BD9-81ED-4DB2-BD59-A6C34878D82A}">
                    <a16:rowId xmlns:a16="http://schemas.microsoft.com/office/drawing/2014/main" val="2818686444"/>
                  </a:ext>
                </a:extLst>
              </a:tr>
              <a:tr h="370840">
                <a:tc>
                  <a:txBody>
                    <a:bodyPr/>
                    <a:lstStyle/>
                    <a:p>
                      <a:endParaRPr lang="de-DE" dirty="0"/>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txBody>
                  <a:tcPr/>
                </a:tc>
                <a:extLst>
                  <a:ext uri="{0D108BD9-81ED-4DB2-BD59-A6C34878D82A}">
                    <a16:rowId xmlns:a16="http://schemas.microsoft.com/office/drawing/2014/main" val="433515461"/>
                  </a:ext>
                </a:extLst>
              </a:tr>
            </a:tbl>
          </a:graphicData>
        </a:graphic>
      </p:graphicFrame>
      <p:sp>
        <p:nvSpPr>
          <p:cNvPr id="8" name="Textfeld 7">
            <a:extLst>
              <a:ext uri="{FF2B5EF4-FFF2-40B4-BE49-F238E27FC236}">
                <a16:creationId xmlns:a16="http://schemas.microsoft.com/office/drawing/2014/main" id="{8BA5C6FC-672C-D157-A458-9FCD8F42CBD5}"/>
              </a:ext>
            </a:extLst>
          </p:cNvPr>
          <p:cNvSpPr txBox="1"/>
          <p:nvPr/>
        </p:nvSpPr>
        <p:spPr>
          <a:xfrm>
            <a:off x="8222609" y="4470178"/>
            <a:ext cx="782202" cy="369332"/>
          </a:xfrm>
          <a:prstGeom prst="rect">
            <a:avLst/>
          </a:prstGeom>
          <a:noFill/>
        </p:spPr>
        <p:txBody>
          <a:bodyPr wrap="none" rtlCol="0">
            <a:spAutoFit/>
          </a:bodyPr>
          <a:lstStyle/>
          <a:p>
            <a:r>
              <a:rPr lang="de-DE" dirty="0">
                <a:solidFill>
                  <a:srgbClr val="FF0000"/>
                </a:solidFill>
              </a:rPr>
              <a:t>Kunde</a:t>
            </a:r>
          </a:p>
        </p:txBody>
      </p:sp>
      <p:graphicFrame>
        <p:nvGraphicFramePr>
          <p:cNvPr id="9" name="Tabelle 8">
            <a:extLst>
              <a:ext uri="{FF2B5EF4-FFF2-40B4-BE49-F238E27FC236}">
                <a16:creationId xmlns:a16="http://schemas.microsoft.com/office/drawing/2014/main" id="{0CFDC8F5-21A7-4400-EBC8-DD3FC988379D}"/>
              </a:ext>
            </a:extLst>
          </p:cNvPr>
          <p:cNvGraphicFramePr>
            <a:graphicFrameLocks noGrp="1"/>
          </p:cNvGraphicFramePr>
          <p:nvPr>
            <p:extLst>
              <p:ext uri="{D42A27DB-BD31-4B8C-83A1-F6EECF244321}">
                <p14:modId xmlns:p14="http://schemas.microsoft.com/office/powerpoint/2010/main" val="1963201025"/>
              </p:ext>
            </p:extLst>
          </p:nvPr>
        </p:nvGraphicFramePr>
        <p:xfrm>
          <a:off x="4249201" y="3271319"/>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Produkt_ID</a:t>
                      </a:r>
                      <a:endParaRPr lang="de-DE" dirty="0"/>
                    </a:p>
                  </a:txBody>
                  <a:tcPr/>
                </a:tc>
                <a:extLst>
                  <a:ext uri="{0D108BD9-81ED-4DB2-BD59-A6C34878D82A}">
                    <a16:rowId xmlns:a16="http://schemas.microsoft.com/office/drawing/2014/main" val="2818686444"/>
                  </a:ext>
                </a:extLst>
              </a:tr>
              <a:tr h="370840">
                <a:tc>
                  <a:txBody>
                    <a:bodyPr/>
                    <a:lstStyle/>
                    <a:p>
                      <a:endParaRPr lang="de-DE" dirty="0"/>
                    </a:p>
                  </a:txBody>
                  <a:tcPr/>
                </a:tc>
                <a:extLst>
                  <a:ext uri="{0D108BD9-81ED-4DB2-BD59-A6C34878D82A}">
                    <a16:rowId xmlns:a16="http://schemas.microsoft.com/office/drawing/2014/main" val="455490717"/>
                  </a:ext>
                </a:extLst>
              </a:tr>
              <a:tr h="370840">
                <a:tc>
                  <a:txBody>
                    <a:bodyPr/>
                    <a:lstStyle/>
                    <a:p>
                      <a:endParaRPr lang="de-DE" dirty="0"/>
                    </a:p>
                  </a:txBody>
                  <a:tcPr/>
                </a:tc>
                <a:extLst>
                  <a:ext uri="{0D108BD9-81ED-4DB2-BD59-A6C34878D82A}">
                    <a16:rowId xmlns:a16="http://schemas.microsoft.com/office/drawing/2014/main" val="433515461"/>
                  </a:ext>
                </a:extLst>
              </a:tr>
            </a:tbl>
          </a:graphicData>
        </a:graphic>
      </p:graphicFrame>
      <p:sp>
        <p:nvSpPr>
          <p:cNvPr id="10" name="Textfeld 9">
            <a:extLst>
              <a:ext uri="{FF2B5EF4-FFF2-40B4-BE49-F238E27FC236}">
                <a16:creationId xmlns:a16="http://schemas.microsoft.com/office/drawing/2014/main" id="{05693305-B8ED-34D4-6A1E-8F5133DB2D91}"/>
              </a:ext>
            </a:extLst>
          </p:cNvPr>
          <p:cNvSpPr txBox="1"/>
          <p:nvPr/>
        </p:nvSpPr>
        <p:spPr>
          <a:xfrm>
            <a:off x="4166904" y="2901987"/>
            <a:ext cx="925190" cy="369332"/>
          </a:xfrm>
          <a:prstGeom prst="rect">
            <a:avLst/>
          </a:prstGeom>
          <a:noFill/>
        </p:spPr>
        <p:txBody>
          <a:bodyPr wrap="none" rtlCol="0">
            <a:spAutoFit/>
          </a:bodyPr>
          <a:lstStyle/>
          <a:p>
            <a:r>
              <a:rPr lang="de-DE" dirty="0">
                <a:solidFill>
                  <a:srgbClr val="FF0000"/>
                </a:solidFill>
              </a:rPr>
              <a:t>Produkt</a:t>
            </a:r>
          </a:p>
        </p:txBody>
      </p:sp>
      <p:sp>
        <p:nvSpPr>
          <p:cNvPr id="20" name="Textfeld 19">
            <a:extLst>
              <a:ext uri="{FF2B5EF4-FFF2-40B4-BE49-F238E27FC236}">
                <a16:creationId xmlns:a16="http://schemas.microsoft.com/office/drawing/2014/main" id="{3B29CCA7-0929-7FD2-737C-D2C71A29A69E}"/>
              </a:ext>
            </a:extLst>
          </p:cNvPr>
          <p:cNvSpPr txBox="1"/>
          <p:nvPr/>
        </p:nvSpPr>
        <p:spPr>
          <a:xfrm>
            <a:off x="268448" y="1208093"/>
            <a:ext cx="6073629" cy="1600438"/>
          </a:xfrm>
          <a:prstGeom prst="rect">
            <a:avLst/>
          </a:prstGeom>
          <a:noFill/>
          <a:ln>
            <a:solidFill>
              <a:srgbClr val="0070C0"/>
            </a:solidFill>
          </a:ln>
        </p:spPr>
        <p:txBody>
          <a:bodyPr wrap="square" rtlCol="0">
            <a:spAutoFit/>
          </a:bodyPr>
          <a:lstStyle/>
          <a:p>
            <a:r>
              <a:rPr lang="de-DE" sz="1400" b="1" dirty="0"/>
              <a:t>Aufgabenstellung</a:t>
            </a:r>
            <a:endParaRPr lang="de-DE" sz="1400" b="1" dirty="0">
              <a:solidFill>
                <a:srgbClr val="0070C0"/>
              </a:solidFill>
            </a:endParaRPr>
          </a:p>
          <a:p>
            <a:r>
              <a:rPr lang="de-DE" sz="1400" dirty="0">
                <a:solidFill>
                  <a:srgbClr val="0070C0"/>
                </a:solidFill>
              </a:rPr>
              <a:t>Von jedem </a:t>
            </a:r>
            <a:r>
              <a:rPr lang="de-DE" sz="1400" dirty="0">
                <a:solidFill>
                  <a:srgbClr val="FF0000"/>
                </a:solidFill>
              </a:rPr>
              <a:t>Einkauf</a:t>
            </a:r>
            <a:r>
              <a:rPr lang="de-DE" sz="1400" dirty="0">
                <a:solidFill>
                  <a:srgbClr val="0070C0"/>
                </a:solidFill>
              </a:rPr>
              <a:t> ist das Datum und Uhrzeit bekannt, an dem dieser stattfand,</a:t>
            </a:r>
          </a:p>
          <a:p>
            <a:r>
              <a:rPr lang="de-DE" sz="1400" dirty="0">
                <a:solidFill>
                  <a:srgbClr val="0070C0"/>
                </a:solidFill>
              </a:rPr>
              <a:t>ferner der Kunde, der diesen Einkauf tätigte sowie alle Produkte, die bei diesem Einkauf erworben wurden.</a:t>
            </a:r>
          </a:p>
          <a:p>
            <a:endParaRPr lang="de-DE" sz="1400" dirty="0">
              <a:solidFill>
                <a:srgbClr val="0070C0"/>
              </a:solidFill>
            </a:endParaRPr>
          </a:p>
          <a:p>
            <a:r>
              <a:rPr lang="de-DE" sz="1400" dirty="0">
                <a:solidFill>
                  <a:srgbClr val="0070C0"/>
                </a:solidFill>
              </a:rPr>
              <a:t>Von allen </a:t>
            </a:r>
            <a:r>
              <a:rPr lang="de-DE" sz="1400" dirty="0">
                <a:solidFill>
                  <a:srgbClr val="FF0000"/>
                </a:solidFill>
              </a:rPr>
              <a:t>Kunden</a:t>
            </a:r>
            <a:r>
              <a:rPr lang="de-DE" sz="1400" dirty="0">
                <a:solidFill>
                  <a:srgbClr val="0070C0"/>
                </a:solidFill>
              </a:rPr>
              <a:t> und </a:t>
            </a:r>
            <a:r>
              <a:rPr lang="de-DE" sz="1400" dirty="0">
                <a:solidFill>
                  <a:srgbClr val="FF0000"/>
                </a:solidFill>
              </a:rPr>
              <a:t>Produkten</a:t>
            </a:r>
            <a:r>
              <a:rPr lang="de-DE" sz="1400" dirty="0">
                <a:solidFill>
                  <a:srgbClr val="0070C0"/>
                </a:solidFill>
              </a:rPr>
              <a:t> ist der Name bekannt. </a:t>
            </a:r>
          </a:p>
          <a:p>
            <a:r>
              <a:rPr lang="de-DE" sz="1400" dirty="0">
                <a:solidFill>
                  <a:srgbClr val="0070C0"/>
                </a:solidFill>
              </a:rPr>
              <a:t>Von jedem Produkt ist zusätzlich auch der Preis bekannt.</a:t>
            </a:r>
          </a:p>
        </p:txBody>
      </p:sp>
    </p:spTree>
    <p:extLst>
      <p:ext uri="{BB962C8B-B14F-4D97-AF65-F5344CB8AC3E}">
        <p14:creationId xmlns:p14="http://schemas.microsoft.com/office/powerpoint/2010/main" val="1461424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a:bodyPr>
          <a:lstStyle/>
          <a:p>
            <a:r>
              <a:rPr lang="de-DE" dirty="0">
                <a:solidFill>
                  <a:srgbClr val="FF0000"/>
                </a:solidFill>
                <a:latin typeface="Source Sans Pro" panose="020B0503030403020204" pitchFamily="34" charset="0"/>
              </a:rPr>
              <a:t>Attribute</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3" name="Tabelle 2">
            <a:extLst>
              <a:ext uri="{FF2B5EF4-FFF2-40B4-BE49-F238E27FC236}">
                <a16:creationId xmlns:a16="http://schemas.microsoft.com/office/drawing/2014/main" id="{89182AAA-455F-1A92-F130-9D177F24CAE5}"/>
              </a:ext>
            </a:extLst>
          </p:cNvPr>
          <p:cNvGraphicFramePr>
            <a:graphicFrameLocks noGrp="1"/>
          </p:cNvGraphicFramePr>
          <p:nvPr>
            <p:extLst>
              <p:ext uri="{D42A27DB-BD31-4B8C-83A1-F6EECF244321}">
                <p14:modId xmlns:p14="http://schemas.microsoft.com/office/powerpoint/2010/main" val="694108035"/>
              </p:ext>
            </p:extLst>
          </p:nvPr>
        </p:nvGraphicFramePr>
        <p:xfrm>
          <a:off x="6424374" y="2552781"/>
          <a:ext cx="1281367" cy="148336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Einkauf_ID</a:t>
                      </a:r>
                      <a:endParaRPr lang="de-DE" dirty="0"/>
                    </a:p>
                  </a:txBody>
                  <a:tcPr/>
                </a:tc>
                <a:extLst>
                  <a:ext uri="{0D108BD9-81ED-4DB2-BD59-A6C34878D82A}">
                    <a16:rowId xmlns:a16="http://schemas.microsoft.com/office/drawing/2014/main" val="2818686444"/>
                  </a:ext>
                </a:extLst>
              </a:tr>
              <a:tr h="370840">
                <a:tc>
                  <a:txBody>
                    <a:bodyPr/>
                    <a:lstStyle/>
                    <a:p>
                      <a:endParaRPr lang="de-DE" dirty="0"/>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solidFill>
                            <a:srgbClr val="FF0000"/>
                          </a:solidFill>
                        </a:rPr>
                        <a:t>Uhrzeit</a:t>
                      </a:r>
                    </a:p>
                  </a:txBody>
                  <a:tcPr/>
                </a:tc>
                <a:extLst>
                  <a:ext uri="{0D108BD9-81ED-4DB2-BD59-A6C34878D82A}">
                    <a16:rowId xmlns:a16="http://schemas.microsoft.com/office/drawing/2014/main" val="433515461"/>
                  </a:ext>
                </a:extLst>
              </a:tr>
              <a:tr h="370840">
                <a:tc>
                  <a:txBody>
                    <a:bodyPr/>
                    <a:lstStyle/>
                    <a:p>
                      <a:r>
                        <a:rPr lang="de-DE" dirty="0">
                          <a:solidFill>
                            <a:srgbClr val="FF0000"/>
                          </a:solidFill>
                        </a:rPr>
                        <a:t>Datum</a:t>
                      </a:r>
                    </a:p>
                  </a:txBody>
                  <a:tcPr/>
                </a:tc>
                <a:extLst>
                  <a:ext uri="{0D108BD9-81ED-4DB2-BD59-A6C34878D82A}">
                    <a16:rowId xmlns:a16="http://schemas.microsoft.com/office/drawing/2014/main" val="3244629399"/>
                  </a:ext>
                </a:extLst>
              </a:tr>
            </a:tbl>
          </a:graphicData>
        </a:graphic>
      </p:graphicFrame>
      <p:sp>
        <p:nvSpPr>
          <p:cNvPr id="6" name="Textfeld 5">
            <a:extLst>
              <a:ext uri="{FF2B5EF4-FFF2-40B4-BE49-F238E27FC236}">
                <a16:creationId xmlns:a16="http://schemas.microsoft.com/office/drawing/2014/main" id="{A6185724-F1A1-8643-A81D-43C02B9274F3}"/>
              </a:ext>
            </a:extLst>
          </p:cNvPr>
          <p:cNvSpPr txBox="1"/>
          <p:nvPr/>
        </p:nvSpPr>
        <p:spPr>
          <a:xfrm>
            <a:off x="6342077" y="2183449"/>
            <a:ext cx="874791" cy="369332"/>
          </a:xfrm>
          <a:prstGeom prst="rect">
            <a:avLst/>
          </a:prstGeom>
          <a:noFill/>
        </p:spPr>
        <p:txBody>
          <a:bodyPr wrap="none" rtlCol="0">
            <a:spAutoFit/>
          </a:bodyPr>
          <a:lstStyle/>
          <a:p>
            <a:r>
              <a:rPr lang="de-DE" dirty="0"/>
              <a:t>Einkauf</a:t>
            </a:r>
          </a:p>
        </p:txBody>
      </p:sp>
      <p:graphicFrame>
        <p:nvGraphicFramePr>
          <p:cNvPr id="7" name="Tabelle 6">
            <a:extLst>
              <a:ext uri="{FF2B5EF4-FFF2-40B4-BE49-F238E27FC236}">
                <a16:creationId xmlns:a16="http://schemas.microsoft.com/office/drawing/2014/main" id="{9CB7FD5C-637F-3236-0EAA-2599556AB293}"/>
              </a:ext>
            </a:extLst>
          </p:cNvPr>
          <p:cNvGraphicFramePr>
            <a:graphicFrameLocks noGrp="1"/>
          </p:cNvGraphicFramePr>
          <p:nvPr>
            <p:extLst>
              <p:ext uri="{D42A27DB-BD31-4B8C-83A1-F6EECF244321}">
                <p14:modId xmlns:p14="http://schemas.microsoft.com/office/powerpoint/2010/main" val="1903537054"/>
              </p:ext>
            </p:extLst>
          </p:nvPr>
        </p:nvGraphicFramePr>
        <p:xfrm>
          <a:off x="8304906" y="4839510"/>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Kunde_ID</a:t>
                      </a:r>
                      <a:endParaRPr lang="de-DE" dirty="0"/>
                    </a:p>
                  </a:txBody>
                  <a:tcPr/>
                </a:tc>
                <a:extLst>
                  <a:ext uri="{0D108BD9-81ED-4DB2-BD59-A6C34878D82A}">
                    <a16:rowId xmlns:a16="http://schemas.microsoft.com/office/drawing/2014/main" val="2818686444"/>
                  </a:ext>
                </a:extLst>
              </a:tr>
              <a:tr h="370840">
                <a:tc>
                  <a:txBody>
                    <a:bodyPr/>
                    <a:lstStyle/>
                    <a:p>
                      <a:r>
                        <a:rPr lang="de-DE" dirty="0">
                          <a:solidFill>
                            <a:srgbClr val="FF0000"/>
                          </a:solidFill>
                        </a:rPr>
                        <a:t>Name</a:t>
                      </a: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txBody>
                  <a:tcPr/>
                </a:tc>
                <a:extLst>
                  <a:ext uri="{0D108BD9-81ED-4DB2-BD59-A6C34878D82A}">
                    <a16:rowId xmlns:a16="http://schemas.microsoft.com/office/drawing/2014/main" val="433515461"/>
                  </a:ext>
                </a:extLst>
              </a:tr>
            </a:tbl>
          </a:graphicData>
        </a:graphic>
      </p:graphicFrame>
      <p:sp>
        <p:nvSpPr>
          <p:cNvPr id="8" name="Textfeld 7">
            <a:extLst>
              <a:ext uri="{FF2B5EF4-FFF2-40B4-BE49-F238E27FC236}">
                <a16:creationId xmlns:a16="http://schemas.microsoft.com/office/drawing/2014/main" id="{8BA5C6FC-672C-D157-A458-9FCD8F42CBD5}"/>
              </a:ext>
            </a:extLst>
          </p:cNvPr>
          <p:cNvSpPr txBox="1"/>
          <p:nvPr/>
        </p:nvSpPr>
        <p:spPr>
          <a:xfrm>
            <a:off x="8222609" y="4470178"/>
            <a:ext cx="782202" cy="369332"/>
          </a:xfrm>
          <a:prstGeom prst="rect">
            <a:avLst/>
          </a:prstGeom>
          <a:noFill/>
        </p:spPr>
        <p:txBody>
          <a:bodyPr wrap="none" rtlCol="0">
            <a:spAutoFit/>
          </a:bodyPr>
          <a:lstStyle/>
          <a:p>
            <a:r>
              <a:rPr lang="de-DE" dirty="0"/>
              <a:t>Kunde</a:t>
            </a:r>
          </a:p>
        </p:txBody>
      </p:sp>
      <p:graphicFrame>
        <p:nvGraphicFramePr>
          <p:cNvPr id="9" name="Tabelle 8">
            <a:extLst>
              <a:ext uri="{FF2B5EF4-FFF2-40B4-BE49-F238E27FC236}">
                <a16:creationId xmlns:a16="http://schemas.microsoft.com/office/drawing/2014/main" id="{0CFDC8F5-21A7-4400-EBC8-DD3FC988379D}"/>
              </a:ext>
            </a:extLst>
          </p:cNvPr>
          <p:cNvGraphicFramePr>
            <a:graphicFrameLocks noGrp="1"/>
          </p:cNvGraphicFramePr>
          <p:nvPr>
            <p:extLst>
              <p:ext uri="{D42A27DB-BD31-4B8C-83A1-F6EECF244321}">
                <p14:modId xmlns:p14="http://schemas.microsoft.com/office/powerpoint/2010/main" val="1463040259"/>
              </p:ext>
            </p:extLst>
          </p:nvPr>
        </p:nvGraphicFramePr>
        <p:xfrm>
          <a:off x="4249201" y="3271319"/>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Produkt_ID</a:t>
                      </a:r>
                      <a:endParaRPr lang="de-DE" dirty="0"/>
                    </a:p>
                  </a:txBody>
                  <a:tcPr/>
                </a:tc>
                <a:extLst>
                  <a:ext uri="{0D108BD9-81ED-4DB2-BD59-A6C34878D82A}">
                    <a16:rowId xmlns:a16="http://schemas.microsoft.com/office/drawing/2014/main" val="2818686444"/>
                  </a:ext>
                </a:extLst>
              </a:tr>
              <a:tr h="370840">
                <a:tc>
                  <a:txBody>
                    <a:bodyPr/>
                    <a:lstStyle/>
                    <a:p>
                      <a:r>
                        <a:rPr lang="de-DE" dirty="0">
                          <a:solidFill>
                            <a:srgbClr val="FF0000"/>
                          </a:solidFill>
                        </a:rPr>
                        <a:t>Name</a:t>
                      </a:r>
                    </a:p>
                  </a:txBody>
                  <a:tcPr/>
                </a:tc>
                <a:extLst>
                  <a:ext uri="{0D108BD9-81ED-4DB2-BD59-A6C34878D82A}">
                    <a16:rowId xmlns:a16="http://schemas.microsoft.com/office/drawing/2014/main" val="455490717"/>
                  </a:ext>
                </a:extLst>
              </a:tr>
              <a:tr h="370840">
                <a:tc>
                  <a:txBody>
                    <a:bodyPr/>
                    <a:lstStyle/>
                    <a:p>
                      <a:r>
                        <a:rPr lang="de-DE" dirty="0">
                          <a:solidFill>
                            <a:srgbClr val="FF0000"/>
                          </a:solidFill>
                        </a:rPr>
                        <a:t>Preis (€)</a:t>
                      </a:r>
                    </a:p>
                  </a:txBody>
                  <a:tcPr/>
                </a:tc>
                <a:extLst>
                  <a:ext uri="{0D108BD9-81ED-4DB2-BD59-A6C34878D82A}">
                    <a16:rowId xmlns:a16="http://schemas.microsoft.com/office/drawing/2014/main" val="433515461"/>
                  </a:ext>
                </a:extLst>
              </a:tr>
            </a:tbl>
          </a:graphicData>
        </a:graphic>
      </p:graphicFrame>
      <p:sp>
        <p:nvSpPr>
          <p:cNvPr id="10" name="Textfeld 9">
            <a:extLst>
              <a:ext uri="{FF2B5EF4-FFF2-40B4-BE49-F238E27FC236}">
                <a16:creationId xmlns:a16="http://schemas.microsoft.com/office/drawing/2014/main" id="{05693305-B8ED-34D4-6A1E-8F5133DB2D91}"/>
              </a:ext>
            </a:extLst>
          </p:cNvPr>
          <p:cNvSpPr txBox="1"/>
          <p:nvPr/>
        </p:nvSpPr>
        <p:spPr>
          <a:xfrm>
            <a:off x="4166904" y="2901987"/>
            <a:ext cx="925190" cy="369332"/>
          </a:xfrm>
          <a:prstGeom prst="rect">
            <a:avLst/>
          </a:prstGeom>
          <a:noFill/>
        </p:spPr>
        <p:txBody>
          <a:bodyPr wrap="none" rtlCol="0">
            <a:spAutoFit/>
          </a:bodyPr>
          <a:lstStyle/>
          <a:p>
            <a:r>
              <a:rPr lang="de-DE" dirty="0"/>
              <a:t>Produkt</a:t>
            </a:r>
          </a:p>
        </p:txBody>
      </p:sp>
      <p:sp>
        <p:nvSpPr>
          <p:cNvPr id="12" name="Textfeld 11">
            <a:extLst>
              <a:ext uri="{FF2B5EF4-FFF2-40B4-BE49-F238E27FC236}">
                <a16:creationId xmlns:a16="http://schemas.microsoft.com/office/drawing/2014/main" id="{CF703B79-CEC1-7C3C-53D3-2B5F42A86D1C}"/>
              </a:ext>
            </a:extLst>
          </p:cNvPr>
          <p:cNvSpPr txBox="1"/>
          <p:nvPr/>
        </p:nvSpPr>
        <p:spPr>
          <a:xfrm>
            <a:off x="268448" y="1208093"/>
            <a:ext cx="6073629" cy="1600438"/>
          </a:xfrm>
          <a:prstGeom prst="rect">
            <a:avLst/>
          </a:prstGeom>
          <a:noFill/>
          <a:ln>
            <a:solidFill>
              <a:srgbClr val="0070C0"/>
            </a:solidFill>
          </a:ln>
        </p:spPr>
        <p:txBody>
          <a:bodyPr wrap="square" rtlCol="0">
            <a:spAutoFit/>
          </a:bodyPr>
          <a:lstStyle/>
          <a:p>
            <a:r>
              <a:rPr lang="de-DE" sz="1400" b="1" dirty="0"/>
              <a:t>Aufgabenstellung</a:t>
            </a:r>
            <a:endParaRPr lang="de-DE" sz="1400" b="1" dirty="0">
              <a:solidFill>
                <a:srgbClr val="0070C0"/>
              </a:solidFill>
            </a:endParaRPr>
          </a:p>
          <a:p>
            <a:r>
              <a:rPr lang="de-DE" sz="1400" dirty="0">
                <a:solidFill>
                  <a:srgbClr val="0070C0"/>
                </a:solidFill>
              </a:rPr>
              <a:t>Von jedem Einkauf ist das </a:t>
            </a:r>
            <a:r>
              <a:rPr lang="de-DE" sz="1400" dirty="0">
                <a:solidFill>
                  <a:srgbClr val="FF0000"/>
                </a:solidFill>
              </a:rPr>
              <a:t>Datum</a:t>
            </a:r>
            <a:r>
              <a:rPr lang="de-DE" sz="1400" dirty="0">
                <a:solidFill>
                  <a:srgbClr val="0070C0"/>
                </a:solidFill>
              </a:rPr>
              <a:t> und </a:t>
            </a:r>
            <a:r>
              <a:rPr lang="de-DE" sz="1400" dirty="0">
                <a:solidFill>
                  <a:srgbClr val="FF0000"/>
                </a:solidFill>
              </a:rPr>
              <a:t>Uhrzeit</a:t>
            </a:r>
            <a:r>
              <a:rPr lang="de-DE" sz="1400" dirty="0">
                <a:solidFill>
                  <a:srgbClr val="0070C0"/>
                </a:solidFill>
              </a:rPr>
              <a:t> bekannt, an dem dieser stattfand,</a:t>
            </a:r>
          </a:p>
          <a:p>
            <a:r>
              <a:rPr lang="de-DE" sz="1400" dirty="0">
                <a:solidFill>
                  <a:srgbClr val="0070C0"/>
                </a:solidFill>
              </a:rPr>
              <a:t>ferner der Kunde, der diesen Einkauf tätigte sowie alle Produkte, die bei diesem Einkauf erworben wurden.</a:t>
            </a:r>
          </a:p>
          <a:p>
            <a:endParaRPr lang="de-DE" sz="1400" dirty="0">
              <a:solidFill>
                <a:srgbClr val="0070C0"/>
              </a:solidFill>
            </a:endParaRPr>
          </a:p>
          <a:p>
            <a:r>
              <a:rPr lang="de-DE" sz="1400" dirty="0">
                <a:solidFill>
                  <a:srgbClr val="0070C0"/>
                </a:solidFill>
              </a:rPr>
              <a:t>Von allen Kunden und Produkten ist der </a:t>
            </a:r>
            <a:r>
              <a:rPr lang="de-DE" sz="1400" dirty="0">
                <a:solidFill>
                  <a:srgbClr val="FF0000"/>
                </a:solidFill>
              </a:rPr>
              <a:t>Name</a:t>
            </a:r>
            <a:r>
              <a:rPr lang="de-DE" sz="1400" dirty="0">
                <a:solidFill>
                  <a:srgbClr val="0070C0"/>
                </a:solidFill>
              </a:rPr>
              <a:t> bekannt. </a:t>
            </a:r>
          </a:p>
          <a:p>
            <a:r>
              <a:rPr lang="de-DE" sz="1400" dirty="0">
                <a:solidFill>
                  <a:srgbClr val="0070C0"/>
                </a:solidFill>
              </a:rPr>
              <a:t>Von jedem Produkt ist zusätzlich auch der </a:t>
            </a:r>
            <a:r>
              <a:rPr lang="de-DE" sz="1400" dirty="0">
                <a:solidFill>
                  <a:srgbClr val="FF0000"/>
                </a:solidFill>
              </a:rPr>
              <a:t>Preis</a:t>
            </a:r>
            <a:r>
              <a:rPr lang="de-DE" sz="1400" dirty="0">
                <a:solidFill>
                  <a:srgbClr val="0070C0"/>
                </a:solidFill>
              </a:rPr>
              <a:t> bekannt.</a:t>
            </a:r>
          </a:p>
        </p:txBody>
      </p:sp>
    </p:spTree>
    <p:extLst>
      <p:ext uri="{BB962C8B-B14F-4D97-AF65-F5344CB8AC3E}">
        <p14:creationId xmlns:p14="http://schemas.microsoft.com/office/powerpoint/2010/main" val="1330726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a:bodyPr>
          <a:lstStyle/>
          <a:p>
            <a:r>
              <a:rPr lang="de-DE" dirty="0">
                <a:solidFill>
                  <a:srgbClr val="FF0000"/>
                </a:solidFill>
                <a:latin typeface="Source Sans Pro" panose="020B0503030403020204" pitchFamily="34" charset="0"/>
              </a:rPr>
              <a:t>Beziehungen</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3" name="Tabelle 2">
            <a:extLst>
              <a:ext uri="{FF2B5EF4-FFF2-40B4-BE49-F238E27FC236}">
                <a16:creationId xmlns:a16="http://schemas.microsoft.com/office/drawing/2014/main" id="{89182AAA-455F-1A92-F130-9D177F24CAE5}"/>
              </a:ext>
            </a:extLst>
          </p:cNvPr>
          <p:cNvGraphicFramePr>
            <a:graphicFrameLocks noGrp="1"/>
          </p:cNvGraphicFramePr>
          <p:nvPr>
            <p:extLst>
              <p:ext uri="{D42A27DB-BD31-4B8C-83A1-F6EECF244321}">
                <p14:modId xmlns:p14="http://schemas.microsoft.com/office/powerpoint/2010/main" val="1437599710"/>
              </p:ext>
            </p:extLst>
          </p:nvPr>
        </p:nvGraphicFramePr>
        <p:xfrm>
          <a:off x="6424374" y="2552781"/>
          <a:ext cx="1281367" cy="148336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Einkauf_ID</a:t>
                      </a:r>
                      <a:endParaRPr lang="de-DE" dirty="0"/>
                    </a:p>
                  </a:txBody>
                  <a:tcPr/>
                </a:tc>
                <a:extLst>
                  <a:ext uri="{0D108BD9-81ED-4DB2-BD59-A6C34878D82A}">
                    <a16:rowId xmlns:a16="http://schemas.microsoft.com/office/drawing/2014/main" val="2818686444"/>
                  </a:ext>
                </a:extLst>
              </a:tr>
              <a:tr h="370840">
                <a:tc>
                  <a:txBody>
                    <a:bodyPr/>
                    <a:lstStyle/>
                    <a:p>
                      <a:endParaRPr lang="de-DE" dirty="0"/>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Uhrzeit</a:t>
                      </a:r>
                    </a:p>
                  </a:txBody>
                  <a:tcPr/>
                </a:tc>
                <a:extLst>
                  <a:ext uri="{0D108BD9-81ED-4DB2-BD59-A6C34878D82A}">
                    <a16:rowId xmlns:a16="http://schemas.microsoft.com/office/drawing/2014/main" val="433515461"/>
                  </a:ext>
                </a:extLst>
              </a:tr>
              <a:tr h="370840">
                <a:tc>
                  <a:txBody>
                    <a:bodyPr/>
                    <a:lstStyle/>
                    <a:p>
                      <a:r>
                        <a:rPr lang="de-DE" dirty="0"/>
                        <a:t>Datum</a:t>
                      </a:r>
                    </a:p>
                  </a:txBody>
                  <a:tcPr/>
                </a:tc>
                <a:extLst>
                  <a:ext uri="{0D108BD9-81ED-4DB2-BD59-A6C34878D82A}">
                    <a16:rowId xmlns:a16="http://schemas.microsoft.com/office/drawing/2014/main" val="3244629399"/>
                  </a:ext>
                </a:extLst>
              </a:tr>
            </a:tbl>
          </a:graphicData>
        </a:graphic>
      </p:graphicFrame>
      <p:sp>
        <p:nvSpPr>
          <p:cNvPr id="6" name="Textfeld 5">
            <a:extLst>
              <a:ext uri="{FF2B5EF4-FFF2-40B4-BE49-F238E27FC236}">
                <a16:creationId xmlns:a16="http://schemas.microsoft.com/office/drawing/2014/main" id="{A6185724-F1A1-8643-A81D-43C02B9274F3}"/>
              </a:ext>
            </a:extLst>
          </p:cNvPr>
          <p:cNvSpPr txBox="1"/>
          <p:nvPr/>
        </p:nvSpPr>
        <p:spPr>
          <a:xfrm>
            <a:off x="6342077" y="2183449"/>
            <a:ext cx="874791" cy="369332"/>
          </a:xfrm>
          <a:prstGeom prst="rect">
            <a:avLst/>
          </a:prstGeom>
          <a:noFill/>
        </p:spPr>
        <p:txBody>
          <a:bodyPr wrap="none" rtlCol="0">
            <a:spAutoFit/>
          </a:bodyPr>
          <a:lstStyle/>
          <a:p>
            <a:r>
              <a:rPr lang="de-DE" dirty="0"/>
              <a:t>Einkauf</a:t>
            </a:r>
          </a:p>
        </p:txBody>
      </p:sp>
      <p:graphicFrame>
        <p:nvGraphicFramePr>
          <p:cNvPr id="7" name="Tabelle 6">
            <a:extLst>
              <a:ext uri="{FF2B5EF4-FFF2-40B4-BE49-F238E27FC236}">
                <a16:creationId xmlns:a16="http://schemas.microsoft.com/office/drawing/2014/main" id="{9CB7FD5C-637F-3236-0EAA-2599556AB293}"/>
              </a:ext>
            </a:extLst>
          </p:cNvPr>
          <p:cNvGraphicFramePr>
            <a:graphicFrameLocks noGrp="1"/>
          </p:cNvGraphicFramePr>
          <p:nvPr>
            <p:extLst>
              <p:ext uri="{D42A27DB-BD31-4B8C-83A1-F6EECF244321}">
                <p14:modId xmlns:p14="http://schemas.microsoft.com/office/powerpoint/2010/main" val="2119323094"/>
              </p:ext>
            </p:extLst>
          </p:nvPr>
        </p:nvGraphicFramePr>
        <p:xfrm>
          <a:off x="8304906" y="4839510"/>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Kunde_ID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txBody>
                  <a:tcPr/>
                </a:tc>
                <a:extLst>
                  <a:ext uri="{0D108BD9-81ED-4DB2-BD59-A6C34878D82A}">
                    <a16:rowId xmlns:a16="http://schemas.microsoft.com/office/drawing/2014/main" val="433515461"/>
                  </a:ext>
                </a:extLst>
              </a:tr>
            </a:tbl>
          </a:graphicData>
        </a:graphic>
      </p:graphicFrame>
      <p:sp>
        <p:nvSpPr>
          <p:cNvPr id="8" name="Textfeld 7">
            <a:extLst>
              <a:ext uri="{FF2B5EF4-FFF2-40B4-BE49-F238E27FC236}">
                <a16:creationId xmlns:a16="http://schemas.microsoft.com/office/drawing/2014/main" id="{8BA5C6FC-672C-D157-A458-9FCD8F42CBD5}"/>
              </a:ext>
            </a:extLst>
          </p:cNvPr>
          <p:cNvSpPr txBox="1"/>
          <p:nvPr/>
        </p:nvSpPr>
        <p:spPr>
          <a:xfrm>
            <a:off x="8222609" y="4470178"/>
            <a:ext cx="782202" cy="369332"/>
          </a:xfrm>
          <a:prstGeom prst="rect">
            <a:avLst/>
          </a:prstGeom>
          <a:noFill/>
        </p:spPr>
        <p:txBody>
          <a:bodyPr wrap="none" rtlCol="0">
            <a:spAutoFit/>
          </a:bodyPr>
          <a:lstStyle/>
          <a:p>
            <a:r>
              <a:rPr lang="de-DE" dirty="0"/>
              <a:t>Kunde</a:t>
            </a:r>
          </a:p>
        </p:txBody>
      </p:sp>
      <p:graphicFrame>
        <p:nvGraphicFramePr>
          <p:cNvPr id="9" name="Tabelle 8">
            <a:extLst>
              <a:ext uri="{FF2B5EF4-FFF2-40B4-BE49-F238E27FC236}">
                <a16:creationId xmlns:a16="http://schemas.microsoft.com/office/drawing/2014/main" id="{0CFDC8F5-21A7-4400-EBC8-DD3FC988379D}"/>
              </a:ext>
            </a:extLst>
          </p:cNvPr>
          <p:cNvGraphicFramePr>
            <a:graphicFrameLocks noGrp="1"/>
          </p:cNvGraphicFramePr>
          <p:nvPr/>
        </p:nvGraphicFramePr>
        <p:xfrm>
          <a:off x="4249201" y="3271319"/>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Produkt_ID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r>
                        <a:rPr lang="de-DE" dirty="0"/>
                        <a:t>Preis (€)</a:t>
                      </a:r>
                    </a:p>
                  </a:txBody>
                  <a:tcPr/>
                </a:tc>
                <a:extLst>
                  <a:ext uri="{0D108BD9-81ED-4DB2-BD59-A6C34878D82A}">
                    <a16:rowId xmlns:a16="http://schemas.microsoft.com/office/drawing/2014/main" val="433515461"/>
                  </a:ext>
                </a:extLst>
              </a:tr>
            </a:tbl>
          </a:graphicData>
        </a:graphic>
      </p:graphicFrame>
      <p:sp>
        <p:nvSpPr>
          <p:cNvPr id="10" name="Textfeld 9">
            <a:extLst>
              <a:ext uri="{FF2B5EF4-FFF2-40B4-BE49-F238E27FC236}">
                <a16:creationId xmlns:a16="http://schemas.microsoft.com/office/drawing/2014/main" id="{05693305-B8ED-34D4-6A1E-8F5133DB2D91}"/>
              </a:ext>
            </a:extLst>
          </p:cNvPr>
          <p:cNvSpPr txBox="1"/>
          <p:nvPr/>
        </p:nvSpPr>
        <p:spPr>
          <a:xfrm>
            <a:off x="4166904" y="2901987"/>
            <a:ext cx="925190" cy="369332"/>
          </a:xfrm>
          <a:prstGeom prst="rect">
            <a:avLst/>
          </a:prstGeom>
          <a:noFill/>
        </p:spPr>
        <p:txBody>
          <a:bodyPr wrap="none" rtlCol="0">
            <a:spAutoFit/>
          </a:bodyPr>
          <a:lstStyle/>
          <a:p>
            <a:r>
              <a:rPr lang="de-DE" dirty="0"/>
              <a:t>Produkt</a:t>
            </a:r>
          </a:p>
        </p:txBody>
      </p:sp>
      <p:cxnSp>
        <p:nvCxnSpPr>
          <p:cNvPr id="13" name="Gerader Verbinder 12">
            <a:extLst>
              <a:ext uri="{FF2B5EF4-FFF2-40B4-BE49-F238E27FC236}">
                <a16:creationId xmlns:a16="http://schemas.microsoft.com/office/drawing/2014/main" id="{00649CED-AA6E-188A-25DC-5AA1E432A815}"/>
              </a:ext>
            </a:extLst>
          </p:cNvPr>
          <p:cNvCxnSpPr/>
          <p:nvPr/>
        </p:nvCxnSpPr>
        <p:spPr>
          <a:xfrm>
            <a:off x="5530568" y="3429000"/>
            <a:ext cx="89380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3958A19E-E6A9-57D4-D469-6AD6D06F42CE}"/>
              </a:ext>
            </a:extLst>
          </p:cNvPr>
          <p:cNvCxnSpPr/>
          <p:nvPr/>
        </p:nvCxnSpPr>
        <p:spPr>
          <a:xfrm>
            <a:off x="7705741" y="3120705"/>
            <a:ext cx="599165" cy="189591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24EDD24A-3244-E072-DA85-7EF5693D8758}"/>
              </a:ext>
            </a:extLst>
          </p:cNvPr>
          <p:cNvSpPr txBox="1"/>
          <p:nvPr/>
        </p:nvSpPr>
        <p:spPr>
          <a:xfrm>
            <a:off x="268448" y="1208093"/>
            <a:ext cx="6073629" cy="1600438"/>
          </a:xfrm>
          <a:prstGeom prst="rect">
            <a:avLst/>
          </a:prstGeom>
          <a:noFill/>
          <a:ln>
            <a:solidFill>
              <a:srgbClr val="0070C0"/>
            </a:solidFill>
          </a:ln>
        </p:spPr>
        <p:txBody>
          <a:bodyPr wrap="square" rtlCol="0">
            <a:spAutoFit/>
          </a:bodyPr>
          <a:lstStyle/>
          <a:p>
            <a:r>
              <a:rPr lang="de-DE" sz="1400" b="1" dirty="0"/>
              <a:t>Aufgabenstellung</a:t>
            </a:r>
            <a:endParaRPr lang="de-DE" sz="1400" b="1" dirty="0">
              <a:solidFill>
                <a:srgbClr val="0070C0"/>
              </a:solidFill>
            </a:endParaRPr>
          </a:p>
          <a:p>
            <a:r>
              <a:rPr lang="de-DE" sz="1400" dirty="0">
                <a:solidFill>
                  <a:srgbClr val="0070C0"/>
                </a:solidFill>
              </a:rPr>
              <a:t>Von jedem Einkauf ist das Datum und Uhrzeit bekannt, an dem dieser stattfand,</a:t>
            </a:r>
          </a:p>
          <a:p>
            <a:r>
              <a:rPr lang="de-DE" sz="1400" dirty="0">
                <a:solidFill>
                  <a:srgbClr val="0070C0"/>
                </a:solidFill>
              </a:rPr>
              <a:t>ferner der </a:t>
            </a:r>
            <a:r>
              <a:rPr lang="de-DE" sz="1400" dirty="0">
                <a:solidFill>
                  <a:srgbClr val="FF0000"/>
                </a:solidFill>
              </a:rPr>
              <a:t>Kunde, der diesen Einkauf tätigte </a:t>
            </a:r>
            <a:r>
              <a:rPr lang="de-DE" sz="1400" dirty="0">
                <a:solidFill>
                  <a:srgbClr val="0070C0"/>
                </a:solidFill>
              </a:rPr>
              <a:t>sowie alle </a:t>
            </a:r>
            <a:r>
              <a:rPr lang="de-DE" sz="1400" dirty="0">
                <a:solidFill>
                  <a:srgbClr val="FF0000"/>
                </a:solidFill>
              </a:rPr>
              <a:t>Produkte, die bei diesem Einkauf erworben</a:t>
            </a:r>
            <a:r>
              <a:rPr lang="de-DE" sz="1400" dirty="0">
                <a:solidFill>
                  <a:srgbClr val="0070C0"/>
                </a:solidFill>
              </a:rPr>
              <a:t> wurden.</a:t>
            </a:r>
          </a:p>
          <a:p>
            <a:endParaRPr lang="de-DE" sz="1400" dirty="0">
              <a:solidFill>
                <a:srgbClr val="0070C0"/>
              </a:solidFill>
            </a:endParaRPr>
          </a:p>
          <a:p>
            <a:r>
              <a:rPr lang="de-DE" sz="1400" dirty="0">
                <a:solidFill>
                  <a:srgbClr val="0070C0"/>
                </a:solidFill>
              </a:rPr>
              <a:t>Von allen Kunden und Produkten ist der Name bekannt. </a:t>
            </a:r>
          </a:p>
          <a:p>
            <a:r>
              <a:rPr lang="de-DE" sz="1400" dirty="0">
                <a:solidFill>
                  <a:srgbClr val="0070C0"/>
                </a:solidFill>
              </a:rPr>
              <a:t>Von jedem Produkt ist zusätzlich auch der Preis bekannt.</a:t>
            </a:r>
          </a:p>
        </p:txBody>
      </p:sp>
    </p:spTree>
    <p:extLst>
      <p:ext uri="{BB962C8B-B14F-4D97-AF65-F5344CB8AC3E}">
        <p14:creationId xmlns:p14="http://schemas.microsoft.com/office/powerpoint/2010/main" val="44915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a:bodyPr>
          <a:lstStyle/>
          <a:p>
            <a:r>
              <a:rPr lang="de-DE" dirty="0">
                <a:solidFill>
                  <a:srgbClr val="FF0000"/>
                </a:solidFill>
                <a:latin typeface="Source Sans Pro" panose="020B0503030403020204" pitchFamily="34" charset="0"/>
              </a:rPr>
              <a:t>Kardinalitäten</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2" name="Textfeld 1">
            <a:extLst>
              <a:ext uri="{FF2B5EF4-FFF2-40B4-BE49-F238E27FC236}">
                <a16:creationId xmlns:a16="http://schemas.microsoft.com/office/drawing/2014/main" id="{01C70B18-8501-E216-1A7E-74CC702B6FB6}"/>
              </a:ext>
            </a:extLst>
          </p:cNvPr>
          <p:cNvSpPr txBox="1"/>
          <p:nvPr/>
        </p:nvSpPr>
        <p:spPr>
          <a:xfrm>
            <a:off x="268448" y="1208093"/>
            <a:ext cx="6073629" cy="1600438"/>
          </a:xfrm>
          <a:prstGeom prst="rect">
            <a:avLst/>
          </a:prstGeom>
          <a:noFill/>
          <a:ln>
            <a:solidFill>
              <a:srgbClr val="0070C0"/>
            </a:solidFill>
          </a:ln>
        </p:spPr>
        <p:txBody>
          <a:bodyPr wrap="square" rtlCol="0">
            <a:spAutoFit/>
          </a:bodyPr>
          <a:lstStyle/>
          <a:p>
            <a:r>
              <a:rPr lang="de-DE" sz="1400" b="1" dirty="0"/>
              <a:t>Aufgabenstellung</a:t>
            </a:r>
            <a:endParaRPr lang="de-DE" sz="1400" b="1" dirty="0">
              <a:solidFill>
                <a:srgbClr val="0070C0"/>
              </a:solidFill>
            </a:endParaRPr>
          </a:p>
          <a:p>
            <a:r>
              <a:rPr lang="de-DE" sz="1400" dirty="0">
                <a:solidFill>
                  <a:srgbClr val="0070C0"/>
                </a:solidFill>
              </a:rPr>
              <a:t>Von jedem Einkauf ist das Datum und Uhrzeit bekannt, an dem dieser stattfand,</a:t>
            </a:r>
          </a:p>
          <a:p>
            <a:r>
              <a:rPr lang="de-DE" sz="1400" dirty="0">
                <a:solidFill>
                  <a:srgbClr val="0070C0"/>
                </a:solidFill>
              </a:rPr>
              <a:t>ferner der Kunde, der diesen Einkauf tätigte sowie alle Produkte, die bei diesem Einkauf erworben wurden.</a:t>
            </a:r>
          </a:p>
          <a:p>
            <a:endParaRPr lang="de-DE" sz="1400" dirty="0">
              <a:solidFill>
                <a:srgbClr val="0070C0"/>
              </a:solidFill>
            </a:endParaRPr>
          </a:p>
          <a:p>
            <a:r>
              <a:rPr lang="de-DE" sz="1400" dirty="0">
                <a:solidFill>
                  <a:srgbClr val="0070C0"/>
                </a:solidFill>
              </a:rPr>
              <a:t>Von allen Kunden und Produkten ist der Name bekannt. </a:t>
            </a:r>
          </a:p>
          <a:p>
            <a:r>
              <a:rPr lang="de-DE" sz="1400" dirty="0">
                <a:solidFill>
                  <a:srgbClr val="0070C0"/>
                </a:solidFill>
              </a:rPr>
              <a:t>Von jedem Produkt ist zusätzlich auch der Preis bekannt.</a:t>
            </a:r>
          </a:p>
        </p:txBody>
      </p:sp>
      <p:graphicFrame>
        <p:nvGraphicFramePr>
          <p:cNvPr id="3" name="Tabelle 2">
            <a:extLst>
              <a:ext uri="{FF2B5EF4-FFF2-40B4-BE49-F238E27FC236}">
                <a16:creationId xmlns:a16="http://schemas.microsoft.com/office/drawing/2014/main" id="{89182AAA-455F-1A92-F130-9D177F24CAE5}"/>
              </a:ext>
            </a:extLst>
          </p:cNvPr>
          <p:cNvGraphicFramePr>
            <a:graphicFrameLocks noGrp="1"/>
          </p:cNvGraphicFramePr>
          <p:nvPr>
            <p:extLst>
              <p:ext uri="{D42A27DB-BD31-4B8C-83A1-F6EECF244321}">
                <p14:modId xmlns:p14="http://schemas.microsoft.com/office/powerpoint/2010/main" val="1819958795"/>
              </p:ext>
            </p:extLst>
          </p:nvPr>
        </p:nvGraphicFramePr>
        <p:xfrm>
          <a:off x="6424374" y="2552781"/>
          <a:ext cx="1281367" cy="148336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Einkauf_ID</a:t>
                      </a:r>
                      <a:endParaRPr lang="de-DE" dirty="0"/>
                    </a:p>
                  </a:txBody>
                  <a:tcPr/>
                </a:tc>
                <a:extLst>
                  <a:ext uri="{0D108BD9-81ED-4DB2-BD59-A6C34878D82A}">
                    <a16:rowId xmlns:a16="http://schemas.microsoft.com/office/drawing/2014/main" val="2818686444"/>
                  </a:ext>
                </a:extLst>
              </a:tr>
              <a:tr h="370840">
                <a:tc>
                  <a:txBody>
                    <a:bodyPr/>
                    <a:lstStyle/>
                    <a:p>
                      <a:endParaRPr lang="de-DE" dirty="0"/>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Uhrzeit</a:t>
                      </a:r>
                    </a:p>
                  </a:txBody>
                  <a:tcPr/>
                </a:tc>
                <a:extLst>
                  <a:ext uri="{0D108BD9-81ED-4DB2-BD59-A6C34878D82A}">
                    <a16:rowId xmlns:a16="http://schemas.microsoft.com/office/drawing/2014/main" val="433515461"/>
                  </a:ext>
                </a:extLst>
              </a:tr>
              <a:tr h="370840">
                <a:tc>
                  <a:txBody>
                    <a:bodyPr/>
                    <a:lstStyle/>
                    <a:p>
                      <a:r>
                        <a:rPr lang="de-DE" dirty="0"/>
                        <a:t>Datum</a:t>
                      </a:r>
                    </a:p>
                  </a:txBody>
                  <a:tcPr/>
                </a:tc>
                <a:extLst>
                  <a:ext uri="{0D108BD9-81ED-4DB2-BD59-A6C34878D82A}">
                    <a16:rowId xmlns:a16="http://schemas.microsoft.com/office/drawing/2014/main" val="3244629399"/>
                  </a:ext>
                </a:extLst>
              </a:tr>
            </a:tbl>
          </a:graphicData>
        </a:graphic>
      </p:graphicFrame>
      <p:sp>
        <p:nvSpPr>
          <p:cNvPr id="6" name="Textfeld 5">
            <a:extLst>
              <a:ext uri="{FF2B5EF4-FFF2-40B4-BE49-F238E27FC236}">
                <a16:creationId xmlns:a16="http://schemas.microsoft.com/office/drawing/2014/main" id="{A6185724-F1A1-8643-A81D-43C02B9274F3}"/>
              </a:ext>
            </a:extLst>
          </p:cNvPr>
          <p:cNvSpPr txBox="1"/>
          <p:nvPr/>
        </p:nvSpPr>
        <p:spPr>
          <a:xfrm>
            <a:off x="6342077" y="2183449"/>
            <a:ext cx="874791" cy="369332"/>
          </a:xfrm>
          <a:prstGeom prst="rect">
            <a:avLst/>
          </a:prstGeom>
          <a:noFill/>
        </p:spPr>
        <p:txBody>
          <a:bodyPr wrap="none" rtlCol="0">
            <a:spAutoFit/>
          </a:bodyPr>
          <a:lstStyle/>
          <a:p>
            <a:r>
              <a:rPr lang="de-DE" dirty="0"/>
              <a:t>Einkauf</a:t>
            </a:r>
          </a:p>
        </p:txBody>
      </p:sp>
      <p:graphicFrame>
        <p:nvGraphicFramePr>
          <p:cNvPr id="7" name="Tabelle 6">
            <a:extLst>
              <a:ext uri="{FF2B5EF4-FFF2-40B4-BE49-F238E27FC236}">
                <a16:creationId xmlns:a16="http://schemas.microsoft.com/office/drawing/2014/main" id="{9CB7FD5C-637F-3236-0EAA-2599556AB293}"/>
              </a:ext>
            </a:extLst>
          </p:cNvPr>
          <p:cNvGraphicFramePr>
            <a:graphicFrameLocks noGrp="1"/>
          </p:cNvGraphicFramePr>
          <p:nvPr>
            <p:extLst>
              <p:ext uri="{D42A27DB-BD31-4B8C-83A1-F6EECF244321}">
                <p14:modId xmlns:p14="http://schemas.microsoft.com/office/powerpoint/2010/main" val="2534292252"/>
              </p:ext>
            </p:extLst>
          </p:nvPr>
        </p:nvGraphicFramePr>
        <p:xfrm>
          <a:off x="8304906" y="4839510"/>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Kunde_ID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txBody>
                  <a:tcPr/>
                </a:tc>
                <a:extLst>
                  <a:ext uri="{0D108BD9-81ED-4DB2-BD59-A6C34878D82A}">
                    <a16:rowId xmlns:a16="http://schemas.microsoft.com/office/drawing/2014/main" val="433515461"/>
                  </a:ext>
                </a:extLst>
              </a:tr>
            </a:tbl>
          </a:graphicData>
        </a:graphic>
      </p:graphicFrame>
      <p:sp>
        <p:nvSpPr>
          <p:cNvPr id="8" name="Textfeld 7">
            <a:extLst>
              <a:ext uri="{FF2B5EF4-FFF2-40B4-BE49-F238E27FC236}">
                <a16:creationId xmlns:a16="http://schemas.microsoft.com/office/drawing/2014/main" id="{8BA5C6FC-672C-D157-A458-9FCD8F42CBD5}"/>
              </a:ext>
            </a:extLst>
          </p:cNvPr>
          <p:cNvSpPr txBox="1"/>
          <p:nvPr/>
        </p:nvSpPr>
        <p:spPr>
          <a:xfrm>
            <a:off x="8222609" y="4470178"/>
            <a:ext cx="782202" cy="369332"/>
          </a:xfrm>
          <a:prstGeom prst="rect">
            <a:avLst/>
          </a:prstGeom>
          <a:noFill/>
        </p:spPr>
        <p:txBody>
          <a:bodyPr wrap="none" rtlCol="0">
            <a:spAutoFit/>
          </a:bodyPr>
          <a:lstStyle/>
          <a:p>
            <a:r>
              <a:rPr lang="de-DE" dirty="0"/>
              <a:t>Kunde</a:t>
            </a:r>
          </a:p>
        </p:txBody>
      </p:sp>
      <p:graphicFrame>
        <p:nvGraphicFramePr>
          <p:cNvPr id="9" name="Tabelle 8">
            <a:extLst>
              <a:ext uri="{FF2B5EF4-FFF2-40B4-BE49-F238E27FC236}">
                <a16:creationId xmlns:a16="http://schemas.microsoft.com/office/drawing/2014/main" id="{0CFDC8F5-21A7-4400-EBC8-DD3FC988379D}"/>
              </a:ext>
            </a:extLst>
          </p:cNvPr>
          <p:cNvGraphicFramePr>
            <a:graphicFrameLocks noGrp="1"/>
          </p:cNvGraphicFramePr>
          <p:nvPr/>
        </p:nvGraphicFramePr>
        <p:xfrm>
          <a:off x="4249201" y="3271319"/>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Produkt_ID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r>
                        <a:rPr lang="de-DE" dirty="0"/>
                        <a:t>Preis (€)</a:t>
                      </a:r>
                    </a:p>
                  </a:txBody>
                  <a:tcPr/>
                </a:tc>
                <a:extLst>
                  <a:ext uri="{0D108BD9-81ED-4DB2-BD59-A6C34878D82A}">
                    <a16:rowId xmlns:a16="http://schemas.microsoft.com/office/drawing/2014/main" val="433515461"/>
                  </a:ext>
                </a:extLst>
              </a:tr>
            </a:tbl>
          </a:graphicData>
        </a:graphic>
      </p:graphicFrame>
      <p:sp>
        <p:nvSpPr>
          <p:cNvPr id="10" name="Textfeld 9">
            <a:extLst>
              <a:ext uri="{FF2B5EF4-FFF2-40B4-BE49-F238E27FC236}">
                <a16:creationId xmlns:a16="http://schemas.microsoft.com/office/drawing/2014/main" id="{05693305-B8ED-34D4-6A1E-8F5133DB2D91}"/>
              </a:ext>
            </a:extLst>
          </p:cNvPr>
          <p:cNvSpPr txBox="1"/>
          <p:nvPr/>
        </p:nvSpPr>
        <p:spPr>
          <a:xfrm>
            <a:off x="4166904" y="2901987"/>
            <a:ext cx="925190" cy="369332"/>
          </a:xfrm>
          <a:prstGeom prst="rect">
            <a:avLst/>
          </a:prstGeom>
          <a:noFill/>
        </p:spPr>
        <p:txBody>
          <a:bodyPr wrap="none" rtlCol="0">
            <a:spAutoFit/>
          </a:bodyPr>
          <a:lstStyle/>
          <a:p>
            <a:r>
              <a:rPr lang="de-DE" dirty="0"/>
              <a:t>Produkt</a:t>
            </a:r>
          </a:p>
        </p:txBody>
      </p:sp>
      <p:cxnSp>
        <p:nvCxnSpPr>
          <p:cNvPr id="13" name="Gerader Verbinder 12">
            <a:extLst>
              <a:ext uri="{FF2B5EF4-FFF2-40B4-BE49-F238E27FC236}">
                <a16:creationId xmlns:a16="http://schemas.microsoft.com/office/drawing/2014/main" id="{00649CED-AA6E-188A-25DC-5AA1E432A815}"/>
              </a:ext>
            </a:extLst>
          </p:cNvPr>
          <p:cNvCxnSpPr/>
          <p:nvPr/>
        </p:nvCxnSpPr>
        <p:spPr>
          <a:xfrm>
            <a:off x="5530568" y="3429000"/>
            <a:ext cx="8938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3958A19E-E6A9-57D4-D469-6AD6D06F42CE}"/>
              </a:ext>
            </a:extLst>
          </p:cNvPr>
          <p:cNvCxnSpPr/>
          <p:nvPr/>
        </p:nvCxnSpPr>
        <p:spPr>
          <a:xfrm>
            <a:off x="7705741" y="3120705"/>
            <a:ext cx="599165" cy="1895912"/>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6F5FD997-0D44-7BF9-8767-B4B2AA292244}"/>
              </a:ext>
            </a:extLst>
          </p:cNvPr>
          <p:cNvSpPr txBox="1"/>
          <p:nvPr/>
        </p:nvSpPr>
        <p:spPr>
          <a:xfrm>
            <a:off x="5458816" y="3235464"/>
            <a:ext cx="308098" cy="276999"/>
          </a:xfrm>
          <a:prstGeom prst="rect">
            <a:avLst/>
          </a:prstGeom>
          <a:noFill/>
        </p:spPr>
        <p:txBody>
          <a:bodyPr wrap="none" rtlCol="0">
            <a:spAutoFit/>
          </a:bodyPr>
          <a:lstStyle/>
          <a:p>
            <a:r>
              <a:rPr lang="de-DE" sz="1200" dirty="0">
                <a:solidFill>
                  <a:srgbClr val="FF0000"/>
                </a:solidFill>
              </a:rPr>
              <a:t>m</a:t>
            </a:r>
          </a:p>
        </p:txBody>
      </p:sp>
      <p:sp>
        <p:nvSpPr>
          <p:cNvPr id="17" name="Textfeld 16">
            <a:extLst>
              <a:ext uri="{FF2B5EF4-FFF2-40B4-BE49-F238E27FC236}">
                <a16:creationId xmlns:a16="http://schemas.microsoft.com/office/drawing/2014/main" id="{C0B3D81B-510F-59F1-E821-8758D8EB0FDF}"/>
              </a:ext>
            </a:extLst>
          </p:cNvPr>
          <p:cNvSpPr txBox="1"/>
          <p:nvPr/>
        </p:nvSpPr>
        <p:spPr>
          <a:xfrm>
            <a:off x="6209669" y="3235463"/>
            <a:ext cx="264816" cy="276999"/>
          </a:xfrm>
          <a:prstGeom prst="rect">
            <a:avLst/>
          </a:prstGeom>
          <a:noFill/>
        </p:spPr>
        <p:txBody>
          <a:bodyPr wrap="none" rtlCol="0">
            <a:spAutoFit/>
          </a:bodyPr>
          <a:lstStyle/>
          <a:p>
            <a:r>
              <a:rPr lang="de-DE" sz="1200" dirty="0">
                <a:solidFill>
                  <a:srgbClr val="FF0000"/>
                </a:solidFill>
              </a:rPr>
              <a:t>n</a:t>
            </a:r>
          </a:p>
        </p:txBody>
      </p:sp>
      <p:sp>
        <p:nvSpPr>
          <p:cNvPr id="12" name="Textfeld 11">
            <a:extLst>
              <a:ext uri="{FF2B5EF4-FFF2-40B4-BE49-F238E27FC236}">
                <a16:creationId xmlns:a16="http://schemas.microsoft.com/office/drawing/2014/main" id="{CEB525DF-7E76-DCAB-162F-1FCEF4808828}"/>
              </a:ext>
            </a:extLst>
          </p:cNvPr>
          <p:cNvSpPr txBox="1"/>
          <p:nvPr/>
        </p:nvSpPr>
        <p:spPr>
          <a:xfrm>
            <a:off x="4707794" y="4538413"/>
            <a:ext cx="2382319" cy="830997"/>
          </a:xfrm>
          <a:prstGeom prst="rect">
            <a:avLst/>
          </a:prstGeom>
          <a:noFill/>
        </p:spPr>
        <p:txBody>
          <a:bodyPr wrap="none" rtlCol="0">
            <a:spAutoFit/>
          </a:bodyPr>
          <a:lstStyle/>
          <a:p>
            <a:pPr algn="ctr"/>
            <a:r>
              <a:rPr lang="de-DE" sz="1200" dirty="0">
                <a:solidFill>
                  <a:srgbClr val="FF0000"/>
                </a:solidFill>
              </a:rPr>
              <a:t>Ein Produkt kann in </a:t>
            </a:r>
            <a:r>
              <a:rPr lang="de-DE" sz="1200" b="1" dirty="0">
                <a:solidFill>
                  <a:srgbClr val="FF0000"/>
                </a:solidFill>
              </a:rPr>
              <a:t>mehreren</a:t>
            </a:r>
            <a:r>
              <a:rPr lang="de-DE" sz="1200" dirty="0">
                <a:solidFill>
                  <a:srgbClr val="FF0000"/>
                </a:solidFill>
              </a:rPr>
              <a:t> </a:t>
            </a:r>
          </a:p>
          <a:p>
            <a:pPr algn="ctr"/>
            <a:r>
              <a:rPr lang="de-DE" sz="1200" dirty="0">
                <a:solidFill>
                  <a:srgbClr val="FF0000"/>
                </a:solidFill>
              </a:rPr>
              <a:t>Einkäufen gekauft worden sein.</a:t>
            </a:r>
          </a:p>
          <a:p>
            <a:pPr algn="ctr"/>
            <a:r>
              <a:rPr lang="de-DE" sz="1200" dirty="0">
                <a:solidFill>
                  <a:srgbClr val="FF0000"/>
                </a:solidFill>
              </a:rPr>
              <a:t>Bei einem Einkauf können </a:t>
            </a:r>
            <a:r>
              <a:rPr lang="de-DE" sz="1200" b="1" dirty="0">
                <a:solidFill>
                  <a:srgbClr val="FF0000"/>
                </a:solidFill>
              </a:rPr>
              <a:t>mehrere</a:t>
            </a:r>
          </a:p>
          <a:p>
            <a:pPr algn="ctr"/>
            <a:r>
              <a:rPr lang="de-DE" sz="1200" dirty="0">
                <a:solidFill>
                  <a:srgbClr val="FF0000"/>
                </a:solidFill>
              </a:rPr>
              <a:t>Produkte gekauft worden sein.</a:t>
            </a:r>
          </a:p>
        </p:txBody>
      </p:sp>
      <p:cxnSp>
        <p:nvCxnSpPr>
          <p:cNvPr id="20" name="Gerade Verbindung mit Pfeil 19">
            <a:extLst>
              <a:ext uri="{FF2B5EF4-FFF2-40B4-BE49-F238E27FC236}">
                <a16:creationId xmlns:a16="http://schemas.microsoft.com/office/drawing/2014/main" id="{F63E04E4-B14D-8E5D-0E39-B7E61B832DD7}"/>
              </a:ext>
            </a:extLst>
          </p:cNvPr>
          <p:cNvCxnSpPr/>
          <p:nvPr/>
        </p:nvCxnSpPr>
        <p:spPr>
          <a:xfrm flipV="1">
            <a:off x="5766914" y="3578732"/>
            <a:ext cx="106984" cy="8409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2684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a:bodyPr>
          <a:lstStyle/>
          <a:p>
            <a:r>
              <a:rPr lang="de-DE" dirty="0">
                <a:solidFill>
                  <a:srgbClr val="FF0000"/>
                </a:solidFill>
                <a:latin typeface="Source Sans Pro" panose="020B0503030403020204" pitchFamily="34" charset="0"/>
              </a:rPr>
              <a:t>Kardinalitäten</a:t>
            </a:r>
            <a:endParaRPr lang="de-DE" sz="24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2" name="Textfeld 1">
            <a:extLst>
              <a:ext uri="{FF2B5EF4-FFF2-40B4-BE49-F238E27FC236}">
                <a16:creationId xmlns:a16="http://schemas.microsoft.com/office/drawing/2014/main" id="{01C70B18-8501-E216-1A7E-74CC702B6FB6}"/>
              </a:ext>
            </a:extLst>
          </p:cNvPr>
          <p:cNvSpPr txBox="1"/>
          <p:nvPr/>
        </p:nvSpPr>
        <p:spPr>
          <a:xfrm>
            <a:off x="268448" y="1208093"/>
            <a:ext cx="6073629" cy="1600438"/>
          </a:xfrm>
          <a:prstGeom prst="rect">
            <a:avLst/>
          </a:prstGeom>
          <a:noFill/>
          <a:ln>
            <a:solidFill>
              <a:srgbClr val="0070C0"/>
            </a:solidFill>
          </a:ln>
        </p:spPr>
        <p:txBody>
          <a:bodyPr wrap="square" rtlCol="0">
            <a:spAutoFit/>
          </a:bodyPr>
          <a:lstStyle/>
          <a:p>
            <a:r>
              <a:rPr lang="de-DE" sz="1400" b="1" dirty="0"/>
              <a:t>Aufgabenstellung</a:t>
            </a:r>
            <a:endParaRPr lang="de-DE" sz="1400" b="1" dirty="0">
              <a:solidFill>
                <a:srgbClr val="0070C0"/>
              </a:solidFill>
            </a:endParaRPr>
          </a:p>
          <a:p>
            <a:r>
              <a:rPr lang="de-DE" sz="1400" dirty="0">
                <a:solidFill>
                  <a:srgbClr val="0070C0"/>
                </a:solidFill>
              </a:rPr>
              <a:t>Von jedem Einkauf ist das Datum und Uhrzeit bekannt, an dem dieser stattfand,</a:t>
            </a:r>
          </a:p>
          <a:p>
            <a:r>
              <a:rPr lang="de-DE" sz="1400" dirty="0">
                <a:solidFill>
                  <a:srgbClr val="0070C0"/>
                </a:solidFill>
              </a:rPr>
              <a:t>ferner der Kunde, der diesen Einkauf tätigte sowie alle Produkte, die bei diesem Einkauf erworben wurden.</a:t>
            </a:r>
          </a:p>
          <a:p>
            <a:endParaRPr lang="de-DE" sz="1400" dirty="0">
              <a:solidFill>
                <a:srgbClr val="0070C0"/>
              </a:solidFill>
            </a:endParaRPr>
          </a:p>
          <a:p>
            <a:r>
              <a:rPr lang="de-DE" sz="1400" dirty="0">
                <a:solidFill>
                  <a:srgbClr val="0070C0"/>
                </a:solidFill>
              </a:rPr>
              <a:t>Von allen Kunden und Produkten ist der Name bekannt. </a:t>
            </a:r>
          </a:p>
          <a:p>
            <a:r>
              <a:rPr lang="de-DE" sz="1400" dirty="0">
                <a:solidFill>
                  <a:srgbClr val="0070C0"/>
                </a:solidFill>
              </a:rPr>
              <a:t>Von jedem Produkt ist zusätzlich auch der Preis bekannt.</a:t>
            </a:r>
          </a:p>
        </p:txBody>
      </p:sp>
      <p:graphicFrame>
        <p:nvGraphicFramePr>
          <p:cNvPr id="3" name="Tabelle 2">
            <a:extLst>
              <a:ext uri="{FF2B5EF4-FFF2-40B4-BE49-F238E27FC236}">
                <a16:creationId xmlns:a16="http://schemas.microsoft.com/office/drawing/2014/main" id="{89182AAA-455F-1A92-F130-9D177F24CAE5}"/>
              </a:ext>
            </a:extLst>
          </p:cNvPr>
          <p:cNvGraphicFramePr>
            <a:graphicFrameLocks noGrp="1"/>
          </p:cNvGraphicFramePr>
          <p:nvPr/>
        </p:nvGraphicFramePr>
        <p:xfrm>
          <a:off x="6424374" y="2552781"/>
          <a:ext cx="1281367" cy="148336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Einkauf_ID</a:t>
                      </a:r>
                      <a:endParaRPr lang="de-DE" dirty="0"/>
                    </a:p>
                  </a:txBody>
                  <a:tcPr/>
                </a:tc>
                <a:extLst>
                  <a:ext uri="{0D108BD9-81ED-4DB2-BD59-A6C34878D82A}">
                    <a16:rowId xmlns:a16="http://schemas.microsoft.com/office/drawing/2014/main" val="2818686444"/>
                  </a:ext>
                </a:extLst>
              </a:tr>
              <a:tr h="370840">
                <a:tc>
                  <a:txBody>
                    <a:bodyPr/>
                    <a:lstStyle/>
                    <a:p>
                      <a:endParaRPr lang="de-DE" dirty="0"/>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Uhrzeit</a:t>
                      </a:r>
                    </a:p>
                  </a:txBody>
                  <a:tcPr/>
                </a:tc>
                <a:extLst>
                  <a:ext uri="{0D108BD9-81ED-4DB2-BD59-A6C34878D82A}">
                    <a16:rowId xmlns:a16="http://schemas.microsoft.com/office/drawing/2014/main" val="433515461"/>
                  </a:ext>
                </a:extLst>
              </a:tr>
              <a:tr h="370840">
                <a:tc>
                  <a:txBody>
                    <a:bodyPr/>
                    <a:lstStyle/>
                    <a:p>
                      <a:r>
                        <a:rPr lang="de-DE" dirty="0"/>
                        <a:t>Datum</a:t>
                      </a:r>
                    </a:p>
                  </a:txBody>
                  <a:tcPr/>
                </a:tc>
                <a:extLst>
                  <a:ext uri="{0D108BD9-81ED-4DB2-BD59-A6C34878D82A}">
                    <a16:rowId xmlns:a16="http://schemas.microsoft.com/office/drawing/2014/main" val="3244629399"/>
                  </a:ext>
                </a:extLst>
              </a:tr>
            </a:tbl>
          </a:graphicData>
        </a:graphic>
      </p:graphicFrame>
      <p:sp>
        <p:nvSpPr>
          <p:cNvPr id="6" name="Textfeld 5">
            <a:extLst>
              <a:ext uri="{FF2B5EF4-FFF2-40B4-BE49-F238E27FC236}">
                <a16:creationId xmlns:a16="http://schemas.microsoft.com/office/drawing/2014/main" id="{A6185724-F1A1-8643-A81D-43C02B9274F3}"/>
              </a:ext>
            </a:extLst>
          </p:cNvPr>
          <p:cNvSpPr txBox="1"/>
          <p:nvPr/>
        </p:nvSpPr>
        <p:spPr>
          <a:xfrm>
            <a:off x="6342077" y="2183449"/>
            <a:ext cx="874791" cy="369332"/>
          </a:xfrm>
          <a:prstGeom prst="rect">
            <a:avLst/>
          </a:prstGeom>
          <a:noFill/>
        </p:spPr>
        <p:txBody>
          <a:bodyPr wrap="none" rtlCol="0">
            <a:spAutoFit/>
          </a:bodyPr>
          <a:lstStyle/>
          <a:p>
            <a:r>
              <a:rPr lang="de-DE" dirty="0"/>
              <a:t>Einkauf</a:t>
            </a:r>
          </a:p>
        </p:txBody>
      </p:sp>
      <p:graphicFrame>
        <p:nvGraphicFramePr>
          <p:cNvPr id="7" name="Tabelle 6">
            <a:extLst>
              <a:ext uri="{FF2B5EF4-FFF2-40B4-BE49-F238E27FC236}">
                <a16:creationId xmlns:a16="http://schemas.microsoft.com/office/drawing/2014/main" id="{9CB7FD5C-637F-3236-0EAA-2599556AB293}"/>
              </a:ext>
            </a:extLst>
          </p:cNvPr>
          <p:cNvGraphicFramePr>
            <a:graphicFrameLocks noGrp="1"/>
          </p:cNvGraphicFramePr>
          <p:nvPr/>
        </p:nvGraphicFramePr>
        <p:xfrm>
          <a:off x="8304906" y="4839510"/>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Kunde_ID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txBody>
                  <a:tcPr/>
                </a:tc>
                <a:extLst>
                  <a:ext uri="{0D108BD9-81ED-4DB2-BD59-A6C34878D82A}">
                    <a16:rowId xmlns:a16="http://schemas.microsoft.com/office/drawing/2014/main" val="433515461"/>
                  </a:ext>
                </a:extLst>
              </a:tr>
            </a:tbl>
          </a:graphicData>
        </a:graphic>
      </p:graphicFrame>
      <p:sp>
        <p:nvSpPr>
          <p:cNvPr id="8" name="Textfeld 7">
            <a:extLst>
              <a:ext uri="{FF2B5EF4-FFF2-40B4-BE49-F238E27FC236}">
                <a16:creationId xmlns:a16="http://schemas.microsoft.com/office/drawing/2014/main" id="{8BA5C6FC-672C-D157-A458-9FCD8F42CBD5}"/>
              </a:ext>
            </a:extLst>
          </p:cNvPr>
          <p:cNvSpPr txBox="1"/>
          <p:nvPr/>
        </p:nvSpPr>
        <p:spPr>
          <a:xfrm>
            <a:off x="8222609" y="4470178"/>
            <a:ext cx="782202" cy="369332"/>
          </a:xfrm>
          <a:prstGeom prst="rect">
            <a:avLst/>
          </a:prstGeom>
          <a:noFill/>
        </p:spPr>
        <p:txBody>
          <a:bodyPr wrap="none" rtlCol="0">
            <a:spAutoFit/>
          </a:bodyPr>
          <a:lstStyle/>
          <a:p>
            <a:r>
              <a:rPr lang="de-DE" dirty="0"/>
              <a:t>Kunde</a:t>
            </a:r>
          </a:p>
        </p:txBody>
      </p:sp>
      <p:graphicFrame>
        <p:nvGraphicFramePr>
          <p:cNvPr id="9" name="Tabelle 8">
            <a:extLst>
              <a:ext uri="{FF2B5EF4-FFF2-40B4-BE49-F238E27FC236}">
                <a16:creationId xmlns:a16="http://schemas.microsoft.com/office/drawing/2014/main" id="{0CFDC8F5-21A7-4400-EBC8-DD3FC988379D}"/>
              </a:ext>
            </a:extLst>
          </p:cNvPr>
          <p:cNvGraphicFramePr>
            <a:graphicFrameLocks noGrp="1"/>
          </p:cNvGraphicFramePr>
          <p:nvPr/>
        </p:nvGraphicFramePr>
        <p:xfrm>
          <a:off x="4249201" y="3271319"/>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Produkt_ID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r>
                        <a:rPr lang="de-DE" dirty="0"/>
                        <a:t>Preis (€)</a:t>
                      </a:r>
                    </a:p>
                  </a:txBody>
                  <a:tcPr/>
                </a:tc>
                <a:extLst>
                  <a:ext uri="{0D108BD9-81ED-4DB2-BD59-A6C34878D82A}">
                    <a16:rowId xmlns:a16="http://schemas.microsoft.com/office/drawing/2014/main" val="433515461"/>
                  </a:ext>
                </a:extLst>
              </a:tr>
            </a:tbl>
          </a:graphicData>
        </a:graphic>
      </p:graphicFrame>
      <p:sp>
        <p:nvSpPr>
          <p:cNvPr id="10" name="Textfeld 9">
            <a:extLst>
              <a:ext uri="{FF2B5EF4-FFF2-40B4-BE49-F238E27FC236}">
                <a16:creationId xmlns:a16="http://schemas.microsoft.com/office/drawing/2014/main" id="{05693305-B8ED-34D4-6A1E-8F5133DB2D91}"/>
              </a:ext>
            </a:extLst>
          </p:cNvPr>
          <p:cNvSpPr txBox="1"/>
          <p:nvPr/>
        </p:nvSpPr>
        <p:spPr>
          <a:xfrm>
            <a:off x="4166904" y="2901987"/>
            <a:ext cx="925190" cy="369332"/>
          </a:xfrm>
          <a:prstGeom prst="rect">
            <a:avLst/>
          </a:prstGeom>
          <a:noFill/>
        </p:spPr>
        <p:txBody>
          <a:bodyPr wrap="none" rtlCol="0">
            <a:spAutoFit/>
          </a:bodyPr>
          <a:lstStyle/>
          <a:p>
            <a:r>
              <a:rPr lang="de-DE" dirty="0"/>
              <a:t>Produkt</a:t>
            </a:r>
          </a:p>
        </p:txBody>
      </p:sp>
      <p:cxnSp>
        <p:nvCxnSpPr>
          <p:cNvPr id="13" name="Gerader Verbinder 12">
            <a:extLst>
              <a:ext uri="{FF2B5EF4-FFF2-40B4-BE49-F238E27FC236}">
                <a16:creationId xmlns:a16="http://schemas.microsoft.com/office/drawing/2014/main" id="{00649CED-AA6E-188A-25DC-5AA1E432A815}"/>
              </a:ext>
            </a:extLst>
          </p:cNvPr>
          <p:cNvCxnSpPr/>
          <p:nvPr/>
        </p:nvCxnSpPr>
        <p:spPr>
          <a:xfrm>
            <a:off x="5530568" y="3429000"/>
            <a:ext cx="8938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3958A19E-E6A9-57D4-D469-6AD6D06F42CE}"/>
              </a:ext>
            </a:extLst>
          </p:cNvPr>
          <p:cNvCxnSpPr/>
          <p:nvPr/>
        </p:nvCxnSpPr>
        <p:spPr>
          <a:xfrm>
            <a:off x="7705741" y="3120705"/>
            <a:ext cx="599165" cy="1895912"/>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6F5FD997-0D44-7BF9-8767-B4B2AA292244}"/>
              </a:ext>
            </a:extLst>
          </p:cNvPr>
          <p:cNvSpPr txBox="1"/>
          <p:nvPr/>
        </p:nvSpPr>
        <p:spPr>
          <a:xfrm>
            <a:off x="5458816" y="3235464"/>
            <a:ext cx="308098" cy="276999"/>
          </a:xfrm>
          <a:prstGeom prst="rect">
            <a:avLst/>
          </a:prstGeom>
          <a:noFill/>
        </p:spPr>
        <p:txBody>
          <a:bodyPr wrap="none" rtlCol="0">
            <a:spAutoFit/>
          </a:bodyPr>
          <a:lstStyle/>
          <a:p>
            <a:r>
              <a:rPr lang="de-DE" sz="1200" dirty="0">
                <a:solidFill>
                  <a:srgbClr val="0070C0"/>
                </a:solidFill>
              </a:rPr>
              <a:t>m</a:t>
            </a:r>
          </a:p>
        </p:txBody>
      </p:sp>
      <p:sp>
        <p:nvSpPr>
          <p:cNvPr id="17" name="Textfeld 16">
            <a:extLst>
              <a:ext uri="{FF2B5EF4-FFF2-40B4-BE49-F238E27FC236}">
                <a16:creationId xmlns:a16="http://schemas.microsoft.com/office/drawing/2014/main" id="{C0B3D81B-510F-59F1-E821-8758D8EB0FDF}"/>
              </a:ext>
            </a:extLst>
          </p:cNvPr>
          <p:cNvSpPr txBox="1"/>
          <p:nvPr/>
        </p:nvSpPr>
        <p:spPr>
          <a:xfrm>
            <a:off x="6209669" y="3235463"/>
            <a:ext cx="264816" cy="276999"/>
          </a:xfrm>
          <a:prstGeom prst="rect">
            <a:avLst/>
          </a:prstGeom>
          <a:noFill/>
        </p:spPr>
        <p:txBody>
          <a:bodyPr wrap="none" rtlCol="0">
            <a:spAutoFit/>
          </a:bodyPr>
          <a:lstStyle/>
          <a:p>
            <a:r>
              <a:rPr lang="de-DE" sz="1200" dirty="0">
                <a:solidFill>
                  <a:srgbClr val="0070C0"/>
                </a:solidFill>
              </a:rPr>
              <a:t>n</a:t>
            </a:r>
          </a:p>
        </p:txBody>
      </p:sp>
      <p:sp>
        <p:nvSpPr>
          <p:cNvPr id="18" name="Textfeld 17">
            <a:extLst>
              <a:ext uri="{FF2B5EF4-FFF2-40B4-BE49-F238E27FC236}">
                <a16:creationId xmlns:a16="http://schemas.microsoft.com/office/drawing/2014/main" id="{B07A1E14-E215-6927-D4DC-5CCF0A4680B9}"/>
              </a:ext>
            </a:extLst>
          </p:cNvPr>
          <p:cNvSpPr txBox="1"/>
          <p:nvPr/>
        </p:nvSpPr>
        <p:spPr>
          <a:xfrm>
            <a:off x="7652716" y="2982205"/>
            <a:ext cx="264816" cy="276999"/>
          </a:xfrm>
          <a:prstGeom prst="rect">
            <a:avLst/>
          </a:prstGeom>
          <a:noFill/>
        </p:spPr>
        <p:txBody>
          <a:bodyPr wrap="none" rtlCol="0">
            <a:spAutoFit/>
          </a:bodyPr>
          <a:lstStyle/>
          <a:p>
            <a:r>
              <a:rPr lang="de-DE" sz="1200" dirty="0">
                <a:solidFill>
                  <a:srgbClr val="FF0000"/>
                </a:solidFill>
              </a:rPr>
              <a:t>n</a:t>
            </a:r>
          </a:p>
        </p:txBody>
      </p:sp>
      <p:sp>
        <p:nvSpPr>
          <p:cNvPr id="19" name="Textfeld 18">
            <a:extLst>
              <a:ext uri="{FF2B5EF4-FFF2-40B4-BE49-F238E27FC236}">
                <a16:creationId xmlns:a16="http://schemas.microsoft.com/office/drawing/2014/main" id="{897C2F29-0E67-2F43-744E-743E95665B80}"/>
              </a:ext>
            </a:extLst>
          </p:cNvPr>
          <p:cNvSpPr txBox="1"/>
          <p:nvPr/>
        </p:nvSpPr>
        <p:spPr>
          <a:xfrm>
            <a:off x="8091002" y="4839510"/>
            <a:ext cx="263214" cy="276999"/>
          </a:xfrm>
          <a:prstGeom prst="rect">
            <a:avLst/>
          </a:prstGeom>
          <a:noFill/>
        </p:spPr>
        <p:txBody>
          <a:bodyPr wrap="none" rtlCol="0">
            <a:spAutoFit/>
          </a:bodyPr>
          <a:lstStyle/>
          <a:p>
            <a:r>
              <a:rPr lang="de-DE" sz="1200" dirty="0">
                <a:solidFill>
                  <a:srgbClr val="FF0000"/>
                </a:solidFill>
              </a:rPr>
              <a:t>1</a:t>
            </a:r>
          </a:p>
        </p:txBody>
      </p:sp>
      <p:sp>
        <p:nvSpPr>
          <p:cNvPr id="21" name="Textfeld 20">
            <a:extLst>
              <a:ext uri="{FF2B5EF4-FFF2-40B4-BE49-F238E27FC236}">
                <a16:creationId xmlns:a16="http://schemas.microsoft.com/office/drawing/2014/main" id="{38A79A39-4FA5-74E9-8479-D5331C172970}"/>
              </a:ext>
            </a:extLst>
          </p:cNvPr>
          <p:cNvSpPr txBox="1"/>
          <p:nvPr/>
        </p:nvSpPr>
        <p:spPr>
          <a:xfrm>
            <a:off x="8679238" y="2876985"/>
            <a:ext cx="2791790" cy="461665"/>
          </a:xfrm>
          <a:prstGeom prst="rect">
            <a:avLst/>
          </a:prstGeom>
          <a:noFill/>
        </p:spPr>
        <p:txBody>
          <a:bodyPr wrap="none" rtlCol="0">
            <a:spAutoFit/>
          </a:bodyPr>
          <a:lstStyle/>
          <a:p>
            <a:pPr algn="ctr"/>
            <a:r>
              <a:rPr lang="de-DE" sz="1200" dirty="0">
                <a:solidFill>
                  <a:srgbClr val="FF0000"/>
                </a:solidFill>
              </a:rPr>
              <a:t>Ein Einkauf wird von </a:t>
            </a:r>
            <a:r>
              <a:rPr lang="de-DE" sz="1200" b="1" dirty="0">
                <a:solidFill>
                  <a:srgbClr val="FF0000"/>
                </a:solidFill>
              </a:rPr>
              <a:t>1</a:t>
            </a:r>
            <a:r>
              <a:rPr lang="de-DE" sz="1200" dirty="0">
                <a:solidFill>
                  <a:srgbClr val="FF0000"/>
                </a:solidFill>
              </a:rPr>
              <a:t> Kunden getätigt.</a:t>
            </a:r>
          </a:p>
          <a:p>
            <a:pPr algn="ctr"/>
            <a:r>
              <a:rPr lang="de-DE" sz="1200" dirty="0">
                <a:solidFill>
                  <a:srgbClr val="FF0000"/>
                </a:solidFill>
              </a:rPr>
              <a:t>Ein Kunde kann </a:t>
            </a:r>
            <a:r>
              <a:rPr lang="de-DE" sz="1200" b="1" dirty="0">
                <a:solidFill>
                  <a:srgbClr val="FF0000"/>
                </a:solidFill>
              </a:rPr>
              <a:t>mehrere</a:t>
            </a:r>
            <a:r>
              <a:rPr lang="de-DE" sz="1200" dirty="0">
                <a:solidFill>
                  <a:srgbClr val="FF0000"/>
                </a:solidFill>
              </a:rPr>
              <a:t> Einkäufe tätigen.</a:t>
            </a:r>
          </a:p>
        </p:txBody>
      </p:sp>
      <p:cxnSp>
        <p:nvCxnSpPr>
          <p:cNvPr id="22" name="Gerade Verbindung mit Pfeil 21">
            <a:extLst>
              <a:ext uri="{FF2B5EF4-FFF2-40B4-BE49-F238E27FC236}">
                <a16:creationId xmlns:a16="http://schemas.microsoft.com/office/drawing/2014/main" id="{0FA789CB-A427-CD1F-AD45-C4EF3B15CA71}"/>
              </a:ext>
            </a:extLst>
          </p:cNvPr>
          <p:cNvCxnSpPr>
            <a:cxnSpLocks/>
          </p:cNvCxnSpPr>
          <p:nvPr/>
        </p:nvCxnSpPr>
        <p:spPr>
          <a:xfrm flipH="1">
            <a:off x="8049833" y="3345538"/>
            <a:ext cx="988188" cy="5938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6011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a:bodyPr>
          <a:lstStyle/>
          <a:p>
            <a:r>
              <a:rPr lang="de-DE" dirty="0">
                <a:solidFill>
                  <a:srgbClr val="FF0000"/>
                </a:solidFill>
                <a:latin typeface="Source Sans Pro" panose="020B0503030403020204" pitchFamily="34" charset="0"/>
              </a:rPr>
              <a:t>Fremdschlüssel-Vergabe </a:t>
            </a:r>
            <a:r>
              <a:rPr lang="de-DE" sz="2700" b="0" dirty="0">
                <a:solidFill>
                  <a:srgbClr val="0070C0"/>
                </a:solidFill>
                <a:latin typeface="Source Sans Pro" panose="020B0503030403020204" pitchFamily="34" charset="0"/>
              </a:rPr>
              <a:t>(bei </a:t>
            </a:r>
            <a:r>
              <a:rPr lang="de-DE" sz="2700" b="0" dirty="0">
                <a:solidFill>
                  <a:srgbClr val="FF0000"/>
                </a:solidFill>
                <a:latin typeface="Source Sans Pro" panose="020B0503030403020204" pitchFamily="34" charset="0"/>
              </a:rPr>
              <a:t>1:n</a:t>
            </a:r>
            <a:r>
              <a:rPr lang="de-DE" sz="2700" b="0" dirty="0">
                <a:solidFill>
                  <a:srgbClr val="0070C0"/>
                </a:solidFill>
                <a:latin typeface="Source Sans Pro" panose="020B0503030403020204" pitchFamily="34" charset="0"/>
              </a:rPr>
              <a:t>-Beziehungen)</a:t>
            </a:r>
            <a:endParaRPr lang="de-DE" sz="2700" b="0" i="1" dirty="0">
              <a:solidFill>
                <a:srgbClr val="0070C0"/>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3" name="Tabelle 2">
            <a:extLst>
              <a:ext uri="{FF2B5EF4-FFF2-40B4-BE49-F238E27FC236}">
                <a16:creationId xmlns:a16="http://schemas.microsoft.com/office/drawing/2014/main" id="{89182AAA-455F-1A92-F130-9D177F24CAE5}"/>
              </a:ext>
            </a:extLst>
          </p:cNvPr>
          <p:cNvGraphicFramePr>
            <a:graphicFrameLocks noGrp="1"/>
          </p:cNvGraphicFramePr>
          <p:nvPr>
            <p:extLst>
              <p:ext uri="{D42A27DB-BD31-4B8C-83A1-F6EECF244321}">
                <p14:modId xmlns:p14="http://schemas.microsoft.com/office/powerpoint/2010/main" val="1130347283"/>
              </p:ext>
            </p:extLst>
          </p:nvPr>
        </p:nvGraphicFramePr>
        <p:xfrm>
          <a:off x="6424374" y="2552781"/>
          <a:ext cx="1281367" cy="148336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Einkauf_ID</a:t>
                      </a:r>
                      <a:endParaRPr lang="de-DE" dirty="0"/>
                    </a:p>
                  </a:txBody>
                  <a:tcPr/>
                </a:tc>
                <a:extLst>
                  <a:ext uri="{0D108BD9-81ED-4DB2-BD59-A6C34878D82A}">
                    <a16:rowId xmlns:a16="http://schemas.microsoft.com/office/drawing/2014/main" val="2818686444"/>
                  </a:ext>
                </a:extLst>
              </a:tr>
              <a:tr h="370840">
                <a:tc>
                  <a:txBody>
                    <a:bodyPr/>
                    <a:lstStyle/>
                    <a:p>
                      <a:r>
                        <a:rPr lang="de-DE" dirty="0" err="1">
                          <a:solidFill>
                            <a:srgbClr val="FF0000"/>
                          </a:solidFill>
                        </a:rPr>
                        <a:t>Kunde_ID</a:t>
                      </a:r>
                      <a:endParaRPr lang="de-DE" dirty="0">
                        <a:solidFill>
                          <a:srgbClr val="FF0000"/>
                        </a:solidFill>
                      </a:endParaRP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Uhrzeit</a:t>
                      </a:r>
                    </a:p>
                  </a:txBody>
                  <a:tcPr/>
                </a:tc>
                <a:extLst>
                  <a:ext uri="{0D108BD9-81ED-4DB2-BD59-A6C34878D82A}">
                    <a16:rowId xmlns:a16="http://schemas.microsoft.com/office/drawing/2014/main" val="433515461"/>
                  </a:ext>
                </a:extLst>
              </a:tr>
              <a:tr h="370840">
                <a:tc>
                  <a:txBody>
                    <a:bodyPr/>
                    <a:lstStyle/>
                    <a:p>
                      <a:r>
                        <a:rPr lang="de-DE" dirty="0"/>
                        <a:t>Datum</a:t>
                      </a:r>
                    </a:p>
                  </a:txBody>
                  <a:tcPr/>
                </a:tc>
                <a:extLst>
                  <a:ext uri="{0D108BD9-81ED-4DB2-BD59-A6C34878D82A}">
                    <a16:rowId xmlns:a16="http://schemas.microsoft.com/office/drawing/2014/main" val="3244629399"/>
                  </a:ext>
                </a:extLst>
              </a:tr>
            </a:tbl>
          </a:graphicData>
        </a:graphic>
      </p:graphicFrame>
      <p:sp>
        <p:nvSpPr>
          <p:cNvPr id="6" name="Textfeld 5">
            <a:extLst>
              <a:ext uri="{FF2B5EF4-FFF2-40B4-BE49-F238E27FC236}">
                <a16:creationId xmlns:a16="http://schemas.microsoft.com/office/drawing/2014/main" id="{A6185724-F1A1-8643-A81D-43C02B9274F3}"/>
              </a:ext>
            </a:extLst>
          </p:cNvPr>
          <p:cNvSpPr txBox="1"/>
          <p:nvPr/>
        </p:nvSpPr>
        <p:spPr>
          <a:xfrm>
            <a:off x="6342077" y="2183449"/>
            <a:ext cx="874791" cy="369332"/>
          </a:xfrm>
          <a:prstGeom prst="rect">
            <a:avLst/>
          </a:prstGeom>
          <a:noFill/>
        </p:spPr>
        <p:txBody>
          <a:bodyPr wrap="none" rtlCol="0">
            <a:spAutoFit/>
          </a:bodyPr>
          <a:lstStyle/>
          <a:p>
            <a:r>
              <a:rPr lang="de-DE" dirty="0"/>
              <a:t>Einkauf</a:t>
            </a:r>
          </a:p>
        </p:txBody>
      </p:sp>
      <p:graphicFrame>
        <p:nvGraphicFramePr>
          <p:cNvPr id="7" name="Tabelle 6">
            <a:extLst>
              <a:ext uri="{FF2B5EF4-FFF2-40B4-BE49-F238E27FC236}">
                <a16:creationId xmlns:a16="http://schemas.microsoft.com/office/drawing/2014/main" id="{9CB7FD5C-637F-3236-0EAA-2599556AB293}"/>
              </a:ext>
            </a:extLst>
          </p:cNvPr>
          <p:cNvGraphicFramePr>
            <a:graphicFrameLocks noGrp="1"/>
          </p:cNvGraphicFramePr>
          <p:nvPr>
            <p:extLst>
              <p:ext uri="{D42A27DB-BD31-4B8C-83A1-F6EECF244321}">
                <p14:modId xmlns:p14="http://schemas.microsoft.com/office/powerpoint/2010/main" val="3297237998"/>
              </p:ext>
            </p:extLst>
          </p:nvPr>
        </p:nvGraphicFramePr>
        <p:xfrm>
          <a:off x="8304906" y="4839510"/>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Kunde_ID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txBody>
                  <a:tcPr/>
                </a:tc>
                <a:extLst>
                  <a:ext uri="{0D108BD9-81ED-4DB2-BD59-A6C34878D82A}">
                    <a16:rowId xmlns:a16="http://schemas.microsoft.com/office/drawing/2014/main" val="433515461"/>
                  </a:ext>
                </a:extLst>
              </a:tr>
            </a:tbl>
          </a:graphicData>
        </a:graphic>
      </p:graphicFrame>
      <p:sp>
        <p:nvSpPr>
          <p:cNvPr id="8" name="Textfeld 7">
            <a:extLst>
              <a:ext uri="{FF2B5EF4-FFF2-40B4-BE49-F238E27FC236}">
                <a16:creationId xmlns:a16="http://schemas.microsoft.com/office/drawing/2014/main" id="{8BA5C6FC-672C-D157-A458-9FCD8F42CBD5}"/>
              </a:ext>
            </a:extLst>
          </p:cNvPr>
          <p:cNvSpPr txBox="1"/>
          <p:nvPr/>
        </p:nvSpPr>
        <p:spPr>
          <a:xfrm>
            <a:off x="8222609" y="4470178"/>
            <a:ext cx="782202" cy="369332"/>
          </a:xfrm>
          <a:prstGeom prst="rect">
            <a:avLst/>
          </a:prstGeom>
          <a:noFill/>
        </p:spPr>
        <p:txBody>
          <a:bodyPr wrap="none" rtlCol="0">
            <a:spAutoFit/>
          </a:bodyPr>
          <a:lstStyle/>
          <a:p>
            <a:r>
              <a:rPr lang="de-DE" dirty="0"/>
              <a:t>Kunde</a:t>
            </a:r>
          </a:p>
        </p:txBody>
      </p:sp>
      <p:graphicFrame>
        <p:nvGraphicFramePr>
          <p:cNvPr id="9" name="Tabelle 8">
            <a:extLst>
              <a:ext uri="{FF2B5EF4-FFF2-40B4-BE49-F238E27FC236}">
                <a16:creationId xmlns:a16="http://schemas.microsoft.com/office/drawing/2014/main" id="{0CFDC8F5-21A7-4400-EBC8-DD3FC988379D}"/>
              </a:ext>
            </a:extLst>
          </p:cNvPr>
          <p:cNvGraphicFramePr>
            <a:graphicFrameLocks noGrp="1"/>
          </p:cNvGraphicFramePr>
          <p:nvPr/>
        </p:nvGraphicFramePr>
        <p:xfrm>
          <a:off x="4249201" y="3271319"/>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Produkt_ID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r>
                        <a:rPr lang="de-DE" dirty="0"/>
                        <a:t>Preis (€)</a:t>
                      </a:r>
                    </a:p>
                  </a:txBody>
                  <a:tcPr/>
                </a:tc>
                <a:extLst>
                  <a:ext uri="{0D108BD9-81ED-4DB2-BD59-A6C34878D82A}">
                    <a16:rowId xmlns:a16="http://schemas.microsoft.com/office/drawing/2014/main" val="433515461"/>
                  </a:ext>
                </a:extLst>
              </a:tr>
            </a:tbl>
          </a:graphicData>
        </a:graphic>
      </p:graphicFrame>
      <p:sp>
        <p:nvSpPr>
          <p:cNvPr id="10" name="Textfeld 9">
            <a:extLst>
              <a:ext uri="{FF2B5EF4-FFF2-40B4-BE49-F238E27FC236}">
                <a16:creationId xmlns:a16="http://schemas.microsoft.com/office/drawing/2014/main" id="{05693305-B8ED-34D4-6A1E-8F5133DB2D91}"/>
              </a:ext>
            </a:extLst>
          </p:cNvPr>
          <p:cNvSpPr txBox="1"/>
          <p:nvPr/>
        </p:nvSpPr>
        <p:spPr>
          <a:xfrm>
            <a:off x="4166904" y="2901987"/>
            <a:ext cx="925190" cy="369332"/>
          </a:xfrm>
          <a:prstGeom prst="rect">
            <a:avLst/>
          </a:prstGeom>
          <a:noFill/>
        </p:spPr>
        <p:txBody>
          <a:bodyPr wrap="none" rtlCol="0">
            <a:spAutoFit/>
          </a:bodyPr>
          <a:lstStyle/>
          <a:p>
            <a:r>
              <a:rPr lang="de-DE" dirty="0"/>
              <a:t>Produkt</a:t>
            </a:r>
          </a:p>
        </p:txBody>
      </p:sp>
      <p:cxnSp>
        <p:nvCxnSpPr>
          <p:cNvPr id="13" name="Gerader Verbinder 12">
            <a:extLst>
              <a:ext uri="{FF2B5EF4-FFF2-40B4-BE49-F238E27FC236}">
                <a16:creationId xmlns:a16="http://schemas.microsoft.com/office/drawing/2014/main" id="{00649CED-AA6E-188A-25DC-5AA1E432A815}"/>
              </a:ext>
            </a:extLst>
          </p:cNvPr>
          <p:cNvCxnSpPr/>
          <p:nvPr/>
        </p:nvCxnSpPr>
        <p:spPr>
          <a:xfrm>
            <a:off x="5530568" y="3429000"/>
            <a:ext cx="89380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3958A19E-E6A9-57D4-D469-6AD6D06F42CE}"/>
              </a:ext>
            </a:extLst>
          </p:cNvPr>
          <p:cNvCxnSpPr/>
          <p:nvPr/>
        </p:nvCxnSpPr>
        <p:spPr>
          <a:xfrm>
            <a:off x="7705741" y="3120705"/>
            <a:ext cx="599165" cy="1895912"/>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6F5FD997-0D44-7BF9-8767-B4B2AA292244}"/>
              </a:ext>
            </a:extLst>
          </p:cNvPr>
          <p:cNvSpPr txBox="1"/>
          <p:nvPr/>
        </p:nvSpPr>
        <p:spPr>
          <a:xfrm>
            <a:off x="5458816" y="3235464"/>
            <a:ext cx="308098" cy="276999"/>
          </a:xfrm>
          <a:prstGeom prst="rect">
            <a:avLst/>
          </a:prstGeom>
          <a:noFill/>
        </p:spPr>
        <p:txBody>
          <a:bodyPr wrap="none" rtlCol="0">
            <a:spAutoFit/>
          </a:bodyPr>
          <a:lstStyle/>
          <a:p>
            <a:r>
              <a:rPr lang="de-DE" sz="1200" dirty="0"/>
              <a:t>m</a:t>
            </a:r>
          </a:p>
        </p:txBody>
      </p:sp>
      <p:sp>
        <p:nvSpPr>
          <p:cNvPr id="17" name="Textfeld 16">
            <a:extLst>
              <a:ext uri="{FF2B5EF4-FFF2-40B4-BE49-F238E27FC236}">
                <a16:creationId xmlns:a16="http://schemas.microsoft.com/office/drawing/2014/main" id="{C0B3D81B-510F-59F1-E821-8758D8EB0FDF}"/>
              </a:ext>
            </a:extLst>
          </p:cNvPr>
          <p:cNvSpPr txBox="1"/>
          <p:nvPr/>
        </p:nvSpPr>
        <p:spPr>
          <a:xfrm>
            <a:off x="6209669" y="3235463"/>
            <a:ext cx="264816" cy="276999"/>
          </a:xfrm>
          <a:prstGeom prst="rect">
            <a:avLst/>
          </a:prstGeom>
          <a:noFill/>
        </p:spPr>
        <p:txBody>
          <a:bodyPr wrap="none" rtlCol="0">
            <a:spAutoFit/>
          </a:bodyPr>
          <a:lstStyle/>
          <a:p>
            <a:r>
              <a:rPr lang="de-DE" sz="1200" dirty="0"/>
              <a:t>n</a:t>
            </a:r>
          </a:p>
        </p:txBody>
      </p:sp>
      <p:sp>
        <p:nvSpPr>
          <p:cNvPr id="18" name="Textfeld 17">
            <a:extLst>
              <a:ext uri="{FF2B5EF4-FFF2-40B4-BE49-F238E27FC236}">
                <a16:creationId xmlns:a16="http://schemas.microsoft.com/office/drawing/2014/main" id="{B07A1E14-E215-6927-D4DC-5CCF0A4680B9}"/>
              </a:ext>
            </a:extLst>
          </p:cNvPr>
          <p:cNvSpPr txBox="1"/>
          <p:nvPr/>
        </p:nvSpPr>
        <p:spPr>
          <a:xfrm>
            <a:off x="7652716" y="2982205"/>
            <a:ext cx="264816" cy="276999"/>
          </a:xfrm>
          <a:prstGeom prst="rect">
            <a:avLst/>
          </a:prstGeom>
          <a:noFill/>
        </p:spPr>
        <p:txBody>
          <a:bodyPr wrap="none" rtlCol="0">
            <a:spAutoFit/>
          </a:bodyPr>
          <a:lstStyle/>
          <a:p>
            <a:r>
              <a:rPr lang="de-DE" sz="1200" dirty="0">
                <a:solidFill>
                  <a:srgbClr val="FF0000"/>
                </a:solidFill>
              </a:rPr>
              <a:t>n</a:t>
            </a:r>
          </a:p>
        </p:txBody>
      </p:sp>
      <p:sp>
        <p:nvSpPr>
          <p:cNvPr id="19" name="Textfeld 18">
            <a:extLst>
              <a:ext uri="{FF2B5EF4-FFF2-40B4-BE49-F238E27FC236}">
                <a16:creationId xmlns:a16="http://schemas.microsoft.com/office/drawing/2014/main" id="{897C2F29-0E67-2F43-744E-743E95665B80}"/>
              </a:ext>
            </a:extLst>
          </p:cNvPr>
          <p:cNvSpPr txBox="1"/>
          <p:nvPr/>
        </p:nvSpPr>
        <p:spPr>
          <a:xfrm>
            <a:off x="8049833" y="4854539"/>
            <a:ext cx="263214" cy="276999"/>
          </a:xfrm>
          <a:prstGeom prst="rect">
            <a:avLst/>
          </a:prstGeom>
          <a:noFill/>
        </p:spPr>
        <p:txBody>
          <a:bodyPr wrap="none" rtlCol="0">
            <a:spAutoFit/>
          </a:bodyPr>
          <a:lstStyle/>
          <a:p>
            <a:r>
              <a:rPr lang="de-DE" sz="1200" dirty="0">
                <a:solidFill>
                  <a:srgbClr val="FF0000"/>
                </a:solidFill>
              </a:rPr>
              <a:t>1</a:t>
            </a:r>
          </a:p>
        </p:txBody>
      </p:sp>
      <p:sp>
        <p:nvSpPr>
          <p:cNvPr id="12" name="Textfeld 11">
            <a:extLst>
              <a:ext uri="{FF2B5EF4-FFF2-40B4-BE49-F238E27FC236}">
                <a16:creationId xmlns:a16="http://schemas.microsoft.com/office/drawing/2014/main" id="{14EF6B6B-E3DE-D5B2-66C5-B43E19D7BBBC}"/>
              </a:ext>
            </a:extLst>
          </p:cNvPr>
          <p:cNvSpPr txBox="1"/>
          <p:nvPr/>
        </p:nvSpPr>
        <p:spPr>
          <a:xfrm>
            <a:off x="268448" y="1208093"/>
            <a:ext cx="6073629" cy="1600438"/>
          </a:xfrm>
          <a:prstGeom prst="rect">
            <a:avLst/>
          </a:prstGeom>
          <a:noFill/>
          <a:ln>
            <a:solidFill>
              <a:srgbClr val="0070C0"/>
            </a:solidFill>
          </a:ln>
        </p:spPr>
        <p:txBody>
          <a:bodyPr wrap="square" rtlCol="0">
            <a:spAutoFit/>
          </a:bodyPr>
          <a:lstStyle/>
          <a:p>
            <a:r>
              <a:rPr lang="de-DE" sz="1400" b="1" dirty="0"/>
              <a:t>Aufgabenstellung</a:t>
            </a:r>
            <a:endParaRPr lang="de-DE" sz="1400" b="1" dirty="0">
              <a:solidFill>
                <a:srgbClr val="0070C0"/>
              </a:solidFill>
            </a:endParaRPr>
          </a:p>
          <a:p>
            <a:r>
              <a:rPr lang="de-DE" sz="1400" dirty="0">
                <a:solidFill>
                  <a:srgbClr val="0070C0"/>
                </a:solidFill>
              </a:rPr>
              <a:t>Von jedem Einkauf ist das Datum und Uhrzeit bekannt, an dem dieser stattfand,</a:t>
            </a:r>
          </a:p>
          <a:p>
            <a:r>
              <a:rPr lang="de-DE" sz="1400" dirty="0">
                <a:solidFill>
                  <a:srgbClr val="0070C0"/>
                </a:solidFill>
              </a:rPr>
              <a:t>ferner der Kunde, der diesen Einkauf tätigte sowie alle Produkte, die bei diesem Einkauf erworben wurden.</a:t>
            </a:r>
          </a:p>
          <a:p>
            <a:endParaRPr lang="de-DE" sz="1400" dirty="0">
              <a:solidFill>
                <a:srgbClr val="0070C0"/>
              </a:solidFill>
            </a:endParaRPr>
          </a:p>
          <a:p>
            <a:r>
              <a:rPr lang="de-DE" sz="1400" dirty="0">
                <a:solidFill>
                  <a:srgbClr val="0070C0"/>
                </a:solidFill>
              </a:rPr>
              <a:t>Von allen Kunden und Produkten ist der Name bekannt. </a:t>
            </a:r>
          </a:p>
          <a:p>
            <a:r>
              <a:rPr lang="de-DE" sz="1400" dirty="0">
                <a:solidFill>
                  <a:srgbClr val="0070C0"/>
                </a:solidFill>
              </a:rPr>
              <a:t>Von jedem Produkt ist zusätzlich auch der Preis bekannt.</a:t>
            </a:r>
          </a:p>
        </p:txBody>
      </p:sp>
    </p:spTree>
    <p:extLst>
      <p:ext uri="{BB962C8B-B14F-4D97-AF65-F5344CB8AC3E}">
        <p14:creationId xmlns:p14="http://schemas.microsoft.com/office/powerpoint/2010/main" val="2542840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fontScale="90000"/>
          </a:bodyPr>
          <a:lstStyle/>
          <a:p>
            <a:r>
              <a:rPr lang="de-DE" dirty="0">
                <a:solidFill>
                  <a:srgbClr val="FF0000"/>
                </a:solidFill>
                <a:latin typeface="Source Sans Pro" panose="020B0503030403020204" pitchFamily="34" charset="0"/>
              </a:rPr>
              <a:t>Fremdschlüssel-Vergabe </a:t>
            </a:r>
            <a:r>
              <a:rPr lang="de-DE" sz="2700" b="0" dirty="0">
                <a:solidFill>
                  <a:srgbClr val="0070C0"/>
                </a:solidFill>
                <a:latin typeface="Source Sans Pro" panose="020B0503030403020204" pitchFamily="34" charset="0"/>
              </a:rPr>
              <a:t>(</a:t>
            </a:r>
            <a:r>
              <a:rPr lang="de-DE" sz="2700" b="0" dirty="0">
                <a:solidFill>
                  <a:srgbClr val="FFC000"/>
                </a:solidFill>
                <a:latin typeface="Source Sans Pro" panose="020B0503030403020204" pitchFamily="34" charset="0"/>
              </a:rPr>
              <a:t>Hilfstabelle</a:t>
            </a:r>
            <a:r>
              <a:rPr lang="de-DE" sz="2700" b="0" dirty="0">
                <a:solidFill>
                  <a:srgbClr val="0070C0"/>
                </a:solidFill>
                <a:latin typeface="Source Sans Pro" panose="020B0503030403020204" pitchFamily="34" charset="0"/>
              </a:rPr>
              <a:t> bei </a:t>
            </a:r>
            <a:r>
              <a:rPr lang="de-DE" sz="2700" b="0" dirty="0">
                <a:solidFill>
                  <a:srgbClr val="FF0000"/>
                </a:solidFill>
                <a:latin typeface="Source Sans Pro" panose="020B0503030403020204" pitchFamily="34" charset="0"/>
              </a:rPr>
              <a:t>m:n</a:t>
            </a:r>
            <a:r>
              <a:rPr lang="de-DE" sz="2700" b="0" dirty="0">
                <a:solidFill>
                  <a:srgbClr val="0070C0"/>
                </a:solidFill>
                <a:latin typeface="Source Sans Pro" panose="020B0503030403020204" pitchFamily="34" charset="0"/>
              </a:rPr>
              <a:t>-Beziehungen)</a:t>
            </a:r>
            <a:endParaRPr lang="de-DE" sz="2700" b="0" i="1" dirty="0">
              <a:solidFill>
                <a:srgbClr val="0070C0"/>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3" name="Tabelle 2">
            <a:extLst>
              <a:ext uri="{FF2B5EF4-FFF2-40B4-BE49-F238E27FC236}">
                <a16:creationId xmlns:a16="http://schemas.microsoft.com/office/drawing/2014/main" id="{89182AAA-455F-1A92-F130-9D177F24CAE5}"/>
              </a:ext>
            </a:extLst>
          </p:cNvPr>
          <p:cNvGraphicFramePr>
            <a:graphicFrameLocks noGrp="1"/>
          </p:cNvGraphicFramePr>
          <p:nvPr>
            <p:extLst>
              <p:ext uri="{D42A27DB-BD31-4B8C-83A1-F6EECF244321}">
                <p14:modId xmlns:p14="http://schemas.microsoft.com/office/powerpoint/2010/main" val="3965480483"/>
              </p:ext>
            </p:extLst>
          </p:nvPr>
        </p:nvGraphicFramePr>
        <p:xfrm>
          <a:off x="6424374" y="2552781"/>
          <a:ext cx="1281367" cy="148336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Einkauf_ID</a:t>
                      </a:r>
                      <a:endParaRPr lang="de-DE" dirty="0"/>
                    </a:p>
                  </a:txBody>
                  <a:tcPr/>
                </a:tc>
                <a:extLst>
                  <a:ext uri="{0D108BD9-81ED-4DB2-BD59-A6C34878D82A}">
                    <a16:rowId xmlns:a16="http://schemas.microsoft.com/office/drawing/2014/main" val="2818686444"/>
                  </a:ext>
                </a:extLst>
              </a:tr>
              <a:tr h="370840">
                <a:tc>
                  <a:txBody>
                    <a:bodyPr/>
                    <a:lstStyle/>
                    <a:p>
                      <a:r>
                        <a:rPr lang="de-DE" dirty="0" err="1">
                          <a:solidFill>
                            <a:srgbClr val="0070C0"/>
                          </a:solidFill>
                        </a:rPr>
                        <a:t>Kunde_ID</a:t>
                      </a:r>
                      <a:endParaRPr lang="de-DE" dirty="0">
                        <a:solidFill>
                          <a:srgbClr val="0070C0"/>
                        </a:solidFill>
                      </a:endParaRP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Uhrzeit</a:t>
                      </a:r>
                    </a:p>
                  </a:txBody>
                  <a:tcPr/>
                </a:tc>
                <a:extLst>
                  <a:ext uri="{0D108BD9-81ED-4DB2-BD59-A6C34878D82A}">
                    <a16:rowId xmlns:a16="http://schemas.microsoft.com/office/drawing/2014/main" val="433515461"/>
                  </a:ext>
                </a:extLst>
              </a:tr>
              <a:tr h="370840">
                <a:tc>
                  <a:txBody>
                    <a:bodyPr/>
                    <a:lstStyle/>
                    <a:p>
                      <a:r>
                        <a:rPr lang="de-DE" dirty="0"/>
                        <a:t>Datum</a:t>
                      </a:r>
                    </a:p>
                  </a:txBody>
                  <a:tcPr/>
                </a:tc>
                <a:extLst>
                  <a:ext uri="{0D108BD9-81ED-4DB2-BD59-A6C34878D82A}">
                    <a16:rowId xmlns:a16="http://schemas.microsoft.com/office/drawing/2014/main" val="3244629399"/>
                  </a:ext>
                </a:extLst>
              </a:tr>
            </a:tbl>
          </a:graphicData>
        </a:graphic>
      </p:graphicFrame>
      <p:sp>
        <p:nvSpPr>
          <p:cNvPr id="6" name="Textfeld 5">
            <a:extLst>
              <a:ext uri="{FF2B5EF4-FFF2-40B4-BE49-F238E27FC236}">
                <a16:creationId xmlns:a16="http://schemas.microsoft.com/office/drawing/2014/main" id="{A6185724-F1A1-8643-A81D-43C02B9274F3}"/>
              </a:ext>
            </a:extLst>
          </p:cNvPr>
          <p:cNvSpPr txBox="1"/>
          <p:nvPr/>
        </p:nvSpPr>
        <p:spPr>
          <a:xfrm>
            <a:off x="6342077" y="2183449"/>
            <a:ext cx="874791" cy="369332"/>
          </a:xfrm>
          <a:prstGeom prst="rect">
            <a:avLst/>
          </a:prstGeom>
          <a:noFill/>
        </p:spPr>
        <p:txBody>
          <a:bodyPr wrap="none" rtlCol="0">
            <a:spAutoFit/>
          </a:bodyPr>
          <a:lstStyle/>
          <a:p>
            <a:r>
              <a:rPr lang="de-DE" dirty="0"/>
              <a:t>Einkauf</a:t>
            </a:r>
          </a:p>
        </p:txBody>
      </p:sp>
      <p:graphicFrame>
        <p:nvGraphicFramePr>
          <p:cNvPr id="7" name="Tabelle 6">
            <a:extLst>
              <a:ext uri="{FF2B5EF4-FFF2-40B4-BE49-F238E27FC236}">
                <a16:creationId xmlns:a16="http://schemas.microsoft.com/office/drawing/2014/main" id="{9CB7FD5C-637F-3236-0EAA-2599556AB293}"/>
              </a:ext>
            </a:extLst>
          </p:cNvPr>
          <p:cNvGraphicFramePr>
            <a:graphicFrameLocks noGrp="1"/>
          </p:cNvGraphicFramePr>
          <p:nvPr/>
        </p:nvGraphicFramePr>
        <p:xfrm>
          <a:off x="8304906" y="4839510"/>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Kunde_ID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txBody>
                  <a:tcPr/>
                </a:tc>
                <a:extLst>
                  <a:ext uri="{0D108BD9-81ED-4DB2-BD59-A6C34878D82A}">
                    <a16:rowId xmlns:a16="http://schemas.microsoft.com/office/drawing/2014/main" val="433515461"/>
                  </a:ext>
                </a:extLst>
              </a:tr>
            </a:tbl>
          </a:graphicData>
        </a:graphic>
      </p:graphicFrame>
      <p:sp>
        <p:nvSpPr>
          <p:cNvPr id="8" name="Textfeld 7">
            <a:extLst>
              <a:ext uri="{FF2B5EF4-FFF2-40B4-BE49-F238E27FC236}">
                <a16:creationId xmlns:a16="http://schemas.microsoft.com/office/drawing/2014/main" id="{8BA5C6FC-672C-D157-A458-9FCD8F42CBD5}"/>
              </a:ext>
            </a:extLst>
          </p:cNvPr>
          <p:cNvSpPr txBox="1"/>
          <p:nvPr/>
        </p:nvSpPr>
        <p:spPr>
          <a:xfrm>
            <a:off x="8222609" y="4470178"/>
            <a:ext cx="782202" cy="369332"/>
          </a:xfrm>
          <a:prstGeom prst="rect">
            <a:avLst/>
          </a:prstGeom>
          <a:noFill/>
        </p:spPr>
        <p:txBody>
          <a:bodyPr wrap="none" rtlCol="0">
            <a:spAutoFit/>
          </a:bodyPr>
          <a:lstStyle/>
          <a:p>
            <a:r>
              <a:rPr lang="de-DE" dirty="0"/>
              <a:t>Kunde</a:t>
            </a:r>
          </a:p>
        </p:txBody>
      </p:sp>
      <p:graphicFrame>
        <p:nvGraphicFramePr>
          <p:cNvPr id="9" name="Tabelle 8">
            <a:extLst>
              <a:ext uri="{FF2B5EF4-FFF2-40B4-BE49-F238E27FC236}">
                <a16:creationId xmlns:a16="http://schemas.microsoft.com/office/drawing/2014/main" id="{0CFDC8F5-21A7-4400-EBC8-DD3FC988379D}"/>
              </a:ext>
            </a:extLst>
          </p:cNvPr>
          <p:cNvGraphicFramePr>
            <a:graphicFrameLocks noGrp="1"/>
          </p:cNvGraphicFramePr>
          <p:nvPr>
            <p:extLst>
              <p:ext uri="{D42A27DB-BD31-4B8C-83A1-F6EECF244321}">
                <p14:modId xmlns:p14="http://schemas.microsoft.com/office/powerpoint/2010/main" val="2671334655"/>
              </p:ext>
            </p:extLst>
          </p:nvPr>
        </p:nvGraphicFramePr>
        <p:xfrm>
          <a:off x="2602494" y="3235463"/>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Produkt_ID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r>
                        <a:rPr lang="de-DE" dirty="0"/>
                        <a:t>Preis (€)</a:t>
                      </a:r>
                    </a:p>
                  </a:txBody>
                  <a:tcPr/>
                </a:tc>
                <a:extLst>
                  <a:ext uri="{0D108BD9-81ED-4DB2-BD59-A6C34878D82A}">
                    <a16:rowId xmlns:a16="http://schemas.microsoft.com/office/drawing/2014/main" val="433515461"/>
                  </a:ext>
                </a:extLst>
              </a:tr>
            </a:tbl>
          </a:graphicData>
        </a:graphic>
      </p:graphicFrame>
      <p:sp>
        <p:nvSpPr>
          <p:cNvPr id="10" name="Textfeld 9">
            <a:extLst>
              <a:ext uri="{FF2B5EF4-FFF2-40B4-BE49-F238E27FC236}">
                <a16:creationId xmlns:a16="http://schemas.microsoft.com/office/drawing/2014/main" id="{05693305-B8ED-34D4-6A1E-8F5133DB2D91}"/>
              </a:ext>
            </a:extLst>
          </p:cNvPr>
          <p:cNvSpPr txBox="1"/>
          <p:nvPr/>
        </p:nvSpPr>
        <p:spPr>
          <a:xfrm>
            <a:off x="2699302" y="2866131"/>
            <a:ext cx="925190" cy="369332"/>
          </a:xfrm>
          <a:prstGeom prst="rect">
            <a:avLst/>
          </a:prstGeom>
          <a:noFill/>
        </p:spPr>
        <p:txBody>
          <a:bodyPr wrap="none" rtlCol="0">
            <a:spAutoFit/>
          </a:bodyPr>
          <a:lstStyle/>
          <a:p>
            <a:r>
              <a:rPr lang="de-DE" dirty="0"/>
              <a:t>Produkt</a:t>
            </a:r>
          </a:p>
        </p:txBody>
      </p:sp>
      <p:cxnSp>
        <p:nvCxnSpPr>
          <p:cNvPr id="13" name="Gerader Verbinder 12">
            <a:extLst>
              <a:ext uri="{FF2B5EF4-FFF2-40B4-BE49-F238E27FC236}">
                <a16:creationId xmlns:a16="http://schemas.microsoft.com/office/drawing/2014/main" id="{00649CED-AA6E-188A-25DC-5AA1E432A815}"/>
              </a:ext>
            </a:extLst>
          </p:cNvPr>
          <p:cNvCxnSpPr>
            <a:cxnSpLocks/>
          </p:cNvCxnSpPr>
          <p:nvPr/>
        </p:nvCxnSpPr>
        <p:spPr>
          <a:xfrm>
            <a:off x="3875714" y="3429000"/>
            <a:ext cx="25486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3958A19E-E6A9-57D4-D469-6AD6D06F42CE}"/>
              </a:ext>
            </a:extLst>
          </p:cNvPr>
          <p:cNvCxnSpPr/>
          <p:nvPr/>
        </p:nvCxnSpPr>
        <p:spPr>
          <a:xfrm>
            <a:off x="7705741" y="3120705"/>
            <a:ext cx="599165" cy="1895912"/>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6F5FD997-0D44-7BF9-8767-B4B2AA292244}"/>
              </a:ext>
            </a:extLst>
          </p:cNvPr>
          <p:cNvSpPr txBox="1"/>
          <p:nvPr/>
        </p:nvSpPr>
        <p:spPr>
          <a:xfrm>
            <a:off x="3836582" y="3235462"/>
            <a:ext cx="308098" cy="276999"/>
          </a:xfrm>
          <a:prstGeom prst="rect">
            <a:avLst/>
          </a:prstGeom>
          <a:noFill/>
        </p:spPr>
        <p:txBody>
          <a:bodyPr wrap="none" rtlCol="0">
            <a:spAutoFit/>
          </a:bodyPr>
          <a:lstStyle/>
          <a:p>
            <a:r>
              <a:rPr lang="de-DE" sz="1200" dirty="0">
                <a:solidFill>
                  <a:srgbClr val="FF0000"/>
                </a:solidFill>
              </a:rPr>
              <a:t>m</a:t>
            </a:r>
          </a:p>
        </p:txBody>
      </p:sp>
      <p:sp>
        <p:nvSpPr>
          <p:cNvPr id="17" name="Textfeld 16">
            <a:extLst>
              <a:ext uri="{FF2B5EF4-FFF2-40B4-BE49-F238E27FC236}">
                <a16:creationId xmlns:a16="http://schemas.microsoft.com/office/drawing/2014/main" id="{C0B3D81B-510F-59F1-E821-8758D8EB0FDF}"/>
              </a:ext>
            </a:extLst>
          </p:cNvPr>
          <p:cNvSpPr txBox="1"/>
          <p:nvPr/>
        </p:nvSpPr>
        <p:spPr>
          <a:xfrm>
            <a:off x="6209669" y="3235463"/>
            <a:ext cx="264816" cy="276999"/>
          </a:xfrm>
          <a:prstGeom prst="rect">
            <a:avLst/>
          </a:prstGeom>
          <a:noFill/>
        </p:spPr>
        <p:txBody>
          <a:bodyPr wrap="none" rtlCol="0">
            <a:spAutoFit/>
          </a:bodyPr>
          <a:lstStyle/>
          <a:p>
            <a:r>
              <a:rPr lang="de-DE" sz="1200" dirty="0">
                <a:solidFill>
                  <a:srgbClr val="FF0000"/>
                </a:solidFill>
              </a:rPr>
              <a:t>n</a:t>
            </a:r>
          </a:p>
        </p:txBody>
      </p:sp>
      <p:sp>
        <p:nvSpPr>
          <p:cNvPr id="18" name="Textfeld 17">
            <a:extLst>
              <a:ext uri="{FF2B5EF4-FFF2-40B4-BE49-F238E27FC236}">
                <a16:creationId xmlns:a16="http://schemas.microsoft.com/office/drawing/2014/main" id="{B07A1E14-E215-6927-D4DC-5CCF0A4680B9}"/>
              </a:ext>
            </a:extLst>
          </p:cNvPr>
          <p:cNvSpPr txBox="1"/>
          <p:nvPr/>
        </p:nvSpPr>
        <p:spPr>
          <a:xfrm>
            <a:off x="7652716" y="2982205"/>
            <a:ext cx="264816" cy="276999"/>
          </a:xfrm>
          <a:prstGeom prst="rect">
            <a:avLst/>
          </a:prstGeom>
          <a:noFill/>
        </p:spPr>
        <p:txBody>
          <a:bodyPr wrap="none" rtlCol="0">
            <a:spAutoFit/>
          </a:bodyPr>
          <a:lstStyle/>
          <a:p>
            <a:r>
              <a:rPr lang="de-DE" sz="1200" dirty="0"/>
              <a:t>n</a:t>
            </a:r>
          </a:p>
        </p:txBody>
      </p:sp>
      <p:sp>
        <p:nvSpPr>
          <p:cNvPr id="19" name="Textfeld 18">
            <a:extLst>
              <a:ext uri="{FF2B5EF4-FFF2-40B4-BE49-F238E27FC236}">
                <a16:creationId xmlns:a16="http://schemas.microsoft.com/office/drawing/2014/main" id="{897C2F29-0E67-2F43-744E-743E95665B80}"/>
              </a:ext>
            </a:extLst>
          </p:cNvPr>
          <p:cNvSpPr txBox="1"/>
          <p:nvPr/>
        </p:nvSpPr>
        <p:spPr>
          <a:xfrm>
            <a:off x="8049833" y="4854539"/>
            <a:ext cx="263214" cy="276999"/>
          </a:xfrm>
          <a:prstGeom prst="rect">
            <a:avLst/>
          </a:prstGeom>
          <a:noFill/>
        </p:spPr>
        <p:txBody>
          <a:bodyPr wrap="none" rtlCol="0">
            <a:spAutoFit/>
          </a:bodyPr>
          <a:lstStyle/>
          <a:p>
            <a:r>
              <a:rPr lang="de-DE" sz="1200" dirty="0"/>
              <a:t>1</a:t>
            </a:r>
          </a:p>
        </p:txBody>
      </p:sp>
      <p:sp>
        <p:nvSpPr>
          <p:cNvPr id="12" name="Textfeld 11">
            <a:extLst>
              <a:ext uri="{FF2B5EF4-FFF2-40B4-BE49-F238E27FC236}">
                <a16:creationId xmlns:a16="http://schemas.microsoft.com/office/drawing/2014/main" id="{14EF6B6B-E3DE-D5B2-66C5-B43E19D7BBBC}"/>
              </a:ext>
            </a:extLst>
          </p:cNvPr>
          <p:cNvSpPr txBox="1"/>
          <p:nvPr/>
        </p:nvSpPr>
        <p:spPr>
          <a:xfrm>
            <a:off x="268448" y="1208093"/>
            <a:ext cx="6073629" cy="1600438"/>
          </a:xfrm>
          <a:prstGeom prst="rect">
            <a:avLst/>
          </a:prstGeom>
          <a:noFill/>
          <a:ln>
            <a:solidFill>
              <a:srgbClr val="0070C0"/>
            </a:solidFill>
          </a:ln>
        </p:spPr>
        <p:txBody>
          <a:bodyPr wrap="square" rtlCol="0">
            <a:spAutoFit/>
          </a:bodyPr>
          <a:lstStyle/>
          <a:p>
            <a:r>
              <a:rPr lang="de-DE" sz="1400" b="1" dirty="0"/>
              <a:t>Aufgabenstellung</a:t>
            </a:r>
            <a:endParaRPr lang="de-DE" sz="1400" b="1" dirty="0">
              <a:solidFill>
                <a:srgbClr val="0070C0"/>
              </a:solidFill>
            </a:endParaRPr>
          </a:p>
          <a:p>
            <a:r>
              <a:rPr lang="de-DE" sz="1400" dirty="0">
                <a:solidFill>
                  <a:srgbClr val="0070C0"/>
                </a:solidFill>
              </a:rPr>
              <a:t>Von jedem Einkauf ist das Datum und Uhrzeit bekannt, an dem dieser stattfand,</a:t>
            </a:r>
          </a:p>
          <a:p>
            <a:r>
              <a:rPr lang="de-DE" sz="1400" dirty="0">
                <a:solidFill>
                  <a:srgbClr val="0070C0"/>
                </a:solidFill>
              </a:rPr>
              <a:t>ferner der Kunde, der diesen Einkauf tätigte sowie alle Produkte, die bei diesem Einkauf erworben wurden.</a:t>
            </a:r>
          </a:p>
          <a:p>
            <a:endParaRPr lang="de-DE" sz="1400" dirty="0">
              <a:solidFill>
                <a:srgbClr val="0070C0"/>
              </a:solidFill>
            </a:endParaRPr>
          </a:p>
          <a:p>
            <a:r>
              <a:rPr lang="de-DE" sz="1400" dirty="0">
                <a:solidFill>
                  <a:srgbClr val="0070C0"/>
                </a:solidFill>
              </a:rPr>
              <a:t>Von allen Kunden und Produkten ist der Name bekannt. </a:t>
            </a:r>
          </a:p>
          <a:p>
            <a:r>
              <a:rPr lang="de-DE" sz="1400" dirty="0">
                <a:solidFill>
                  <a:srgbClr val="0070C0"/>
                </a:solidFill>
              </a:rPr>
              <a:t>Von jedem Produkt ist zusätzlich auch der Preis bekannt.</a:t>
            </a:r>
          </a:p>
        </p:txBody>
      </p:sp>
      <p:graphicFrame>
        <p:nvGraphicFramePr>
          <p:cNvPr id="14" name="Tabelle 13">
            <a:extLst>
              <a:ext uri="{FF2B5EF4-FFF2-40B4-BE49-F238E27FC236}">
                <a16:creationId xmlns:a16="http://schemas.microsoft.com/office/drawing/2014/main" id="{55BE32E0-7534-3B96-2EEE-6700679EDA3D}"/>
              </a:ext>
            </a:extLst>
          </p:cNvPr>
          <p:cNvGraphicFramePr>
            <a:graphicFrameLocks noGrp="1"/>
          </p:cNvGraphicFramePr>
          <p:nvPr>
            <p:extLst>
              <p:ext uri="{D42A27DB-BD31-4B8C-83A1-F6EECF244321}">
                <p14:modId xmlns:p14="http://schemas.microsoft.com/office/powerpoint/2010/main" val="213234149"/>
              </p:ext>
            </p:extLst>
          </p:nvPr>
        </p:nvGraphicFramePr>
        <p:xfrm>
          <a:off x="4485565" y="3235462"/>
          <a:ext cx="1309243" cy="741680"/>
        </p:xfrm>
        <a:graphic>
          <a:graphicData uri="http://schemas.openxmlformats.org/drawingml/2006/table">
            <a:tbl>
              <a:tblPr firstRow="1" bandRow="1">
                <a:tableStyleId>{5C22544A-7EE6-4342-B048-85BDC9FD1C3A}</a:tableStyleId>
              </a:tblPr>
              <a:tblGrid>
                <a:gridCol w="1309243">
                  <a:extLst>
                    <a:ext uri="{9D8B030D-6E8A-4147-A177-3AD203B41FA5}">
                      <a16:colId xmlns:a16="http://schemas.microsoft.com/office/drawing/2014/main" val="1193591015"/>
                    </a:ext>
                  </a:extLst>
                </a:gridCol>
              </a:tblGrid>
              <a:tr h="370840">
                <a:tc>
                  <a:txBody>
                    <a:bodyPr/>
                    <a:lstStyle/>
                    <a:p>
                      <a:r>
                        <a:rPr lang="de-DE" dirty="0" err="1">
                          <a:solidFill>
                            <a:srgbClr val="FF0000"/>
                          </a:solidFill>
                        </a:rPr>
                        <a:t>Produkt_ID</a:t>
                      </a:r>
                      <a:endParaRPr lang="de-DE" dirty="0">
                        <a:solidFill>
                          <a:srgbClr val="FF0000"/>
                        </a:solidFill>
                      </a:endParaRPr>
                    </a:p>
                  </a:txBody>
                  <a:tcPr/>
                </a:tc>
                <a:extLst>
                  <a:ext uri="{0D108BD9-81ED-4DB2-BD59-A6C34878D82A}">
                    <a16:rowId xmlns:a16="http://schemas.microsoft.com/office/drawing/2014/main" val="1174826841"/>
                  </a:ext>
                </a:extLst>
              </a:tr>
              <a:tr h="370840">
                <a:tc>
                  <a:txBody>
                    <a:bodyPr/>
                    <a:lstStyle/>
                    <a:p>
                      <a:r>
                        <a:rPr lang="de-DE" dirty="0" err="1">
                          <a:solidFill>
                            <a:srgbClr val="FF0000"/>
                          </a:solidFill>
                        </a:rPr>
                        <a:t>Einkauf_ID</a:t>
                      </a:r>
                      <a:endParaRPr lang="de-DE" dirty="0">
                        <a:solidFill>
                          <a:srgbClr val="FF0000"/>
                        </a:solidFill>
                      </a:endParaRPr>
                    </a:p>
                  </a:txBody>
                  <a:tcPr/>
                </a:tc>
                <a:extLst>
                  <a:ext uri="{0D108BD9-81ED-4DB2-BD59-A6C34878D82A}">
                    <a16:rowId xmlns:a16="http://schemas.microsoft.com/office/drawing/2014/main" val="2842098559"/>
                  </a:ext>
                </a:extLst>
              </a:tr>
            </a:tbl>
          </a:graphicData>
        </a:graphic>
      </p:graphicFrame>
      <p:sp>
        <p:nvSpPr>
          <p:cNvPr id="20" name="Textfeld 19">
            <a:extLst>
              <a:ext uri="{FF2B5EF4-FFF2-40B4-BE49-F238E27FC236}">
                <a16:creationId xmlns:a16="http://schemas.microsoft.com/office/drawing/2014/main" id="{77F5DBFF-B9E4-9763-2114-6351C93156DC}"/>
              </a:ext>
            </a:extLst>
          </p:cNvPr>
          <p:cNvSpPr txBox="1"/>
          <p:nvPr/>
        </p:nvSpPr>
        <p:spPr>
          <a:xfrm>
            <a:off x="4441429" y="2951427"/>
            <a:ext cx="1391278" cy="307777"/>
          </a:xfrm>
          <a:prstGeom prst="rect">
            <a:avLst/>
          </a:prstGeom>
          <a:noFill/>
        </p:spPr>
        <p:txBody>
          <a:bodyPr wrap="none" rtlCol="0">
            <a:spAutoFit/>
          </a:bodyPr>
          <a:lstStyle/>
          <a:p>
            <a:r>
              <a:rPr lang="de-DE" sz="1400" dirty="0" err="1">
                <a:solidFill>
                  <a:srgbClr val="FFC000"/>
                </a:solidFill>
              </a:rPr>
              <a:t>Produkt_Einkauf</a:t>
            </a:r>
            <a:endParaRPr lang="de-DE" sz="1400" dirty="0">
              <a:solidFill>
                <a:srgbClr val="FFC000"/>
              </a:solidFill>
            </a:endParaRPr>
          </a:p>
        </p:txBody>
      </p:sp>
    </p:spTree>
    <p:extLst>
      <p:ext uri="{BB962C8B-B14F-4D97-AF65-F5344CB8AC3E}">
        <p14:creationId xmlns:p14="http://schemas.microsoft.com/office/powerpoint/2010/main" val="3605518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a:bodyPr>
          <a:lstStyle/>
          <a:p>
            <a:r>
              <a:rPr lang="de-DE" dirty="0">
                <a:solidFill>
                  <a:srgbClr val="FF0000"/>
                </a:solidFill>
                <a:latin typeface="Source Sans Pro" panose="020B0503030403020204" pitchFamily="34" charset="0"/>
              </a:rPr>
              <a:t>Atomisierung</a:t>
            </a:r>
            <a:endParaRPr lang="de-DE" sz="2700" b="0" i="1" dirty="0">
              <a:solidFill>
                <a:srgbClr val="0070C0"/>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3" name="Tabelle 2">
            <a:extLst>
              <a:ext uri="{FF2B5EF4-FFF2-40B4-BE49-F238E27FC236}">
                <a16:creationId xmlns:a16="http://schemas.microsoft.com/office/drawing/2014/main" id="{89182AAA-455F-1A92-F130-9D177F24CAE5}"/>
              </a:ext>
            </a:extLst>
          </p:cNvPr>
          <p:cNvGraphicFramePr>
            <a:graphicFrameLocks noGrp="1"/>
          </p:cNvGraphicFramePr>
          <p:nvPr/>
        </p:nvGraphicFramePr>
        <p:xfrm>
          <a:off x="6424374" y="2552781"/>
          <a:ext cx="1281367" cy="148336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Einkauf_ID</a:t>
                      </a:r>
                      <a:endParaRPr lang="de-DE" dirty="0"/>
                    </a:p>
                  </a:txBody>
                  <a:tcPr/>
                </a:tc>
                <a:extLst>
                  <a:ext uri="{0D108BD9-81ED-4DB2-BD59-A6C34878D82A}">
                    <a16:rowId xmlns:a16="http://schemas.microsoft.com/office/drawing/2014/main" val="2818686444"/>
                  </a:ext>
                </a:extLst>
              </a:tr>
              <a:tr h="370840">
                <a:tc>
                  <a:txBody>
                    <a:bodyPr/>
                    <a:lstStyle/>
                    <a:p>
                      <a:r>
                        <a:rPr lang="de-DE" dirty="0" err="1">
                          <a:solidFill>
                            <a:srgbClr val="0070C0"/>
                          </a:solidFill>
                        </a:rPr>
                        <a:t>Kunde_ID</a:t>
                      </a:r>
                      <a:endParaRPr lang="de-DE" dirty="0">
                        <a:solidFill>
                          <a:srgbClr val="0070C0"/>
                        </a:solidFill>
                      </a:endParaRP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Uhrzeit</a:t>
                      </a:r>
                    </a:p>
                  </a:txBody>
                  <a:tcPr/>
                </a:tc>
                <a:extLst>
                  <a:ext uri="{0D108BD9-81ED-4DB2-BD59-A6C34878D82A}">
                    <a16:rowId xmlns:a16="http://schemas.microsoft.com/office/drawing/2014/main" val="433515461"/>
                  </a:ext>
                </a:extLst>
              </a:tr>
              <a:tr h="370840">
                <a:tc>
                  <a:txBody>
                    <a:bodyPr/>
                    <a:lstStyle/>
                    <a:p>
                      <a:r>
                        <a:rPr lang="de-DE" dirty="0"/>
                        <a:t>Datum</a:t>
                      </a:r>
                    </a:p>
                  </a:txBody>
                  <a:tcPr/>
                </a:tc>
                <a:extLst>
                  <a:ext uri="{0D108BD9-81ED-4DB2-BD59-A6C34878D82A}">
                    <a16:rowId xmlns:a16="http://schemas.microsoft.com/office/drawing/2014/main" val="3244629399"/>
                  </a:ext>
                </a:extLst>
              </a:tr>
            </a:tbl>
          </a:graphicData>
        </a:graphic>
      </p:graphicFrame>
      <p:sp>
        <p:nvSpPr>
          <p:cNvPr id="6" name="Textfeld 5">
            <a:extLst>
              <a:ext uri="{FF2B5EF4-FFF2-40B4-BE49-F238E27FC236}">
                <a16:creationId xmlns:a16="http://schemas.microsoft.com/office/drawing/2014/main" id="{A6185724-F1A1-8643-A81D-43C02B9274F3}"/>
              </a:ext>
            </a:extLst>
          </p:cNvPr>
          <p:cNvSpPr txBox="1"/>
          <p:nvPr/>
        </p:nvSpPr>
        <p:spPr>
          <a:xfrm>
            <a:off x="6342077" y="2183449"/>
            <a:ext cx="874791" cy="369332"/>
          </a:xfrm>
          <a:prstGeom prst="rect">
            <a:avLst/>
          </a:prstGeom>
          <a:noFill/>
        </p:spPr>
        <p:txBody>
          <a:bodyPr wrap="none" rtlCol="0">
            <a:spAutoFit/>
          </a:bodyPr>
          <a:lstStyle/>
          <a:p>
            <a:r>
              <a:rPr lang="de-DE" dirty="0"/>
              <a:t>Einkauf</a:t>
            </a:r>
          </a:p>
        </p:txBody>
      </p:sp>
      <p:graphicFrame>
        <p:nvGraphicFramePr>
          <p:cNvPr id="7" name="Tabelle 6">
            <a:extLst>
              <a:ext uri="{FF2B5EF4-FFF2-40B4-BE49-F238E27FC236}">
                <a16:creationId xmlns:a16="http://schemas.microsoft.com/office/drawing/2014/main" id="{9CB7FD5C-637F-3236-0EAA-2599556AB293}"/>
              </a:ext>
            </a:extLst>
          </p:cNvPr>
          <p:cNvGraphicFramePr>
            <a:graphicFrameLocks noGrp="1"/>
          </p:cNvGraphicFramePr>
          <p:nvPr>
            <p:extLst>
              <p:ext uri="{D42A27DB-BD31-4B8C-83A1-F6EECF244321}">
                <p14:modId xmlns:p14="http://schemas.microsoft.com/office/powerpoint/2010/main" val="1947640760"/>
              </p:ext>
            </p:extLst>
          </p:nvPr>
        </p:nvGraphicFramePr>
        <p:xfrm>
          <a:off x="8304906" y="4839510"/>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Kunde_ID</a:t>
                      </a:r>
                      <a:endParaRPr lang="de-DE" dirty="0"/>
                    </a:p>
                  </a:txBody>
                  <a:tcPr/>
                </a:tc>
                <a:extLst>
                  <a:ext uri="{0D108BD9-81ED-4DB2-BD59-A6C34878D82A}">
                    <a16:rowId xmlns:a16="http://schemas.microsoft.com/office/drawing/2014/main" val="2818686444"/>
                  </a:ext>
                </a:extLst>
              </a:tr>
              <a:tr h="370840">
                <a:tc>
                  <a:txBody>
                    <a:bodyPr/>
                    <a:lstStyle/>
                    <a:p>
                      <a:r>
                        <a:rPr lang="de-DE" dirty="0">
                          <a:solidFill>
                            <a:srgbClr val="FF0000"/>
                          </a:solidFill>
                        </a:rPr>
                        <a:t>Vorname</a:t>
                      </a: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solidFill>
                            <a:srgbClr val="FF0000"/>
                          </a:solidFill>
                        </a:rPr>
                        <a:t>Nachname</a:t>
                      </a:r>
                    </a:p>
                  </a:txBody>
                  <a:tcPr/>
                </a:tc>
                <a:extLst>
                  <a:ext uri="{0D108BD9-81ED-4DB2-BD59-A6C34878D82A}">
                    <a16:rowId xmlns:a16="http://schemas.microsoft.com/office/drawing/2014/main" val="433515461"/>
                  </a:ext>
                </a:extLst>
              </a:tr>
            </a:tbl>
          </a:graphicData>
        </a:graphic>
      </p:graphicFrame>
      <p:sp>
        <p:nvSpPr>
          <p:cNvPr id="8" name="Textfeld 7">
            <a:extLst>
              <a:ext uri="{FF2B5EF4-FFF2-40B4-BE49-F238E27FC236}">
                <a16:creationId xmlns:a16="http://schemas.microsoft.com/office/drawing/2014/main" id="{8BA5C6FC-672C-D157-A458-9FCD8F42CBD5}"/>
              </a:ext>
            </a:extLst>
          </p:cNvPr>
          <p:cNvSpPr txBox="1"/>
          <p:nvPr/>
        </p:nvSpPr>
        <p:spPr>
          <a:xfrm>
            <a:off x="8222609" y="4470178"/>
            <a:ext cx="782202" cy="369332"/>
          </a:xfrm>
          <a:prstGeom prst="rect">
            <a:avLst/>
          </a:prstGeom>
          <a:noFill/>
        </p:spPr>
        <p:txBody>
          <a:bodyPr wrap="none" rtlCol="0">
            <a:spAutoFit/>
          </a:bodyPr>
          <a:lstStyle/>
          <a:p>
            <a:r>
              <a:rPr lang="de-DE" dirty="0"/>
              <a:t>Kunde</a:t>
            </a:r>
          </a:p>
        </p:txBody>
      </p:sp>
      <p:graphicFrame>
        <p:nvGraphicFramePr>
          <p:cNvPr id="9" name="Tabelle 8">
            <a:extLst>
              <a:ext uri="{FF2B5EF4-FFF2-40B4-BE49-F238E27FC236}">
                <a16:creationId xmlns:a16="http://schemas.microsoft.com/office/drawing/2014/main" id="{0CFDC8F5-21A7-4400-EBC8-DD3FC988379D}"/>
              </a:ext>
            </a:extLst>
          </p:cNvPr>
          <p:cNvGraphicFramePr>
            <a:graphicFrameLocks noGrp="1"/>
          </p:cNvGraphicFramePr>
          <p:nvPr/>
        </p:nvGraphicFramePr>
        <p:xfrm>
          <a:off x="2602494" y="3235463"/>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Produkt_ID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r>
                        <a:rPr lang="de-DE" dirty="0"/>
                        <a:t>Preis (€)</a:t>
                      </a:r>
                    </a:p>
                  </a:txBody>
                  <a:tcPr/>
                </a:tc>
                <a:extLst>
                  <a:ext uri="{0D108BD9-81ED-4DB2-BD59-A6C34878D82A}">
                    <a16:rowId xmlns:a16="http://schemas.microsoft.com/office/drawing/2014/main" val="433515461"/>
                  </a:ext>
                </a:extLst>
              </a:tr>
            </a:tbl>
          </a:graphicData>
        </a:graphic>
      </p:graphicFrame>
      <p:sp>
        <p:nvSpPr>
          <p:cNvPr id="10" name="Textfeld 9">
            <a:extLst>
              <a:ext uri="{FF2B5EF4-FFF2-40B4-BE49-F238E27FC236}">
                <a16:creationId xmlns:a16="http://schemas.microsoft.com/office/drawing/2014/main" id="{05693305-B8ED-34D4-6A1E-8F5133DB2D91}"/>
              </a:ext>
            </a:extLst>
          </p:cNvPr>
          <p:cNvSpPr txBox="1"/>
          <p:nvPr/>
        </p:nvSpPr>
        <p:spPr>
          <a:xfrm>
            <a:off x="2699302" y="2866131"/>
            <a:ext cx="925190" cy="369332"/>
          </a:xfrm>
          <a:prstGeom prst="rect">
            <a:avLst/>
          </a:prstGeom>
          <a:noFill/>
        </p:spPr>
        <p:txBody>
          <a:bodyPr wrap="none" rtlCol="0">
            <a:spAutoFit/>
          </a:bodyPr>
          <a:lstStyle/>
          <a:p>
            <a:r>
              <a:rPr lang="de-DE" dirty="0"/>
              <a:t>Produkt</a:t>
            </a:r>
          </a:p>
        </p:txBody>
      </p:sp>
      <p:cxnSp>
        <p:nvCxnSpPr>
          <p:cNvPr id="13" name="Gerader Verbinder 12">
            <a:extLst>
              <a:ext uri="{FF2B5EF4-FFF2-40B4-BE49-F238E27FC236}">
                <a16:creationId xmlns:a16="http://schemas.microsoft.com/office/drawing/2014/main" id="{00649CED-AA6E-188A-25DC-5AA1E432A815}"/>
              </a:ext>
            </a:extLst>
          </p:cNvPr>
          <p:cNvCxnSpPr>
            <a:cxnSpLocks/>
          </p:cNvCxnSpPr>
          <p:nvPr/>
        </p:nvCxnSpPr>
        <p:spPr>
          <a:xfrm>
            <a:off x="3875714" y="3429000"/>
            <a:ext cx="25486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3958A19E-E6A9-57D4-D469-6AD6D06F42CE}"/>
              </a:ext>
            </a:extLst>
          </p:cNvPr>
          <p:cNvCxnSpPr/>
          <p:nvPr/>
        </p:nvCxnSpPr>
        <p:spPr>
          <a:xfrm>
            <a:off x="7705741" y="3120705"/>
            <a:ext cx="599165" cy="1895912"/>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6F5FD997-0D44-7BF9-8767-B4B2AA292244}"/>
              </a:ext>
            </a:extLst>
          </p:cNvPr>
          <p:cNvSpPr txBox="1"/>
          <p:nvPr/>
        </p:nvSpPr>
        <p:spPr>
          <a:xfrm>
            <a:off x="3836582" y="3235462"/>
            <a:ext cx="308098" cy="276999"/>
          </a:xfrm>
          <a:prstGeom prst="rect">
            <a:avLst/>
          </a:prstGeom>
          <a:noFill/>
        </p:spPr>
        <p:txBody>
          <a:bodyPr wrap="none" rtlCol="0">
            <a:spAutoFit/>
          </a:bodyPr>
          <a:lstStyle/>
          <a:p>
            <a:r>
              <a:rPr lang="de-DE" sz="1200" dirty="0"/>
              <a:t>m</a:t>
            </a:r>
          </a:p>
        </p:txBody>
      </p:sp>
      <p:sp>
        <p:nvSpPr>
          <p:cNvPr id="17" name="Textfeld 16">
            <a:extLst>
              <a:ext uri="{FF2B5EF4-FFF2-40B4-BE49-F238E27FC236}">
                <a16:creationId xmlns:a16="http://schemas.microsoft.com/office/drawing/2014/main" id="{C0B3D81B-510F-59F1-E821-8758D8EB0FDF}"/>
              </a:ext>
            </a:extLst>
          </p:cNvPr>
          <p:cNvSpPr txBox="1"/>
          <p:nvPr/>
        </p:nvSpPr>
        <p:spPr>
          <a:xfrm>
            <a:off x="6209669" y="3235463"/>
            <a:ext cx="264816" cy="276999"/>
          </a:xfrm>
          <a:prstGeom prst="rect">
            <a:avLst/>
          </a:prstGeom>
          <a:noFill/>
        </p:spPr>
        <p:txBody>
          <a:bodyPr wrap="none" rtlCol="0">
            <a:spAutoFit/>
          </a:bodyPr>
          <a:lstStyle/>
          <a:p>
            <a:r>
              <a:rPr lang="de-DE" sz="1200" dirty="0"/>
              <a:t>n</a:t>
            </a:r>
          </a:p>
        </p:txBody>
      </p:sp>
      <p:sp>
        <p:nvSpPr>
          <p:cNvPr id="18" name="Textfeld 17">
            <a:extLst>
              <a:ext uri="{FF2B5EF4-FFF2-40B4-BE49-F238E27FC236}">
                <a16:creationId xmlns:a16="http://schemas.microsoft.com/office/drawing/2014/main" id="{B07A1E14-E215-6927-D4DC-5CCF0A4680B9}"/>
              </a:ext>
            </a:extLst>
          </p:cNvPr>
          <p:cNvSpPr txBox="1"/>
          <p:nvPr/>
        </p:nvSpPr>
        <p:spPr>
          <a:xfrm>
            <a:off x="7652716" y="2982205"/>
            <a:ext cx="264816" cy="276999"/>
          </a:xfrm>
          <a:prstGeom prst="rect">
            <a:avLst/>
          </a:prstGeom>
          <a:noFill/>
        </p:spPr>
        <p:txBody>
          <a:bodyPr wrap="none" rtlCol="0">
            <a:spAutoFit/>
          </a:bodyPr>
          <a:lstStyle/>
          <a:p>
            <a:r>
              <a:rPr lang="de-DE" sz="1200" dirty="0"/>
              <a:t>n</a:t>
            </a:r>
          </a:p>
        </p:txBody>
      </p:sp>
      <p:sp>
        <p:nvSpPr>
          <p:cNvPr id="19" name="Textfeld 18">
            <a:extLst>
              <a:ext uri="{FF2B5EF4-FFF2-40B4-BE49-F238E27FC236}">
                <a16:creationId xmlns:a16="http://schemas.microsoft.com/office/drawing/2014/main" id="{897C2F29-0E67-2F43-744E-743E95665B80}"/>
              </a:ext>
            </a:extLst>
          </p:cNvPr>
          <p:cNvSpPr txBox="1"/>
          <p:nvPr/>
        </p:nvSpPr>
        <p:spPr>
          <a:xfrm>
            <a:off x="8049833" y="4854539"/>
            <a:ext cx="263214" cy="276999"/>
          </a:xfrm>
          <a:prstGeom prst="rect">
            <a:avLst/>
          </a:prstGeom>
          <a:noFill/>
        </p:spPr>
        <p:txBody>
          <a:bodyPr wrap="none" rtlCol="0">
            <a:spAutoFit/>
          </a:bodyPr>
          <a:lstStyle/>
          <a:p>
            <a:r>
              <a:rPr lang="de-DE" sz="1200" dirty="0"/>
              <a:t>1</a:t>
            </a:r>
          </a:p>
        </p:txBody>
      </p:sp>
      <p:sp>
        <p:nvSpPr>
          <p:cNvPr id="12" name="Textfeld 11">
            <a:extLst>
              <a:ext uri="{FF2B5EF4-FFF2-40B4-BE49-F238E27FC236}">
                <a16:creationId xmlns:a16="http://schemas.microsoft.com/office/drawing/2014/main" id="{14EF6B6B-E3DE-D5B2-66C5-B43E19D7BBBC}"/>
              </a:ext>
            </a:extLst>
          </p:cNvPr>
          <p:cNvSpPr txBox="1"/>
          <p:nvPr/>
        </p:nvSpPr>
        <p:spPr>
          <a:xfrm>
            <a:off x="268448" y="1208093"/>
            <a:ext cx="6073629" cy="1600438"/>
          </a:xfrm>
          <a:prstGeom prst="rect">
            <a:avLst/>
          </a:prstGeom>
          <a:noFill/>
          <a:ln>
            <a:solidFill>
              <a:srgbClr val="0070C0"/>
            </a:solidFill>
          </a:ln>
        </p:spPr>
        <p:txBody>
          <a:bodyPr wrap="square" rtlCol="0">
            <a:spAutoFit/>
          </a:bodyPr>
          <a:lstStyle/>
          <a:p>
            <a:r>
              <a:rPr lang="de-DE" sz="1400" b="1" dirty="0"/>
              <a:t>Aufgabenstellung</a:t>
            </a:r>
            <a:endParaRPr lang="de-DE" sz="1400" b="1" dirty="0">
              <a:solidFill>
                <a:srgbClr val="0070C0"/>
              </a:solidFill>
            </a:endParaRPr>
          </a:p>
          <a:p>
            <a:r>
              <a:rPr lang="de-DE" sz="1400" dirty="0">
                <a:solidFill>
                  <a:srgbClr val="0070C0"/>
                </a:solidFill>
              </a:rPr>
              <a:t>Von jedem Einkauf ist das Datum und Uhrzeit bekannt, an dem dieser stattfand,</a:t>
            </a:r>
          </a:p>
          <a:p>
            <a:r>
              <a:rPr lang="de-DE" sz="1400" dirty="0">
                <a:solidFill>
                  <a:srgbClr val="0070C0"/>
                </a:solidFill>
              </a:rPr>
              <a:t>ferner der Kunde, der diesen Einkauf tätigte sowie alle Produkte, die bei diesem Einkauf erworben wurden.</a:t>
            </a:r>
          </a:p>
          <a:p>
            <a:endParaRPr lang="de-DE" sz="1400" dirty="0">
              <a:solidFill>
                <a:srgbClr val="0070C0"/>
              </a:solidFill>
            </a:endParaRPr>
          </a:p>
          <a:p>
            <a:r>
              <a:rPr lang="de-DE" sz="1400" dirty="0">
                <a:solidFill>
                  <a:srgbClr val="0070C0"/>
                </a:solidFill>
              </a:rPr>
              <a:t>Von allen Kunden und Produkten ist der Name bekannt. </a:t>
            </a:r>
          </a:p>
          <a:p>
            <a:r>
              <a:rPr lang="de-DE" sz="1400" dirty="0">
                <a:solidFill>
                  <a:srgbClr val="0070C0"/>
                </a:solidFill>
              </a:rPr>
              <a:t>Von jedem Produkt ist zusätzlich auch der Preis bekannt.</a:t>
            </a:r>
          </a:p>
        </p:txBody>
      </p:sp>
      <p:graphicFrame>
        <p:nvGraphicFramePr>
          <p:cNvPr id="14" name="Tabelle 13">
            <a:extLst>
              <a:ext uri="{FF2B5EF4-FFF2-40B4-BE49-F238E27FC236}">
                <a16:creationId xmlns:a16="http://schemas.microsoft.com/office/drawing/2014/main" id="{55BE32E0-7534-3B96-2EEE-6700679EDA3D}"/>
              </a:ext>
            </a:extLst>
          </p:cNvPr>
          <p:cNvGraphicFramePr>
            <a:graphicFrameLocks noGrp="1"/>
          </p:cNvGraphicFramePr>
          <p:nvPr>
            <p:extLst>
              <p:ext uri="{D42A27DB-BD31-4B8C-83A1-F6EECF244321}">
                <p14:modId xmlns:p14="http://schemas.microsoft.com/office/powerpoint/2010/main" val="3128272129"/>
              </p:ext>
            </p:extLst>
          </p:nvPr>
        </p:nvGraphicFramePr>
        <p:xfrm>
          <a:off x="4485565" y="3235462"/>
          <a:ext cx="1309243" cy="741680"/>
        </p:xfrm>
        <a:graphic>
          <a:graphicData uri="http://schemas.openxmlformats.org/drawingml/2006/table">
            <a:tbl>
              <a:tblPr firstRow="1" bandRow="1">
                <a:tableStyleId>{5C22544A-7EE6-4342-B048-85BDC9FD1C3A}</a:tableStyleId>
              </a:tblPr>
              <a:tblGrid>
                <a:gridCol w="1309243">
                  <a:extLst>
                    <a:ext uri="{9D8B030D-6E8A-4147-A177-3AD203B41FA5}">
                      <a16:colId xmlns:a16="http://schemas.microsoft.com/office/drawing/2014/main" val="1193591015"/>
                    </a:ext>
                  </a:extLst>
                </a:gridCol>
              </a:tblGrid>
              <a:tr h="370840">
                <a:tc>
                  <a:txBody>
                    <a:bodyPr/>
                    <a:lstStyle/>
                    <a:p>
                      <a:r>
                        <a:rPr lang="de-DE" dirty="0" err="1">
                          <a:solidFill>
                            <a:schemeClr val="bg1"/>
                          </a:solidFill>
                        </a:rPr>
                        <a:t>Produkt_ID</a:t>
                      </a:r>
                      <a:endParaRPr lang="de-DE" dirty="0">
                        <a:solidFill>
                          <a:schemeClr val="bg1"/>
                        </a:solidFill>
                      </a:endParaRPr>
                    </a:p>
                  </a:txBody>
                  <a:tcPr/>
                </a:tc>
                <a:extLst>
                  <a:ext uri="{0D108BD9-81ED-4DB2-BD59-A6C34878D82A}">
                    <a16:rowId xmlns:a16="http://schemas.microsoft.com/office/drawing/2014/main" val="1174826841"/>
                  </a:ext>
                </a:extLst>
              </a:tr>
              <a:tr h="370840">
                <a:tc>
                  <a:txBody>
                    <a:bodyPr/>
                    <a:lstStyle/>
                    <a:p>
                      <a:r>
                        <a:rPr lang="de-DE" dirty="0" err="1">
                          <a:solidFill>
                            <a:srgbClr val="0070C0"/>
                          </a:solidFill>
                        </a:rPr>
                        <a:t>Einkauf_ID</a:t>
                      </a:r>
                      <a:endParaRPr lang="de-DE" dirty="0">
                        <a:solidFill>
                          <a:srgbClr val="0070C0"/>
                        </a:solidFill>
                      </a:endParaRPr>
                    </a:p>
                  </a:txBody>
                  <a:tcPr/>
                </a:tc>
                <a:extLst>
                  <a:ext uri="{0D108BD9-81ED-4DB2-BD59-A6C34878D82A}">
                    <a16:rowId xmlns:a16="http://schemas.microsoft.com/office/drawing/2014/main" val="2842098559"/>
                  </a:ext>
                </a:extLst>
              </a:tr>
            </a:tbl>
          </a:graphicData>
        </a:graphic>
      </p:graphicFrame>
      <p:sp>
        <p:nvSpPr>
          <p:cNvPr id="20" name="Textfeld 19">
            <a:extLst>
              <a:ext uri="{FF2B5EF4-FFF2-40B4-BE49-F238E27FC236}">
                <a16:creationId xmlns:a16="http://schemas.microsoft.com/office/drawing/2014/main" id="{77F5DBFF-B9E4-9763-2114-6351C93156DC}"/>
              </a:ext>
            </a:extLst>
          </p:cNvPr>
          <p:cNvSpPr txBox="1"/>
          <p:nvPr/>
        </p:nvSpPr>
        <p:spPr>
          <a:xfrm>
            <a:off x="4441429" y="2951427"/>
            <a:ext cx="1391278" cy="307777"/>
          </a:xfrm>
          <a:prstGeom prst="rect">
            <a:avLst/>
          </a:prstGeom>
          <a:noFill/>
        </p:spPr>
        <p:txBody>
          <a:bodyPr wrap="none" rtlCol="0">
            <a:spAutoFit/>
          </a:bodyPr>
          <a:lstStyle/>
          <a:p>
            <a:r>
              <a:rPr lang="de-DE" sz="1400" dirty="0" err="1">
                <a:solidFill>
                  <a:srgbClr val="0070C0"/>
                </a:solidFill>
              </a:rPr>
              <a:t>Produkt_Einkauf</a:t>
            </a:r>
            <a:endParaRPr lang="de-DE" sz="1400" dirty="0">
              <a:solidFill>
                <a:srgbClr val="0070C0"/>
              </a:solidFill>
            </a:endParaRPr>
          </a:p>
        </p:txBody>
      </p:sp>
    </p:spTree>
    <p:extLst>
      <p:ext uri="{BB962C8B-B14F-4D97-AF65-F5344CB8AC3E}">
        <p14:creationId xmlns:p14="http://schemas.microsoft.com/office/powerpoint/2010/main" val="25085414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fontScale="90000"/>
          </a:bodyPr>
          <a:lstStyle/>
          <a:p>
            <a:r>
              <a:rPr lang="de-DE" dirty="0">
                <a:solidFill>
                  <a:srgbClr val="FF0000"/>
                </a:solidFill>
                <a:latin typeface="Source Sans Pro" panose="020B0503030403020204" pitchFamily="34" charset="0"/>
              </a:rPr>
              <a:t>Endergebnis </a:t>
            </a:r>
            <a:r>
              <a:rPr lang="de-DE" sz="2700" b="0" dirty="0">
                <a:solidFill>
                  <a:srgbClr val="0070C0"/>
                </a:solidFill>
                <a:latin typeface="Source Sans Pro" panose="020B0503030403020204" pitchFamily="34" charset="0"/>
              </a:rPr>
              <a:t>(dieses Diagramm wird </a:t>
            </a:r>
            <a:r>
              <a:rPr lang="de-DE" sz="2700" dirty="0">
                <a:solidFill>
                  <a:srgbClr val="0070C0"/>
                </a:solidFill>
                <a:latin typeface="Source Sans Pro" panose="020B0503030403020204" pitchFamily="34" charset="0"/>
              </a:rPr>
              <a:t>Datenbankschema</a:t>
            </a:r>
            <a:r>
              <a:rPr lang="de-DE" sz="2700" b="0" dirty="0">
                <a:solidFill>
                  <a:srgbClr val="0070C0"/>
                </a:solidFill>
                <a:latin typeface="Source Sans Pro" panose="020B0503030403020204" pitchFamily="34" charset="0"/>
              </a:rPr>
              <a:t> genannt)</a:t>
            </a:r>
            <a:endParaRPr lang="de-DE" sz="2700" b="0" i="1" dirty="0">
              <a:solidFill>
                <a:srgbClr val="0070C0"/>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graphicFrame>
        <p:nvGraphicFramePr>
          <p:cNvPr id="3" name="Tabelle 2">
            <a:extLst>
              <a:ext uri="{FF2B5EF4-FFF2-40B4-BE49-F238E27FC236}">
                <a16:creationId xmlns:a16="http://schemas.microsoft.com/office/drawing/2014/main" id="{89182AAA-455F-1A92-F130-9D177F24CAE5}"/>
              </a:ext>
            </a:extLst>
          </p:cNvPr>
          <p:cNvGraphicFramePr>
            <a:graphicFrameLocks noGrp="1"/>
          </p:cNvGraphicFramePr>
          <p:nvPr/>
        </p:nvGraphicFramePr>
        <p:xfrm>
          <a:off x="6424374" y="2552781"/>
          <a:ext cx="1281367" cy="148336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Einkauf_ID</a:t>
                      </a:r>
                      <a:endParaRPr lang="de-DE" dirty="0"/>
                    </a:p>
                  </a:txBody>
                  <a:tcPr/>
                </a:tc>
                <a:extLst>
                  <a:ext uri="{0D108BD9-81ED-4DB2-BD59-A6C34878D82A}">
                    <a16:rowId xmlns:a16="http://schemas.microsoft.com/office/drawing/2014/main" val="2818686444"/>
                  </a:ext>
                </a:extLst>
              </a:tr>
              <a:tr h="370840">
                <a:tc>
                  <a:txBody>
                    <a:bodyPr/>
                    <a:lstStyle/>
                    <a:p>
                      <a:r>
                        <a:rPr lang="de-DE" dirty="0" err="1">
                          <a:solidFill>
                            <a:srgbClr val="0070C0"/>
                          </a:solidFill>
                        </a:rPr>
                        <a:t>Kunde_ID</a:t>
                      </a:r>
                      <a:endParaRPr lang="de-DE" dirty="0">
                        <a:solidFill>
                          <a:srgbClr val="0070C0"/>
                        </a:solidFill>
                      </a:endParaRP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Uhrzeit</a:t>
                      </a:r>
                    </a:p>
                  </a:txBody>
                  <a:tcPr/>
                </a:tc>
                <a:extLst>
                  <a:ext uri="{0D108BD9-81ED-4DB2-BD59-A6C34878D82A}">
                    <a16:rowId xmlns:a16="http://schemas.microsoft.com/office/drawing/2014/main" val="433515461"/>
                  </a:ext>
                </a:extLst>
              </a:tr>
              <a:tr h="370840">
                <a:tc>
                  <a:txBody>
                    <a:bodyPr/>
                    <a:lstStyle/>
                    <a:p>
                      <a:r>
                        <a:rPr lang="de-DE" dirty="0"/>
                        <a:t>Datum</a:t>
                      </a:r>
                    </a:p>
                  </a:txBody>
                  <a:tcPr/>
                </a:tc>
                <a:extLst>
                  <a:ext uri="{0D108BD9-81ED-4DB2-BD59-A6C34878D82A}">
                    <a16:rowId xmlns:a16="http://schemas.microsoft.com/office/drawing/2014/main" val="3244629399"/>
                  </a:ext>
                </a:extLst>
              </a:tr>
            </a:tbl>
          </a:graphicData>
        </a:graphic>
      </p:graphicFrame>
      <p:sp>
        <p:nvSpPr>
          <p:cNvPr id="6" name="Textfeld 5">
            <a:extLst>
              <a:ext uri="{FF2B5EF4-FFF2-40B4-BE49-F238E27FC236}">
                <a16:creationId xmlns:a16="http://schemas.microsoft.com/office/drawing/2014/main" id="{A6185724-F1A1-8643-A81D-43C02B9274F3}"/>
              </a:ext>
            </a:extLst>
          </p:cNvPr>
          <p:cNvSpPr txBox="1"/>
          <p:nvPr/>
        </p:nvSpPr>
        <p:spPr>
          <a:xfrm>
            <a:off x="6342077" y="2183449"/>
            <a:ext cx="874791" cy="369332"/>
          </a:xfrm>
          <a:prstGeom prst="rect">
            <a:avLst/>
          </a:prstGeom>
          <a:noFill/>
        </p:spPr>
        <p:txBody>
          <a:bodyPr wrap="none" rtlCol="0">
            <a:spAutoFit/>
          </a:bodyPr>
          <a:lstStyle/>
          <a:p>
            <a:r>
              <a:rPr lang="de-DE" dirty="0"/>
              <a:t>Einkauf</a:t>
            </a:r>
          </a:p>
        </p:txBody>
      </p:sp>
      <p:graphicFrame>
        <p:nvGraphicFramePr>
          <p:cNvPr id="7" name="Tabelle 6">
            <a:extLst>
              <a:ext uri="{FF2B5EF4-FFF2-40B4-BE49-F238E27FC236}">
                <a16:creationId xmlns:a16="http://schemas.microsoft.com/office/drawing/2014/main" id="{9CB7FD5C-637F-3236-0EAA-2599556AB293}"/>
              </a:ext>
            </a:extLst>
          </p:cNvPr>
          <p:cNvGraphicFramePr>
            <a:graphicFrameLocks noGrp="1"/>
          </p:cNvGraphicFramePr>
          <p:nvPr>
            <p:extLst>
              <p:ext uri="{D42A27DB-BD31-4B8C-83A1-F6EECF244321}">
                <p14:modId xmlns:p14="http://schemas.microsoft.com/office/powerpoint/2010/main" val="1019818350"/>
              </p:ext>
            </p:extLst>
          </p:nvPr>
        </p:nvGraphicFramePr>
        <p:xfrm>
          <a:off x="8304906" y="4839510"/>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Kunde_ID</a:t>
                      </a:r>
                      <a:endParaRPr lang="de-DE" dirty="0"/>
                    </a:p>
                  </a:txBody>
                  <a:tcPr/>
                </a:tc>
                <a:extLst>
                  <a:ext uri="{0D108BD9-81ED-4DB2-BD59-A6C34878D82A}">
                    <a16:rowId xmlns:a16="http://schemas.microsoft.com/office/drawing/2014/main" val="2818686444"/>
                  </a:ext>
                </a:extLst>
              </a:tr>
              <a:tr h="370840">
                <a:tc>
                  <a:txBody>
                    <a:bodyPr/>
                    <a:lstStyle/>
                    <a:p>
                      <a:r>
                        <a:rPr lang="de-DE" dirty="0">
                          <a:solidFill>
                            <a:srgbClr val="0070C0"/>
                          </a:solidFill>
                        </a:rPr>
                        <a:t>Vorname</a:t>
                      </a:r>
                    </a:p>
                  </a:txBody>
                  <a:tcPr/>
                </a:tc>
                <a:extLst>
                  <a:ext uri="{0D108BD9-81ED-4DB2-BD59-A6C34878D82A}">
                    <a16:rowId xmlns:a16="http://schemas.microsoft.com/office/drawing/2014/main" val="455490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solidFill>
                            <a:srgbClr val="0070C0"/>
                          </a:solidFill>
                        </a:rPr>
                        <a:t>Nachname</a:t>
                      </a:r>
                    </a:p>
                  </a:txBody>
                  <a:tcPr/>
                </a:tc>
                <a:extLst>
                  <a:ext uri="{0D108BD9-81ED-4DB2-BD59-A6C34878D82A}">
                    <a16:rowId xmlns:a16="http://schemas.microsoft.com/office/drawing/2014/main" val="433515461"/>
                  </a:ext>
                </a:extLst>
              </a:tr>
            </a:tbl>
          </a:graphicData>
        </a:graphic>
      </p:graphicFrame>
      <p:sp>
        <p:nvSpPr>
          <p:cNvPr id="8" name="Textfeld 7">
            <a:extLst>
              <a:ext uri="{FF2B5EF4-FFF2-40B4-BE49-F238E27FC236}">
                <a16:creationId xmlns:a16="http://schemas.microsoft.com/office/drawing/2014/main" id="{8BA5C6FC-672C-D157-A458-9FCD8F42CBD5}"/>
              </a:ext>
            </a:extLst>
          </p:cNvPr>
          <p:cNvSpPr txBox="1"/>
          <p:nvPr/>
        </p:nvSpPr>
        <p:spPr>
          <a:xfrm>
            <a:off x="8222609" y="4470178"/>
            <a:ext cx="782202" cy="369332"/>
          </a:xfrm>
          <a:prstGeom prst="rect">
            <a:avLst/>
          </a:prstGeom>
          <a:noFill/>
        </p:spPr>
        <p:txBody>
          <a:bodyPr wrap="none" rtlCol="0">
            <a:spAutoFit/>
          </a:bodyPr>
          <a:lstStyle/>
          <a:p>
            <a:r>
              <a:rPr lang="de-DE" dirty="0"/>
              <a:t>Kunde</a:t>
            </a:r>
          </a:p>
        </p:txBody>
      </p:sp>
      <p:graphicFrame>
        <p:nvGraphicFramePr>
          <p:cNvPr id="9" name="Tabelle 8">
            <a:extLst>
              <a:ext uri="{FF2B5EF4-FFF2-40B4-BE49-F238E27FC236}">
                <a16:creationId xmlns:a16="http://schemas.microsoft.com/office/drawing/2014/main" id="{0CFDC8F5-21A7-4400-EBC8-DD3FC988379D}"/>
              </a:ext>
            </a:extLst>
          </p:cNvPr>
          <p:cNvGraphicFramePr>
            <a:graphicFrameLocks noGrp="1"/>
          </p:cNvGraphicFramePr>
          <p:nvPr/>
        </p:nvGraphicFramePr>
        <p:xfrm>
          <a:off x="2602494" y="3235463"/>
          <a:ext cx="1281367" cy="1112520"/>
        </p:xfrm>
        <a:graphic>
          <a:graphicData uri="http://schemas.openxmlformats.org/drawingml/2006/table">
            <a:tbl>
              <a:tblPr firstRow="1" bandRow="1">
                <a:tableStyleId>{5C22544A-7EE6-4342-B048-85BDC9FD1C3A}</a:tableStyleId>
              </a:tblPr>
              <a:tblGrid>
                <a:gridCol w="1281367">
                  <a:extLst>
                    <a:ext uri="{9D8B030D-6E8A-4147-A177-3AD203B41FA5}">
                      <a16:colId xmlns:a16="http://schemas.microsoft.com/office/drawing/2014/main" val="2588154116"/>
                    </a:ext>
                  </a:extLst>
                </a:gridCol>
              </a:tblGrid>
              <a:tr h="370840">
                <a:tc>
                  <a:txBody>
                    <a:bodyPr/>
                    <a:lstStyle/>
                    <a:p>
                      <a:r>
                        <a:rPr lang="de-DE" dirty="0" err="1"/>
                        <a:t>Produkt_ID</a:t>
                      </a:r>
                      <a:endParaRPr lang="de-DE" dirty="0"/>
                    </a:p>
                  </a:txBody>
                  <a:tcPr/>
                </a:tc>
                <a:extLst>
                  <a:ext uri="{0D108BD9-81ED-4DB2-BD59-A6C34878D82A}">
                    <a16:rowId xmlns:a16="http://schemas.microsoft.com/office/drawing/2014/main" val="2818686444"/>
                  </a:ext>
                </a:extLst>
              </a:tr>
              <a:tr h="370840">
                <a:tc>
                  <a:txBody>
                    <a:bodyPr/>
                    <a:lstStyle/>
                    <a:p>
                      <a:r>
                        <a:rPr lang="de-DE" dirty="0"/>
                        <a:t>Name</a:t>
                      </a:r>
                    </a:p>
                  </a:txBody>
                  <a:tcPr/>
                </a:tc>
                <a:extLst>
                  <a:ext uri="{0D108BD9-81ED-4DB2-BD59-A6C34878D82A}">
                    <a16:rowId xmlns:a16="http://schemas.microsoft.com/office/drawing/2014/main" val="455490717"/>
                  </a:ext>
                </a:extLst>
              </a:tr>
              <a:tr h="370840">
                <a:tc>
                  <a:txBody>
                    <a:bodyPr/>
                    <a:lstStyle/>
                    <a:p>
                      <a:r>
                        <a:rPr lang="de-DE" dirty="0"/>
                        <a:t>Preis (€)</a:t>
                      </a:r>
                    </a:p>
                  </a:txBody>
                  <a:tcPr/>
                </a:tc>
                <a:extLst>
                  <a:ext uri="{0D108BD9-81ED-4DB2-BD59-A6C34878D82A}">
                    <a16:rowId xmlns:a16="http://schemas.microsoft.com/office/drawing/2014/main" val="433515461"/>
                  </a:ext>
                </a:extLst>
              </a:tr>
            </a:tbl>
          </a:graphicData>
        </a:graphic>
      </p:graphicFrame>
      <p:sp>
        <p:nvSpPr>
          <p:cNvPr id="10" name="Textfeld 9">
            <a:extLst>
              <a:ext uri="{FF2B5EF4-FFF2-40B4-BE49-F238E27FC236}">
                <a16:creationId xmlns:a16="http://schemas.microsoft.com/office/drawing/2014/main" id="{05693305-B8ED-34D4-6A1E-8F5133DB2D91}"/>
              </a:ext>
            </a:extLst>
          </p:cNvPr>
          <p:cNvSpPr txBox="1"/>
          <p:nvPr/>
        </p:nvSpPr>
        <p:spPr>
          <a:xfrm>
            <a:off x="2699302" y="2866131"/>
            <a:ext cx="925190" cy="369332"/>
          </a:xfrm>
          <a:prstGeom prst="rect">
            <a:avLst/>
          </a:prstGeom>
          <a:noFill/>
        </p:spPr>
        <p:txBody>
          <a:bodyPr wrap="none" rtlCol="0">
            <a:spAutoFit/>
          </a:bodyPr>
          <a:lstStyle/>
          <a:p>
            <a:r>
              <a:rPr lang="de-DE" dirty="0"/>
              <a:t>Produkt</a:t>
            </a:r>
          </a:p>
        </p:txBody>
      </p:sp>
      <p:cxnSp>
        <p:nvCxnSpPr>
          <p:cNvPr id="13" name="Gerader Verbinder 12">
            <a:extLst>
              <a:ext uri="{FF2B5EF4-FFF2-40B4-BE49-F238E27FC236}">
                <a16:creationId xmlns:a16="http://schemas.microsoft.com/office/drawing/2014/main" id="{00649CED-AA6E-188A-25DC-5AA1E432A815}"/>
              </a:ext>
            </a:extLst>
          </p:cNvPr>
          <p:cNvCxnSpPr>
            <a:cxnSpLocks/>
          </p:cNvCxnSpPr>
          <p:nvPr/>
        </p:nvCxnSpPr>
        <p:spPr>
          <a:xfrm>
            <a:off x="3875714" y="3429000"/>
            <a:ext cx="25486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3958A19E-E6A9-57D4-D469-6AD6D06F42CE}"/>
              </a:ext>
            </a:extLst>
          </p:cNvPr>
          <p:cNvCxnSpPr/>
          <p:nvPr/>
        </p:nvCxnSpPr>
        <p:spPr>
          <a:xfrm>
            <a:off x="7705741" y="3120705"/>
            <a:ext cx="599165" cy="1895912"/>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6F5FD997-0D44-7BF9-8767-B4B2AA292244}"/>
              </a:ext>
            </a:extLst>
          </p:cNvPr>
          <p:cNvSpPr txBox="1"/>
          <p:nvPr/>
        </p:nvSpPr>
        <p:spPr>
          <a:xfrm>
            <a:off x="3836582" y="3235462"/>
            <a:ext cx="308098" cy="276999"/>
          </a:xfrm>
          <a:prstGeom prst="rect">
            <a:avLst/>
          </a:prstGeom>
          <a:noFill/>
        </p:spPr>
        <p:txBody>
          <a:bodyPr wrap="none" rtlCol="0">
            <a:spAutoFit/>
          </a:bodyPr>
          <a:lstStyle/>
          <a:p>
            <a:r>
              <a:rPr lang="de-DE" sz="1200" dirty="0"/>
              <a:t>m</a:t>
            </a:r>
          </a:p>
        </p:txBody>
      </p:sp>
      <p:sp>
        <p:nvSpPr>
          <p:cNvPr id="17" name="Textfeld 16">
            <a:extLst>
              <a:ext uri="{FF2B5EF4-FFF2-40B4-BE49-F238E27FC236}">
                <a16:creationId xmlns:a16="http://schemas.microsoft.com/office/drawing/2014/main" id="{C0B3D81B-510F-59F1-E821-8758D8EB0FDF}"/>
              </a:ext>
            </a:extLst>
          </p:cNvPr>
          <p:cNvSpPr txBox="1"/>
          <p:nvPr/>
        </p:nvSpPr>
        <p:spPr>
          <a:xfrm>
            <a:off x="6209669" y="3235463"/>
            <a:ext cx="264816" cy="276999"/>
          </a:xfrm>
          <a:prstGeom prst="rect">
            <a:avLst/>
          </a:prstGeom>
          <a:noFill/>
        </p:spPr>
        <p:txBody>
          <a:bodyPr wrap="none" rtlCol="0">
            <a:spAutoFit/>
          </a:bodyPr>
          <a:lstStyle/>
          <a:p>
            <a:r>
              <a:rPr lang="de-DE" sz="1200" dirty="0"/>
              <a:t>n</a:t>
            </a:r>
          </a:p>
        </p:txBody>
      </p:sp>
      <p:sp>
        <p:nvSpPr>
          <p:cNvPr id="18" name="Textfeld 17">
            <a:extLst>
              <a:ext uri="{FF2B5EF4-FFF2-40B4-BE49-F238E27FC236}">
                <a16:creationId xmlns:a16="http://schemas.microsoft.com/office/drawing/2014/main" id="{B07A1E14-E215-6927-D4DC-5CCF0A4680B9}"/>
              </a:ext>
            </a:extLst>
          </p:cNvPr>
          <p:cNvSpPr txBox="1"/>
          <p:nvPr/>
        </p:nvSpPr>
        <p:spPr>
          <a:xfrm>
            <a:off x="7652716" y="2982205"/>
            <a:ext cx="264816" cy="276999"/>
          </a:xfrm>
          <a:prstGeom prst="rect">
            <a:avLst/>
          </a:prstGeom>
          <a:noFill/>
        </p:spPr>
        <p:txBody>
          <a:bodyPr wrap="none" rtlCol="0">
            <a:spAutoFit/>
          </a:bodyPr>
          <a:lstStyle/>
          <a:p>
            <a:r>
              <a:rPr lang="de-DE" sz="1200" dirty="0"/>
              <a:t>n</a:t>
            </a:r>
          </a:p>
        </p:txBody>
      </p:sp>
      <p:sp>
        <p:nvSpPr>
          <p:cNvPr id="19" name="Textfeld 18">
            <a:extLst>
              <a:ext uri="{FF2B5EF4-FFF2-40B4-BE49-F238E27FC236}">
                <a16:creationId xmlns:a16="http://schemas.microsoft.com/office/drawing/2014/main" id="{897C2F29-0E67-2F43-744E-743E95665B80}"/>
              </a:ext>
            </a:extLst>
          </p:cNvPr>
          <p:cNvSpPr txBox="1"/>
          <p:nvPr/>
        </p:nvSpPr>
        <p:spPr>
          <a:xfrm>
            <a:off x="8049833" y="4854539"/>
            <a:ext cx="263214" cy="276999"/>
          </a:xfrm>
          <a:prstGeom prst="rect">
            <a:avLst/>
          </a:prstGeom>
          <a:noFill/>
        </p:spPr>
        <p:txBody>
          <a:bodyPr wrap="none" rtlCol="0">
            <a:spAutoFit/>
          </a:bodyPr>
          <a:lstStyle/>
          <a:p>
            <a:r>
              <a:rPr lang="de-DE" sz="1200" dirty="0"/>
              <a:t>1</a:t>
            </a:r>
          </a:p>
        </p:txBody>
      </p:sp>
      <p:sp>
        <p:nvSpPr>
          <p:cNvPr id="12" name="Textfeld 11">
            <a:extLst>
              <a:ext uri="{FF2B5EF4-FFF2-40B4-BE49-F238E27FC236}">
                <a16:creationId xmlns:a16="http://schemas.microsoft.com/office/drawing/2014/main" id="{14EF6B6B-E3DE-D5B2-66C5-B43E19D7BBBC}"/>
              </a:ext>
            </a:extLst>
          </p:cNvPr>
          <p:cNvSpPr txBox="1"/>
          <p:nvPr/>
        </p:nvSpPr>
        <p:spPr>
          <a:xfrm>
            <a:off x="268448" y="1208093"/>
            <a:ext cx="6073629" cy="1600438"/>
          </a:xfrm>
          <a:prstGeom prst="rect">
            <a:avLst/>
          </a:prstGeom>
          <a:noFill/>
          <a:ln>
            <a:solidFill>
              <a:srgbClr val="0070C0"/>
            </a:solidFill>
          </a:ln>
        </p:spPr>
        <p:txBody>
          <a:bodyPr wrap="square" rtlCol="0">
            <a:spAutoFit/>
          </a:bodyPr>
          <a:lstStyle/>
          <a:p>
            <a:r>
              <a:rPr lang="de-DE" sz="1400" b="1" dirty="0"/>
              <a:t>Aufgabenstellung</a:t>
            </a:r>
            <a:endParaRPr lang="de-DE" sz="1400" b="1" dirty="0">
              <a:solidFill>
                <a:srgbClr val="0070C0"/>
              </a:solidFill>
            </a:endParaRPr>
          </a:p>
          <a:p>
            <a:r>
              <a:rPr lang="de-DE" sz="1400" dirty="0">
                <a:solidFill>
                  <a:srgbClr val="0070C0"/>
                </a:solidFill>
              </a:rPr>
              <a:t>Von jedem Einkauf ist das Datum und Uhrzeit bekannt, an dem dieser stattfand,</a:t>
            </a:r>
          </a:p>
          <a:p>
            <a:r>
              <a:rPr lang="de-DE" sz="1400" dirty="0">
                <a:solidFill>
                  <a:srgbClr val="0070C0"/>
                </a:solidFill>
              </a:rPr>
              <a:t>ferner der Kunde, der diesen Einkauf tätigte sowie alle Produkte, die bei diesem Einkauf erworben wurden.</a:t>
            </a:r>
          </a:p>
          <a:p>
            <a:endParaRPr lang="de-DE" sz="1400" dirty="0">
              <a:solidFill>
                <a:srgbClr val="0070C0"/>
              </a:solidFill>
            </a:endParaRPr>
          </a:p>
          <a:p>
            <a:r>
              <a:rPr lang="de-DE" sz="1400" dirty="0">
                <a:solidFill>
                  <a:srgbClr val="0070C0"/>
                </a:solidFill>
              </a:rPr>
              <a:t>Von allen Kunden und Produkten ist der Name bekannt. </a:t>
            </a:r>
          </a:p>
          <a:p>
            <a:r>
              <a:rPr lang="de-DE" sz="1400" dirty="0">
                <a:solidFill>
                  <a:srgbClr val="0070C0"/>
                </a:solidFill>
              </a:rPr>
              <a:t>Von jedem Produkt ist zusätzlich auch der Preis bekannt.</a:t>
            </a:r>
          </a:p>
        </p:txBody>
      </p:sp>
      <p:graphicFrame>
        <p:nvGraphicFramePr>
          <p:cNvPr id="14" name="Tabelle 13">
            <a:extLst>
              <a:ext uri="{FF2B5EF4-FFF2-40B4-BE49-F238E27FC236}">
                <a16:creationId xmlns:a16="http://schemas.microsoft.com/office/drawing/2014/main" id="{55BE32E0-7534-3B96-2EEE-6700679EDA3D}"/>
              </a:ext>
            </a:extLst>
          </p:cNvPr>
          <p:cNvGraphicFramePr>
            <a:graphicFrameLocks noGrp="1"/>
          </p:cNvGraphicFramePr>
          <p:nvPr/>
        </p:nvGraphicFramePr>
        <p:xfrm>
          <a:off x="4485565" y="3235462"/>
          <a:ext cx="1309243" cy="741680"/>
        </p:xfrm>
        <a:graphic>
          <a:graphicData uri="http://schemas.openxmlformats.org/drawingml/2006/table">
            <a:tbl>
              <a:tblPr firstRow="1" bandRow="1">
                <a:tableStyleId>{5C22544A-7EE6-4342-B048-85BDC9FD1C3A}</a:tableStyleId>
              </a:tblPr>
              <a:tblGrid>
                <a:gridCol w="1309243">
                  <a:extLst>
                    <a:ext uri="{9D8B030D-6E8A-4147-A177-3AD203B41FA5}">
                      <a16:colId xmlns:a16="http://schemas.microsoft.com/office/drawing/2014/main" val="1193591015"/>
                    </a:ext>
                  </a:extLst>
                </a:gridCol>
              </a:tblGrid>
              <a:tr h="370840">
                <a:tc>
                  <a:txBody>
                    <a:bodyPr/>
                    <a:lstStyle/>
                    <a:p>
                      <a:r>
                        <a:rPr lang="de-DE" dirty="0" err="1">
                          <a:solidFill>
                            <a:schemeClr val="bg1"/>
                          </a:solidFill>
                        </a:rPr>
                        <a:t>Produkt_ID</a:t>
                      </a:r>
                      <a:endParaRPr lang="de-DE" dirty="0">
                        <a:solidFill>
                          <a:schemeClr val="bg1"/>
                        </a:solidFill>
                      </a:endParaRPr>
                    </a:p>
                  </a:txBody>
                  <a:tcPr/>
                </a:tc>
                <a:extLst>
                  <a:ext uri="{0D108BD9-81ED-4DB2-BD59-A6C34878D82A}">
                    <a16:rowId xmlns:a16="http://schemas.microsoft.com/office/drawing/2014/main" val="1174826841"/>
                  </a:ext>
                </a:extLst>
              </a:tr>
              <a:tr h="370840">
                <a:tc>
                  <a:txBody>
                    <a:bodyPr/>
                    <a:lstStyle/>
                    <a:p>
                      <a:r>
                        <a:rPr lang="de-DE" dirty="0" err="1">
                          <a:solidFill>
                            <a:srgbClr val="0070C0"/>
                          </a:solidFill>
                        </a:rPr>
                        <a:t>Einkauf_ID</a:t>
                      </a:r>
                      <a:endParaRPr lang="de-DE" dirty="0">
                        <a:solidFill>
                          <a:srgbClr val="0070C0"/>
                        </a:solidFill>
                      </a:endParaRPr>
                    </a:p>
                  </a:txBody>
                  <a:tcPr/>
                </a:tc>
                <a:extLst>
                  <a:ext uri="{0D108BD9-81ED-4DB2-BD59-A6C34878D82A}">
                    <a16:rowId xmlns:a16="http://schemas.microsoft.com/office/drawing/2014/main" val="2842098559"/>
                  </a:ext>
                </a:extLst>
              </a:tr>
            </a:tbl>
          </a:graphicData>
        </a:graphic>
      </p:graphicFrame>
      <p:sp>
        <p:nvSpPr>
          <p:cNvPr id="20" name="Textfeld 19">
            <a:extLst>
              <a:ext uri="{FF2B5EF4-FFF2-40B4-BE49-F238E27FC236}">
                <a16:creationId xmlns:a16="http://schemas.microsoft.com/office/drawing/2014/main" id="{77F5DBFF-B9E4-9763-2114-6351C93156DC}"/>
              </a:ext>
            </a:extLst>
          </p:cNvPr>
          <p:cNvSpPr txBox="1"/>
          <p:nvPr/>
        </p:nvSpPr>
        <p:spPr>
          <a:xfrm>
            <a:off x="4441429" y="2951427"/>
            <a:ext cx="1391278" cy="307777"/>
          </a:xfrm>
          <a:prstGeom prst="rect">
            <a:avLst/>
          </a:prstGeom>
          <a:noFill/>
        </p:spPr>
        <p:txBody>
          <a:bodyPr wrap="none" rtlCol="0">
            <a:spAutoFit/>
          </a:bodyPr>
          <a:lstStyle/>
          <a:p>
            <a:r>
              <a:rPr lang="de-DE" sz="1400" dirty="0" err="1">
                <a:solidFill>
                  <a:srgbClr val="0070C0"/>
                </a:solidFill>
              </a:rPr>
              <a:t>Produkt_Einkauf</a:t>
            </a:r>
            <a:endParaRPr lang="de-DE" sz="1400" dirty="0">
              <a:solidFill>
                <a:srgbClr val="0070C0"/>
              </a:solidFill>
            </a:endParaRPr>
          </a:p>
        </p:txBody>
      </p:sp>
    </p:spTree>
    <p:extLst>
      <p:ext uri="{BB962C8B-B14F-4D97-AF65-F5344CB8AC3E}">
        <p14:creationId xmlns:p14="http://schemas.microsoft.com/office/powerpoint/2010/main" val="7548662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2880</Words>
  <Application>Microsoft Office PowerPoint</Application>
  <PresentationFormat>Breitbild</PresentationFormat>
  <Paragraphs>819</Paragraphs>
  <Slides>37</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37</vt:i4>
      </vt:variant>
    </vt:vector>
  </HeadingPairs>
  <TitlesOfParts>
    <vt:vector size="42" baseType="lpstr">
      <vt:lpstr>Arial</vt:lpstr>
      <vt:lpstr>Calibri</vt:lpstr>
      <vt:lpstr>Courier New</vt:lpstr>
      <vt:lpstr>Source Sans Pro</vt:lpstr>
      <vt:lpstr>1_Office</vt:lpstr>
      <vt:lpstr>Datenbanken und SQL</vt:lpstr>
      <vt:lpstr>Agenda</vt:lpstr>
      <vt:lpstr>PowerPoint-Präsentation</vt:lpstr>
      <vt:lpstr>Vorbemerkungen</vt:lpstr>
      <vt:lpstr>PowerPoint-Präsentation</vt:lpstr>
      <vt:lpstr>Datum (Mehrzahl: „Daten“)</vt:lpstr>
      <vt:lpstr>Entität</vt:lpstr>
      <vt:lpstr>Datensatz</vt:lpstr>
      <vt:lpstr>ID (Primärschlüssel)</vt:lpstr>
      <vt:lpstr>Tabelle</vt:lpstr>
      <vt:lpstr>Tabelle</vt:lpstr>
      <vt:lpstr>Tabelle</vt:lpstr>
      <vt:lpstr>Tabelle (leer)</vt:lpstr>
      <vt:lpstr>Beziehung</vt:lpstr>
      <vt:lpstr>Beziehungs-Typen</vt:lpstr>
      <vt:lpstr>1:1-Beziehung </vt:lpstr>
      <vt:lpstr>1:n-Beziehung </vt:lpstr>
      <vt:lpstr>m:n-Beziehung </vt:lpstr>
      <vt:lpstr>Fremdschlüssel</vt:lpstr>
      <vt:lpstr>Fremdschlüssel (bei 1:1-Beziehungen) </vt:lpstr>
      <vt:lpstr>Fremdschlüssel (bei 1:n-Beziehungen) </vt:lpstr>
      <vt:lpstr>Fremdschlüssel (bei m:n-Beziehungen) </vt:lpstr>
      <vt:lpstr>Normalisierung</vt:lpstr>
      <vt:lpstr>1. Atomisierung (zusammengesetzte Informationen in einzelne Informationen aufspalten)</vt:lpstr>
      <vt:lpstr>2. Surrogatschlüssel (zusammengesetzte Primärschlüssel vermeiden!)</vt:lpstr>
      <vt:lpstr>3. Monothematik (jede Entität sollte eine eigene Tabelle erhalten)</vt:lpstr>
      <vt:lpstr>Beispiel (Aufgabenstellung -&gt; Diagramm)</vt:lpstr>
      <vt:lpstr>Entitäten (Tipp: Alle Begriffe, zu denen Attribute benannt werden)</vt:lpstr>
      <vt:lpstr>Attribute</vt:lpstr>
      <vt:lpstr>Beziehungen</vt:lpstr>
      <vt:lpstr>Kardinalitäten</vt:lpstr>
      <vt:lpstr>Kardinalitäten</vt:lpstr>
      <vt:lpstr>Fremdschlüssel-Vergabe (bei 1:n-Beziehungen)</vt:lpstr>
      <vt:lpstr>Fremdschlüssel-Vergabe (Hilfstabelle bei m:n-Beziehungen)</vt:lpstr>
      <vt:lpstr>Atomisierung</vt:lpstr>
      <vt:lpstr>Endergebnis (dieses Diagramm wird Datenbankschema genannt)</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Dirk Maric</cp:lastModifiedBy>
  <cp:revision>189</cp:revision>
  <dcterms:created xsi:type="dcterms:W3CDTF">2022-02-01T13:48:14Z</dcterms:created>
  <dcterms:modified xsi:type="dcterms:W3CDTF">2024-01-24T07:41:48Z</dcterms:modified>
</cp:coreProperties>
</file>